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29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6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5749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 and set the tone: this is the first lecture of the AI course and the beginning of a journey they will build on all semester.
Explain: today's session answers "What is AI, how did it get here, and why does it matter for a computer science degree?"
Example: mention that most of them already used AI today (phone camera, YouTube recommendations, Google search).
Key terms to preview: Artificial Intelligence, Machine Learning, Deep Learning, Generative AI (no definitions yet — just names).
Common misconception to flag early: many students think AI = robots or AI = ChatGPT only; today's lecture will broaden that view.
Ask: "Show of hands — who has used a voice assistant or a recommendation app this week?"
Approx. time: 3 minutes.
Selected references to mention if asked: Stanford AI Index, ACM, AAAI — used later for factual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is a warm-up to surface prior knowledge before defining AI formally.
Real-world example: point at the icons — these are AI systems students already interact with daily.
Key terminology: none yet — this slide is intentionally informal.
Common misconception: students often only think of "AI = ChatGPT/robots"; this activity should reveal a wider range of examples (maps, recommendations, filters).
Question to ask: "Write ONE example of AI you used today" — then call on 3–5 students.
Activity instructions: give students 60 seconds to think/write silently, then open the floor. Do not correct or confirm answers yet — this will be revisited on Slide 5.
Approx. time: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read the definition slowly and unpack each capability with one relatable example — e.g. "perception" = a phone recognizing your face; "generation" = an app writing a caption for you.
Real-world example: Siri/Google Assistant combines language understanding + decision making + generation.
Key terminology: Artificial Intelligence, capability, task.
Common misconception: AI is not one single algorithm — it is a broad field covering many different capabilities.
Question: "Which of these eight capabilities do you think is hardest for a computer? Why?"
Approx. time: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walk down both columns side by side, contrasting "learns from experience" vs "learns from data" as the anchor comparison.
Real-world example: a child learns "hot stove = danger" after one experience; an image classifier needs thousands of labeled examples of stoves.
Key terminology: narrow/specialized AI vs. general intelligence.
Common misconception: students often assume AI "thinks" the way humans do — correct this directly using the boxed statement at the bottom.
Question: "Can you think of something a 5-year-old child can do that today's best AI still struggles with?" (e.g., common-sense physical reasoning)
Approx. time: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point of the activity BEFORE revealing any answers: not everything digital or automated is "AI" — the key test is whether the system exhibits learning, reasoning, or pattern-based decision-making rather than fixed, pre-programmed rules.
Suggested discussion (reveal after votes): Calculator = Not AI (fixed rules, no learning). Thermostat = usually Not AI (simple feedback control), though "smart" learning thermostats can be AI. Spam filter, Face recognition, Maps routing, Netflix recommendation, ChatGPT, Autonomous vehicle = AI (use learned models/optimization).
Real-world example: contrast a basic calculator (fixed arithmetic rules) with a spam filter (learns from labeled email data).
Key terminology: rule-based system vs. learned/data-driven system.
Common misconception: "AI = anything digital or automated." This activity directly corrects that.
Activity instructions: show all 8 items, let students vote by show of hands per item (AI / Not AI / Depends), then reveal reasoning briefly for each.
Approx. time: 8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AI is not one technique — it is an umbrella covering many capabilities that can combine in a single system (e.g. a self-driving car uses perception + planning + decision making together).
Real-world example: a voice assistant uses speech (input) + language (understanding) + generation (spoken reply) + decision making (choosing an action).
Key terminology: introduce each term as a one-word label only — deeper definitions come in later slides.
Common misconception: students may think AI = only "smart algorithms for games/chatbots" — this map shows the field is much broader.
Question: "Pick two terms on this map and describe a real product that uses BOTH."
Approx. time: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walk left to right, grouping into three eras — (1) symbolic/rule era (1950s-80s), (2) statistical/ML era (1990s-2010s), (3) deep learning &amp; generative era (2012-present). Keep each milestone to one sentence.
Real-world example: Deep Blue vs Kasparov (1997) shows narrow AI beating a world champion at ONE task; contrast with AlphaGo (2016) which learned Go through self-play rather than hand-coded rules.
Key terminology: symbolic AI, expert system, statistical ML, deep learning, transformer, foundation model.
Common misconception: students often think AI is brand new (post-ChatGPT); the timeline shows 70+ years of continuous development.
Activity — Timeline Challenge: cover the years, show only the milestone text, and ask students in pairs to guess the decade before revealing.
Approx. time: 10 minutes.
References: dates verified against commonly cited AI history sources (Stanford AI Index, ACM/AAAI historical summaries) — do not treat as exhaustive.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is the "big arrow" of AI's evolution — each stage did not fully replace the last; many are still used today for the right problem (e.g. simple rule-based systems still run thermostats and basic automation).
Real-world example: spam filtering evolved from hand-written keyword rules -&gt; statistical ML classifiers -&gt; deep learning text models.
Key terminology: rule-based, expert system, ML, deep learning, transformer, foundation model, generative AI, AI agent (brief preview — deep dive later).
Common misconception: that "newer always replaces older" — clarify that choice of approach depends on the problem, data, and cost.
Question: "Which stage do you think your smartphone's autocorrect belongs to?"
Approx. time: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use the nested-box diagram to show scale — AI is the largest circle, ML sits inside it, DL is a specific approach within ML, and Generative AI is a capability that today mostly overlaps with DL/foundation models.
Real-world example: a spam filter (classic ML), a face-recognition CNN (deep learning), and ChatGPT (generative AI built on a deep-learning foundation model) — all sit at different "depths" of the diagram.
Key terminology: AI, Machine Learning, Deep Learning, Generative AI, foundation model (preview).
Common misconception: treating Generative AI as ALWAYS a strict subset of Deep Learning — flag the caution box explicitly; some generative approaches historically existed outside deep learning (e.g. simple statistical generative models), though today's mainstream tools are DL-based.
Activity — Classification challenge: read out a tool/system name (Netflix recommender, self-driving perception, image generator, spam filter) and have students call out which layer(s) apply.
Approx. time: this is a key slide — allow up to 10 minutes of the 20-minute block for AI/ML/DL/GenAI.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walk through the ML pipeline left to right — data is fed into a learning algorithm, which produces a model, which then makes predictions on new data.
Real-world example: an email spam filter learns from thousands of emails labeled "spam" or "not spam" and then classifies new incoming mail.
Key terminology: supervised learning, unsupervised learning, reinforcement learning, model, training data.
Common misconception: students often think "the model" is hand-written code; clarify that the model's behavior comes from patterns learned FROM data, not from explicit if-then rules.
Question: "If you wanted to group students into study groups based on similar quiz scores, without any correct answer given in advance — is that supervised or unsupervised?"
Approx. time: within the 20-minute AI/ML/DL/GenAI block — roughly 5 minutes for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describe the diagram as data flowing left (input) to right (output), passing through hidden layers that each learn a slightly more abstract representation.
Real-world example: in an image-recognition network, early layers might detect edges, middle layers detect shapes, and later layers detect whole objects like "cat" or "car."
Key terminology: neural network, layer, node/neuron, CNN, RNN, Transformer (names only, no equations).
Common misconception: that "deep" refers to intelligence depth — clarify it refers to the number of layers stacked in the network.
Question: "Why might more layers help a network recognize more complex patterns?"
Approx. time: ~5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Generative AI takes a prompt/input and produces genuinely new content — as opposed to classification models that only assign a label.
Real-world example: typing a text prompt into an image generator produces a brand-new picture that did not exist before.
Key terminology: prompt, generative model, generated content, multimodal (preview).
Common misconception: students may think Generative AI only means text chatbots — the output grid shows text, images, audio, video, code, and music are all possible.
Activity — Think-Pair-Share: students discuss in pairs which generative tools they've used (ChatGPT, image generators, coding assistants, etc.), then share with the class.
Approx. time: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 foundation model is trained once on massive, broad data (text, images, code, etc.) and then adapted (via fine-tuning or prompting) to many downstream tasks — rather than training a brand-new model from scratch for every single application.
Real-world example: the same underlying language model can be adapted to power a customer-support chatbot, a code assistant, and a document summarizer.
Key terminology: pretraining, adaptation, downstream task, multimodal.
Common misconception: that every AI application needs its own model built from zero — foundation models make reuse and adaptation possible.
Question: "Why might reusing one large pretrained model be cheaper than training a new model for every task?"
Approx. time: within the 20-minute AI/ML/DL/GenAI block — roughly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walk through the pipeline — raw text is broken into tokens, tokens become numeric embeddings, attention relates tokens to each other, and stacked transformer layers refine understanding before producing output.
Real-world example: use the "animal... it was tired" sentence — ask students what "it" refers to, and explain attention is the mechanism that helps the model resolve this correctly using context.
Key terminology: token, embedding, attention, transformer layer. Explicitly avoid equations.
Common misconception: that transformers "understand" language the way humans do — clarify it is a statistical weighting mechanism over learned representations, not comprehension in the human sense.
Question: "Can you find another sentence where a pronoun's meaning depends entirely on context?"
Approx. time: within the 20-minute AI/ML/DL/GenAI block — roughly 5 minutes, wrapping up the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AI is not one branch — it's a family of interconnected sub-fields, several of which we already named on earlier slides (ML, DL, NLP, Vision, Generative AI).
Real-world example: a hospital triage assistant might combine NLP (reading doctor notes), Computer Vision (reading scans), and Explainable AI (justifying its recommendation).
Key terminology: introduce Explainable AI and Trustworthy AI briefly — systems whose decisions can be understood and trusted by humans.
Common misconception: that all these branches are separate and unrelated — emphasize real systems often combine several branches at once.
Activity — Branch identification: call out a product (self-driving car, hospital chatbot, warehouse robot) and ask students which 2-3 branches it likely uses.
Approx. time: 6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Computer Vision teaches machines to extract meaning from pixels — detecting edges, shapes, and objects, then classifying or localizing them.
Real-world example: a medical imaging model flags suspicious regions on an X-ray for a radiologist to review.
Key terminology: object detection, image classification, quality inspection.
Common misconception: that "seeing" for a computer is the same as human vision — clarify it is pattern recognition over pixel data, without genuine visual experience.
Question: "What could go wrong if a self-driving car's vision system misclassifies a stop sign?"
Approx. time: within the 10-minute Branches block — roughly 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NLP covers both understanding language (e.g. sentiment analysis) and generating it (e.g. chatbot replies, summaries) — LLMs are today's dominant NLP technology.
Real-world example: a search engine uses NLP to understand a typed query and match it to relevant documents.
Key terminology: sentiment analysis, machine translation, summarization, LLM.
Common misconception: that NLP is only "chatbots" — the grid shows translation, search, and summarization are equally central.
Question: "Which NLP application listed here do you personally use most often?"
Approx. time: within the 10-minute Branches block — roughly 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robotics combines perception, decision-making, and physical action — the Sense-Think-Plan-Act loop repeats continuously while a robot operates.
Real-world example: a warehouse robot senses shelf locations via cameras/sensors, plans the most efficient path, and acts by moving and picking items.
Key terminology: sensor, actuator, AI agent (basic definition given here — expanded later in the course).
Common misconception: that "robot" always means humanoid — clarify robots take many forms (drones, warehouse arms, self-driving cars).
Question: "What could happen if the 'Sense' step fails — e.g. a sensor gives wrong data?"
Approx. time: within the 10-minute Branches block — roughly 3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an agent takes an action in an environment, receives a reward or penalty, and uses that feedback to improve future decisions — repeating this loop many times.
Real-world example: AlphaGo (mentioned on the history timeline) learned to play Go through millions of self-play games using reinforcement learning.
Key terminology: agent, action, environment, reward, policy (name only).
Common misconception: that RL needs labeled correct answers like supervised learning — clarify RL learns from trial-and-error feedback (reward signals) instead.
Question: "How is a video game player leveling up through practice similar to reinforcement learning?"
Approx. time: 5 minutes (no advanced math — keep it conceptual).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pick 2-3 industries and go slightly deeper — e.g. for Healthcare, explain how a model trained on thousands of labeled X-rays can flag anomalies for radiologist review.
Real-world example: use a Pakistan-relevant example if helpful — e.g. AI-based fraud detection in mobile banking apps.
Key terminology: predictive maintenance, personalized tutoring, content recommendation.
Common misconception: that AI applications are limited to tech companies — this grid shows adoption is broad across every industry.
Activity — Real-world application challenge: split the class by row; each group picks one industry box and proposes ONE additional AI use case for it beyond what's shown.
Approx. time: 10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emphasize this slide is specifically for BSCS students — AI is no longer a separate elective topic but a capability integrated into nearly every CS discipline they will study.
Real-world example: modern databases use AI-based query optimizers; cloud platforms use AI for auto-scaling decisions.
Key terminology: none new — this reinforces the branches already covered.
Common misconception: that only "AI/ML majors" need to learn AI — stress that AI now touches networks, databases, cybersecurity, and HCI too.
Question: "Which of these 9 combinations excites you most for a future project or career?"
Approx. time: 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this stack shows how the concepts of the lecture connect end-to-end — raw data flows up through ML/DL, foundation models, generative AI, and finally into applied technologies like RAG and AI agents that power real applications.
Real-world example: a company might use a foundation LLM (layer 5), add Retrieval-Augmented Generation to ground it in their own documents (layer 7), and wrap it in an AI agent (layer 8) to build a customer-support tool (layer 9).
Key terminology: RAG (Retrieval-Augmented Generation) — introduce briefly as "giving a model access to external documents/knowledge before it answers."
Common misconception: that these layers are competing alternatives — clarify they build on each other.
Question: "Which layer of this stack do you think you'll spend the most time working in during your career?"
Approx. time: within the 8-minute Ecosystem/Skills block — roughly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present this as a multi-semester journey, not a checklist to finish this week — reduce anxiety by being explicit that mastery builds gradually across the whole BS program.
Real-world example: mention that industry job postings increasingly list Python, Git, SQL, and "familiarity with LLM APIs" as baseline skills even for non-AI-specialist roles.
Key terminology: Responsible AI (brief preview — fairness, safety, and accountability in AI systems).
Common misconception: that students need to learn everything immediately — explicitly reassure them this unfolds over the degree.
Question / self-assessment: "Which ONE skill on this roadmap do you already have some experience with?"
Approx. time: within the 8-minute Ecosystem/Skills block — roughly 4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divide the class into 6 groups (by seating or count-off), assign one problem per group, and set a visible timer for 5-7 minutes.
Real-world example: briefly model the process using a 7th example not assigned to any group (e.g. "detect spam reviews") so students see the expected answer format before starting.
Key terminology: reinforce data, AI capability, AI branch — all covered earlier in the lecture — students should now apply them.
Common misconception: groups may jump straight to a solution without identifying what DATA is needed — coach them to answer all 5 questions in order.
Activity instructions: 5-7 minutes group discussion, then 30-60 seconds per group to present their answers to the class; instructor gives brief feedback after each.
Approx. time: 5 minutes allotted in the plan, extendable to 10-12 minutes if time permits, since this is the capstone 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recap the chain from AI down to modern applications, connecting back to Slide 9's nested diagram so students see the full picture come together.
Real-world example: remind students of their own Slide-2 answer ("one AI example you used today") and note how much richer their understanding of that example now is.
Key terminology: revisit AI, ML, DL, Generative AI, AI Agent as the core vocabulary for the rest of the course.
Common misconception check: ask if anyone still equates AI only with robots/ChatGPT — use this moment to correct any remaining confusion.
Activity — One-minute reflection: students write down ONE real-world problem they would like to solve with AI; collect a few responses verbally.
Question: "What real-world problem would YOU like to solve using AI?"
Approx. time: 2 minutes.
Closing note for instructor: preview that the next lecture will go deeper into one of the branches introduced today (e.g. Machine Learning fundamentals).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3.png"/><Relationship Id="rId4" Type="http://schemas.openxmlformats.org/officeDocument/2006/relationships/image" Target="../media/image7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26.png"/><Relationship Id="rId10" Type="http://schemas.openxmlformats.org/officeDocument/2006/relationships/image" Target="../media/image15.png"/><Relationship Id="rId4" Type="http://schemas.openxmlformats.org/officeDocument/2006/relationships/image" Target="../media/image5.png"/><Relationship Id="rId9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5.png"/><Relationship Id="rId5" Type="http://schemas.openxmlformats.org/officeDocument/2006/relationships/image" Target="../media/image27.png"/><Relationship Id="rId10" Type="http://schemas.openxmlformats.org/officeDocument/2006/relationships/image" Target="../media/image24.png"/><Relationship Id="rId4" Type="http://schemas.openxmlformats.org/officeDocument/2006/relationships/image" Target="../media/image16.png"/><Relationship Id="rId9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188720"/>
            <a:ext cx="5029200" cy="502920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97680"/>
            <a:ext cx="2926080" cy="292608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4" name="Shape 2"/>
          <p:cNvSpPr/>
          <p:nvPr/>
        </p:nvSpPr>
        <p:spPr>
          <a:xfrm>
            <a:off x="9646920" y="68580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aidec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6" y="104241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COMPUTER SCIENCE · 3RD SEMESTER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01 — Introduction to Artificial Intelligence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31750">
            <a:solidFill>
              <a:srgbClr val="FF6B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Okara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22960" y="44074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5029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Dr. Ghulam Ali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to Your Mind When You Hear "AI"?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85900" y="15819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/home/claude/aidec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095" y="1772107"/>
            <a:ext cx="351130" cy="3511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350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20540" y="15819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home/claude/aideck/icons/c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0735" y="1772107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350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cars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55180" y="15819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aideck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375" y="1772107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350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989820" y="15819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3" descr="/home/claude/aideck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80015" y="1772107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052560" y="23500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4864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485900" y="31821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/home/claude/aideck/icons/ro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6095" y="3372307"/>
            <a:ext cx="351130" cy="35113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" y="3950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38328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4320540" y="31821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5" descr="/home/claude/aideck/icons/commentdo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0735" y="3372307"/>
            <a:ext cx="351130" cy="35113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383280" y="3950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621792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155180" y="31821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6" descr="/home/claude/aideck/icons/magic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45375" y="3372307"/>
            <a:ext cx="351130" cy="35113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217920" y="3950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generation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9052560" y="301752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5" name="Shape 26"/>
          <p:cNvSpPr/>
          <p:nvPr/>
        </p:nvSpPr>
        <p:spPr>
          <a:xfrm>
            <a:off x="9989820" y="3182112"/>
            <a:ext cx="731520" cy="7315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7" descr="/home/claude/aideck/icons/shiel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0015" y="3372307"/>
            <a:ext cx="351130" cy="35113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9052560" y="3950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548640" y="452628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9" name="Text 29"/>
          <p:cNvSpPr/>
          <p:nvPr/>
        </p:nvSpPr>
        <p:spPr>
          <a:xfrm>
            <a:off x="868680" y="46817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"Write ONE example of AI that YOU used today."</a:t>
            </a:r>
            <a:endParaRPr lang="en-US" sz="2000" dirty="0"/>
          </a:p>
        </p:txBody>
      </p:sp>
      <p:sp>
        <p:nvSpPr>
          <p:cNvPr id="40" name="Text 30"/>
          <p:cNvSpPr/>
          <p:nvPr/>
        </p:nvSpPr>
        <p:spPr>
          <a:xfrm>
            <a:off x="868680" y="523036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for 60 seconds, then we will ask 3–5 students to share. (Don't reveal the answer yet.)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2" name="Text 3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309360" cy="1691640"/>
          </a:xfrm>
          <a:prstGeom prst="roundRect">
            <a:avLst>
              <a:gd name="adj" fmla="val 432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field of computing concerned with building systems that can perform tasks requiring capabilities commonly associated with human intelligence.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60920" y="1691640"/>
            <a:ext cx="1508760" cy="15087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aidec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198" y="2083918"/>
            <a:ext cx="724205" cy="7242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4290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365760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3429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37560" y="34290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74720" y="365760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3" name="Text 10"/>
          <p:cNvSpPr/>
          <p:nvPr/>
        </p:nvSpPr>
        <p:spPr>
          <a:xfrm>
            <a:off x="3703320" y="3429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26480" y="34290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365760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Text 13"/>
          <p:cNvSpPr/>
          <p:nvPr/>
        </p:nvSpPr>
        <p:spPr>
          <a:xfrm>
            <a:off x="6492240" y="3429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915400" y="342900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52560" y="365760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9" name="Text 16"/>
          <p:cNvSpPr/>
          <p:nvPr/>
        </p:nvSpPr>
        <p:spPr>
          <a:xfrm>
            <a:off x="9281160" y="342900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1605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85800" y="43891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understanding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41605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74720" y="43891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5" name="Text 22"/>
          <p:cNvSpPr/>
          <p:nvPr/>
        </p:nvSpPr>
        <p:spPr>
          <a:xfrm>
            <a:off x="370332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126480" y="41605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63640" y="43891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8915400" y="4160520"/>
            <a:ext cx="26060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052560" y="438912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1" name="Text 28"/>
          <p:cNvSpPr/>
          <p:nvPr/>
        </p:nvSpPr>
        <p:spPr>
          <a:xfrm>
            <a:off x="9281160" y="41605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Intelligence vs. Artificial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ideck/icons/userfrien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8580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Intelligence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Learns from lived experience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889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Uses common sense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68680" y="33101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Understands deep context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37307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Adapts to totally new situations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415137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Reasons flexibly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8680" y="45720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Communicates naturally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1417320"/>
            <a:ext cx="5349240" cy="37033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6583680" y="169164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1" descr="/home/claude/aideck/icons/b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0101" y="1858061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17373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Artificial Intelligence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6583680" y="246888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Learns from data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583680" y="2889504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Detects statistical patterns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583680" y="3310128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Optimizes decisions at scale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583680" y="3730752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Generates new content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583680" y="4151376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Performs specific, trained tasks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583680" y="4572000"/>
            <a:ext cx="4709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Processes huge volumes of information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AI systems today are specialized / task-oriented — not equivalent to general human intelligence.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This 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31620" y="15544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/home/claude/aideck/icons/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041" y="17209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2532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66260" y="15544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/home/claude/aideck/icons/commentdo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681" y="17209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8328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 filter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383280" y="2532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00900" y="15544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/home/claude/aideck/icons/ey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7321" y="17209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217920" y="2532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9052560" y="141732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0035540" y="155448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/home/claude/aideck/icons/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1961" y="1720901"/>
            <a:ext cx="307238" cy="30723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052560" y="22402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route planning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052560" y="253288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4864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531620" y="31729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/home/claude/aideck/icons/chartli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8041" y="3339389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" y="3858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recommendation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548640" y="4151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38328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366260" y="31729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/home/claude/aideck/icons/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2681" y="3339389"/>
            <a:ext cx="307238" cy="30723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383280" y="3858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250" dirty="0"/>
          </a:p>
        </p:txBody>
      </p:sp>
      <p:sp>
        <p:nvSpPr>
          <p:cNvPr id="35" name="Text 27"/>
          <p:cNvSpPr/>
          <p:nvPr/>
        </p:nvSpPr>
        <p:spPr>
          <a:xfrm>
            <a:off x="3383280" y="4151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21792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200900" y="31729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6" descr="/home/claude/aideck/icons/thermome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67321" y="3339389"/>
            <a:ext cx="307238" cy="307238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17920" y="3858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Thermostat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6217920" y="4151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9052560" y="3035808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10035540" y="3172968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3" name="Image 7" descr="/home/claude/aideck/icons/c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01961" y="3339389"/>
            <a:ext cx="307238" cy="307238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052560" y="385876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052560" y="41513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AI?   Not AI?   Depends?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Scope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76" y="283464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home/claude/aideck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292" y="31912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0867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94376" y="89154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94376" y="89154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420356" y="1203931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20356" y="120393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976681" y="205740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76681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546336" y="322326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46336" y="32232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76681" y="43891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76681" y="4389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20356" y="5242589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20356" y="524258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94376" y="555498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294376" y="555498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168396" y="5242589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168396" y="5242589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612071" y="438912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612071" y="4389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42416" y="322326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2416" y="32232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1612071" y="2057400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612071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168396" y="1203931"/>
            <a:ext cx="1600200" cy="502920"/>
          </a:xfrm>
          <a:prstGeom prst="roundRect">
            <a:avLst>
              <a:gd name="adj" fmla="val 18182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168396" y="1203931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7143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17143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703320"/>
            <a:ext cx="11155680" cy="0"/>
          </a:xfrm>
          <a:prstGeom prst="line">
            <a:avLst/>
          </a:prstGeom>
          <a:noFill/>
          <a:ln w="38100">
            <a:solidFill>
              <a:srgbClr val="D8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2468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74904" y="2798064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 asks: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machines think?”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6014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96620" y="390448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620" y="3959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51484" y="42336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Dartmouth Workshop —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named as a field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89966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36140" y="2468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614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1960s–70s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91004" y="2798064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Symbolic AI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3918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3375660" y="390448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5660" y="3959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30524" y="42336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37870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4615180" y="2468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518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670044" y="2798064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Blue defeats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Kasparov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61822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5854700" y="390448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4700" y="3959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909564" y="42336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AlexNet — deep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breakthrough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85774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2" name="Shape 30"/>
          <p:cNvSpPr/>
          <p:nvPr/>
        </p:nvSpPr>
        <p:spPr>
          <a:xfrm>
            <a:off x="7094220" y="2468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9422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49084" y="2798064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AlphaGo defeats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Sedol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09726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6" name="Shape 34"/>
          <p:cNvSpPr/>
          <p:nvPr/>
        </p:nvSpPr>
        <p:spPr>
          <a:xfrm>
            <a:off x="8333740" y="390448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33740" y="3959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388604" y="42336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033678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0" name="Shape 38"/>
          <p:cNvSpPr/>
          <p:nvPr/>
        </p:nvSpPr>
        <p:spPr>
          <a:xfrm>
            <a:off x="9573260" y="2468880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73260" y="252374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9628124" y="2798064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LLMs, Generative AI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1576304" y="36210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44" name="Shape 42"/>
          <p:cNvSpPr/>
          <p:nvPr/>
        </p:nvSpPr>
        <p:spPr>
          <a:xfrm>
            <a:off x="10177272" y="3904488"/>
            <a:ext cx="16916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177272" y="39593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10232136" y="4233672"/>
            <a:ext cx="1581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of AI agents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AI-for-science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4864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1940s: early neural / computational ideas precede this timeline.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Rules to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367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Systems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3152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if-then logic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36392" y="20162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8" name="Shape 6"/>
          <p:cNvSpPr/>
          <p:nvPr/>
        </p:nvSpPr>
        <p:spPr>
          <a:xfrm>
            <a:off x="3429000" y="15087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6367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56616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human expert knowledge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71032" y="20162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6263640" y="15087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6367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0080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patterns from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805672" y="20162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8280" y="15087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35440" y="16367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235440" y="20756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neural networks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245852" y="2770632"/>
            <a:ext cx="219456" cy="256032"/>
          </a:xfrm>
          <a:prstGeom prst="downArrow">
            <a:avLst/>
          </a:prstGeom>
          <a:solidFill>
            <a:srgbClr val="FF6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465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architecture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136392" y="38450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465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56616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at massive scale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71032" y="38450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26364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465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40080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805672" y="3845052"/>
            <a:ext cx="274320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32" name="Shape 30"/>
          <p:cNvSpPr/>
          <p:nvPr/>
        </p:nvSpPr>
        <p:spPr>
          <a:xfrm>
            <a:off x="9098280" y="333756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9235440" y="3465576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9235440" y="390448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&amp; takes actions with tools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vs. ML vs. DL vs. 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492240" cy="4709160"/>
          </a:xfrm>
          <a:prstGeom prst="roundRect">
            <a:avLst>
              <a:gd name="adj" fmla="val 155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856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 field of intelligent computational systems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212848"/>
            <a:ext cx="5852160" cy="3639312"/>
          </a:xfrm>
          <a:prstGeom prst="roundRect">
            <a:avLst>
              <a:gd name="adj" fmla="val 2010"/>
            </a:avLst>
          </a:prstGeom>
          <a:solidFill>
            <a:srgbClr val="DCE6FA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24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learn patterns from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188720" y="2999232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AFC6ED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31272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62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using multilayer neural networks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508760" y="379476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737360" y="39136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4206240"/>
            <a:ext cx="4114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new content — commonly built on deep learning &amp; foundation models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315200" y="1417320"/>
            <a:ext cx="4343400" cy="470916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691640"/>
            <a:ext cx="502920" cy="502920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nuance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589520" y="224028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is NOT always a strict subset of Deep Learning in every possible context — but modern Generative AI systems commonly rely on deep learning and large foundation models.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589520" y="3886200"/>
            <a:ext cx="3840480" cy="0"/>
          </a:xfrm>
          <a:prstGeom prst="line">
            <a:avLst/>
          </a:prstGeom>
          <a:noFill/>
          <a:ln w="12700">
            <a:solidFill>
              <a:srgbClr val="D8E1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069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layer does a self-driving car’s object detector belong to? What about a chatbot that writes essays?"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35224" y="1947672"/>
            <a:ext cx="384048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7" name="Shape 5"/>
          <p:cNvSpPr/>
          <p:nvPr/>
        </p:nvSpPr>
        <p:spPr>
          <a:xfrm>
            <a:off x="3383280" y="16002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Algorithm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69864" y="1947672"/>
            <a:ext cx="384048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002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04504" y="1947672"/>
            <a:ext cx="384048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52560" y="1600200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52560" y="1600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/ Decision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Email  →  [Learning Algorithm]  →  Spam / Not Spam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" y="4206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examples (input → known correct output)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43400" y="34290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Learning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206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structure/patterns in unlabeled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38160" y="342900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3611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66760" y="42062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by trial, error, and reward feedback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263640" cy="2468880"/>
          </a:xfrm>
          <a:prstGeom prst="roundRect">
            <a:avLst>
              <a:gd name="adj" fmla="val 296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Neural networks with multiple layers that learn useful representations from data.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97280" y="265176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651760"/>
            <a:ext cx="1554480" cy="27432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651760"/>
            <a:ext cx="1554480" cy="54864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651760"/>
            <a:ext cx="1554480" cy="82296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06324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306324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3063240"/>
            <a:ext cx="1554480" cy="13716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3063240"/>
            <a:ext cx="1554480" cy="41148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9728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51760" y="265176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51760" y="2651760"/>
            <a:ext cx="1554480" cy="27432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651760"/>
            <a:ext cx="1554480" cy="54864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651760"/>
            <a:ext cx="1554480" cy="82296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51760" y="292608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292608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2926080"/>
            <a:ext cx="1554480" cy="27432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51760" y="2926080"/>
            <a:ext cx="1554480" cy="54864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320040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51760" y="320040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320040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3200400"/>
            <a:ext cx="1554480" cy="27432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5176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5176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5176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265176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0" y="2651760"/>
            <a:ext cx="1554480" cy="82296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06240" y="292608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2926080"/>
            <a:ext cx="1554480" cy="54864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320040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06240" y="3200400"/>
            <a:ext cx="1554480" cy="27432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0" y="3474720"/>
            <a:ext cx="1554480" cy="0"/>
          </a:xfrm>
          <a:prstGeom prst="line">
            <a:avLst/>
          </a:prstGeom>
          <a:noFill/>
          <a:ln w="9525">
            <a:solidFill>
              <a:srgbClr val="D8E1F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0976" y="2505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3" name="Shape 41"/>
          <p:cNvSpPr/>
          <p:nvPr/>
        </p:nvSpPr>
        <p:spPr>
          <a:xfrm>
            <a:off x="950976" y="2916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4" name="Shape 42"/>
          <p:cNvSpPr/>
          <p:nvPr/>
        </p:nvSpPr>
        <p:spPr>
          <a:xfrm>
            <a:off x="950976" y="3328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5" name="Shape 43"/>
          <p:cNvSpPr/>
          <p:nvPr/>
        </p:nvSpPr>
        <p:spPr>
          <a:xfrm>
            <a:off x="2505456" y="2505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6" name="Shape 44"/>
          <p:cNvSpPr/>
          <p:nvPr/>
        </p:nvSpPr>
        <p:spPr>
          <a:xfrm>
            <a:off x="2505456" y="27797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7" name="Shape 45"/>
          <p:cNvSpPr/>
          <p:nvPr/>
        </p:nvSpPr>
        <p:spPr>
          <a:xfrm>
            <a:off x="2505456" y="3054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8" name="Shape 46"/>
          <p:cNvSpPr/>
          <p:nvPr/>
        </p:nvSpPr>
        <p:spPr>
          <a:xfrm>
            <a:off x="2505456" y="3328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9" name="Shape 47"/>
          <p:cNvSpPr/>
          <p:nvPr/>
        </p:nvSpPr>
        <p:spPr>
          <a:xfrm>
            <a:off x="4059936" y="2505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0" name="Shape 48"/>
          <p:cNvSpPr/>
          <p:nvPr/>
        </p:nvSpPr>
        <p:spPr>
          <a:xfrm>
            <a:off x="4059936" y="277977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1" name="Shape 49"/>
          <p:cNvSpPr/>
          <p:nvPr/>
        </p:nvSpPr>
        <p:spPr>
          <a:xfrm>
            <a:off x="4059936" y="305409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2" name="Shape 50"/>
          <p:cNvSpPr/>
          <p:nvPr/>
        </p:nvSpPr>
        <p:spPr>
          <a:xfrm>
            <a:off x="4059936" y="3328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3" name="Shape 51"/>
          <p:cNvSpPr/>
          <p:nvPr/>
        </p:nvSpPr>
        <p:spPr>
          <a:xfrm>
            <a:off x="5614416" y="250545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4" name="Shape 52"/>
          <p:cNvSpPr/>
          <p:nvPr/>
        </p:nvSpPr>
        <p:spPr>
          <a:xfrm>
            <a:off x="5614416" y="332841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19456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74904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303520" y="3611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086600" y="1463040"/>
            <a:ext cx="4572000" cy="228600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/>
        </p:spPr>
      </p:sp>
      <p:sp>
        <p:nvSpPr>
          <p:cNvPr id="60" name="Text 58"/>
          <p:cNvSpPr/>
          <p:nvPr/>
        </p:nvSpPr>
        <p:spPr>
          <a:xfrm>
            <a:off x="731520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731520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Image recognition</a:t>
            </a:r>
            <a:endParaRPr lang="en-US" sz="1350" dirty="0"/>
          </a:p>
        </p:txBody>
      </p:sp>
      <p:sp>
        <p:nvSpPr>
          <p:cNvPr id="62" name="Text 60"/>
          <p:cNvSpPr/>
          <p:nvPr/>
        </p:nvSpPr>
        <p:spPr>
          <a:xfrm>
            <a:off x="731520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Speech recognition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31520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Language understanding</a:t>
            </a:r>
            <a:endParaRPr lang="en-US" sz="1350" dirty="0"/>
          </a:p>
        </p:txBody>
      </p:sp>
      <p:sp>
        <p:nvSpPr>
          <p:cNvPr id="64" name="Shape 62"/>
          <p:cNvSpPr/>
          <p:nvPr/>
        </p:nvSpPr>
        <p:spPr>
          <a:xfrm>
            <a:off x="54864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3152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— strong for images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34340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2628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452628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 — strong for sequences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138160" y="416052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21040" y="42702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321040" y="4617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— powers modern LLMs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48640" y="55778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 will not go deep into these architectures today — just names for now.)</a:t>
            </a:r>
            <a:endParaRPr lang="en-US" sz="1150" dirty="0"/>
          </a:p>
        </p:txBody>
      </p:sp>
      <p:sp>
        <p:nvSpPr>
          <p:cNvPr id="74" name="Text 7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Generative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/ Input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9664" y="199339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18704" y="199339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321040" y="16002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21040" y="1600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Content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0" descr="/home/claude/aidec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3701" y="3439973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486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42316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97180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1" descr="/home/claude/aideck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221" y="3439973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2316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29768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84632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2" descr="/home/claude/aideck/icons/commentdo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2741" y="3439973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29768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7220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72084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3" descr="/home/claude/aideck/icons/fil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7261" y="3439973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17220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804672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9536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/home/claude/aideck/icons/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1781" y="3439973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04672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9921240" y="3108960"/>
            <a:ext cx="173736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69880" y="3273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5" descr="/home/claude/aideck/icons/magi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36301" y="3439973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21240" y="4023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/ 3D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548640" y="489204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1E2761"/>
          </a:solidFill>
          <a:ln/>
        </p:spPr>
      </p:sp>
      <p:sp>
        <p:nvSpPr>
          <p:cNvPr id="39" name="Text 31"/>
          <p:cNvSpPr/>
          <p:nvPr/>
        </p:nvSpPr>
        <p:spPr>
          <a:xfrm>
            <a:off x="868680" y="502920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Generative AI tools have you already used?"</a:t>
            </a:r>
            <a:endParaRPr lang="en-US" sz="1900" dirty="0"/>
          </a:p>
        </p:txBody>
      </p:sp>
      <p:sp>
        <p:nvSpPr>
          <p:cNvPr id="40" name="Text 32"/>
          <p:cNvSpPr/>
          <p:nvPr/>
        </p:nvSpPr>
        <p:spPr>
          <a:xfrm>
            <a:off x="868680" y="55778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 for 2 minutes, then share with the class.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Models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45536" y="2016252"/>
            <a:ext cx="25603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7" name="Shape 5"/>
          <p:cNvSpPr/>
          <p:nvPr/>
        </p:nvSpPr>
        <p:spPr>
          <a:xfrm>
            <a:off x="342900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600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34456" y="2016252"/>
            <a:ext cx="25603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0" name="Shape 8"/>
          <p:cNvSpPr/>
          <p:nvPr/>
        </p:nvSpPr>
        <p:spPr>
          <a:xfrm>
            <a:off x="621792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600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723376" y="2016252"/>
            <a:ext cx="25603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3" name="Shape 11"/>
          <p:cNvSpPr/>
          <p:nvPr/>
        </p:nvSpPr>
        <p:spPr>
          <a:xfrm>
            <a:off x="9006840" y="1600200"/>
            <a:ext cx="246888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16002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632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"Train once at large scale → adapt for many tasks."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40080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668780" y="4416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0" descr="/home/claude/aideck/icons/comm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201" y="4582973"/>
            <a:ext cx="307238" cy="30723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520440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549140" y="4416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aideck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5561" y="4582973"/>
            <a:ext cx="307238" cy="30723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2044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400800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429500" y="4416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2" descr="/home/claude/aideck/icons/mag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921" y="4582973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40080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Vision-Language Models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9281160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F5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10309860" y="441655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3" descr="/home/claude/aidec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76281" y="4582973"/>
            <a:ext cx="307238" cy="30723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281160" y="516636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Models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40080" y="58064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training mathematics today — just the concept: general-purpose models adapted to specific tasks.)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SPOTLIGHT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Transformers: The Technology Behind Modern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258568" y="1947672"/>
            <a:ext cx="128016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2386584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86584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096512" y="1947672"/>
            <a:ext cx="128016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4224528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24528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34456" y="1947672"/>
            <a:ext cx="128016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3" name="Shape 11"/>
          <p:cNvSpPr/>
          <p:nvPr/>
        </p:nvSpPr>
        <p:spPr>
          <a:xfrm>
            <a:off x="6062472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F6B4A"/>
          </a:solidFill>
          <a:ln/>
        </p:spPr>
      </p:sp>
      <p:sp>
        <p:nvSpPr>
          <p:cNvPr id="14" name="Text 12"/>
          <p:cNvSpPr/>
          <p:nvPr/>
        </p:nvSpPr>
        <p:spPr>
          <a:xfrm>
            <a:off x="6062472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72400" y="1947672"/>
            <a:ext cx="128016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0416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00416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610344" y="1947672"/>
            <a:ext cx="128016" cy="219456"/>
          </a:xfrm>
          <a:prstGeom prst="rightArrow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9738360" y="16002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38360" y="160020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288036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063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in plain language: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29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animal didn’t cross the road because it was tired."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lets the model weigh EVERY word against every other word to figure out that "it" refers to "the animal," not "the road."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complex equations today — just the idea that context shapes meaning, word by word.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Branches of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7143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17143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92808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8528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82696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72584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8304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62472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08192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52360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842248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87968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232136" y="155448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77856" y="155448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92808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38528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AI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82696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28416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72584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18304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62472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452360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842248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87968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0232136" y="2743200"/>
            <a:ext cx="1298448" cy="1051560"/>
          </a:xfrm>
          <a:prstGeom prst="roundRect">
            <a:avLst>
              <a:gd name="adj" fmla="val 6957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77856" y="2743200"/>
            <a:ext cx="12070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computers to interpret and understand visual information.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36008" y="295351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02168" y="295351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0" descr="/home/claude/aidec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561" y="4308653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50592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22092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1" descr="/home/claude/aideck/icons/heartbe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513" y="4308653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96312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352544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24044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2" descr="/home/claude/aideck/icons/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465" y="4308653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98264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54496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25996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3" descr="/home/claude/aideck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417" y="4308653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00216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56448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727948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/home/claude/aideck/icons/indust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4369" y="4308653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02168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10058400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629900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5" descr="/home/claude/aideck/icons/seedl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6321" y="4308653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04120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 / Agriculture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Natural Language Processing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computers to process, understand, and generate human language.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6304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636008" y="295351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(NLP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02168" y="295351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595360" y="260604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/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20140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0" descr="/home/claude/aideck/icons/comment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6561" y="4308653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94360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2450592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022092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0" name="Image 1" descr="/home/claude/aideck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8513" y="4308653"/>
            <a:ext cx="307238" cy="30723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496312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352544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24044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2" descr="/home/claude/aideck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465" y="4308653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98264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254496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25996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3" descr="/home/claude/aideck/icons/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417" y="4308653"/>
            <a:ext cx="307238" cy="30723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00216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8156448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727948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4" descr="/home/claude/aideck/icons/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94369" y="4308653"/>
            <a:ext cx="307238" cy="307238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202168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summarization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10058400" y="3977640"/>
            <a:ext cx="1783080" cy="1371600"/>
          </a:xfrm>
          <a:prstGeom prst="roundRect">
            <a:avLst>
              <a:gd name="adj" fmla="val 5333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629900" y="4142232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5" descr="/home/claude/aideck/icons/comment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6321" y="4308653"/>
            <a:ext cx="307238" cy="30723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04120" y="48920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/ Question Answering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Robotics &amp; Intelligent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must: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09728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83080" y="1828800"/>
            <a:ext cx="1097280" cy="502920"/>
          </a:xfrm>
          <a:prstGeom prst="roundRect">
            <a:avLst>
              <a:gd name="adj" fmla="val 50909"/>
            </a:avLst>
          </a:prstGeom>
          <a:solidFill>
            <a:srgbClr val="FF6B4A"/>
          </a:solidFill>
          <a:ln/>
        </p:spPr>
      </p:sp>
      <p:sp>
        <p:nvSpPr>
          <p:cNvPr id="8" name="Text 6"/>
          <p:cNvSpPr/>
          <p:nvPr/>
        </p:nvSpPr>
        <p:spPr>
          <a:xfrm>
            <a:off x="178308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1828800"/>
            <a:ext cx="109728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1097280" cy="502920"/>
          </a:xfrm>
          <a:prstGeom prst="roundRect">
            <a:avLst>
              <a:gd name="adj" fmla="val 50909"/>
            </a:avLst>
          </a:prstGeom>
          <a:solidFill>
            <a:srgbClr val="FF6B4A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1828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2743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36008" y="309067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0" y="2743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Decision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02168" y="3090672"/>
            <a:ext cx="329184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9" name="Shape 17"/>
          <p:cNvSpPr/>
          <p:nvPr/>
        </p:nvSpPr>
        <p:spPr>
          <a:xfrm>
            <a:off x="8595360" y="2743200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2743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30452" y="42062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0" descr="/home/claude/aideck/icons/indus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608" y="4358396"/>
            <a:ext cx="280904" cy="28090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94360" y="4910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robots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2816352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598164" y="42062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1" descr="/home/claude/aideck/icons/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320" y="4358396"/>
            <a:ext cx="280904" cy="280904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2862072" y="4910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084064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865876" y="42062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2" descr="/home/claude/aideck/icons/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032" y="4358396"/>
            <a:ext cx="280904" cy="280904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29784" y="4910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7351776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133588" y="42062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5" name="Image 3" descr="/home/claude/aideck/icons/userfrien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5744" y="4358396"/>
            <a:ext cx="280904" cy="28090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7397496" y="4910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robots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619488" y="4069080"/>
            <a:ext cx="2148840" cy="1280160"/>
          </a:xfrm>
          <a:prstGeom prst="roundRect">
            <a:avLst>
              <a:gd name="adj" fmla="val 5714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0401300" y="420624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9" name="Image 4" descr="/home/claude/aideck/icons/data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456" y="4358396"/>
            <a:ext cx="280904" cy="280904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9665208" y="491032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robots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(basic idea): a system that perceives its environment, reasons/plans, and takes actions toward a goal.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training a player to win a game through practice: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25796" y="1503274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225796" y="1503274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08570" y="256538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08570" y="25653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7611" y="4283925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27611" y="4283925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123981" y="4283925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3981" y="4283925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43022" y="2565388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3022" y="2565388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526532" y="2149297"/>
            <a:ext cx="918663" cy="547307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7381556" y="3421561"/>
            <a:ext cx="310430" cy="783432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V="1">
            <a:off x="5495581" y="4672545"/>
            <a:ext cx="1197790" cy="0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96966" y="3421561"/>
            <a:ext cx="310430" cy="783432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4743757" y="2149297"/>
            <a:ext cx="918663" cy="547307"/>
          </a:xfrm>
          <a:prstGeom prst="line">
            <a:avLst/>
          </a:prstGeom>
          <a:noFill/>
          <a:ln w="28575">
            <a:solidFill>
              <a:srgbClr val="FF6B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296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" y="555040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0" descr="/home/claude/aideck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218" y="5712074"/>
            <a:ext cx="298460" cy="2984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719072" y="5349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361188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776472" y="555040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1" descr="/home/claude/aidec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8138" y="5712074"/>
            <a:ext cx="298460" cy="29846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4507992" y="5349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0080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565392" y="555040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2" descr="/home/claude/aideck/icons/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058" y="5712074"/>
            <a:ext cx="298460" cy="2984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7296912" y="5349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optimization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9189720" y="53492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9354312" y="555040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4" name="Image 3" descr="/home/claude/aideck/icons/bulls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15978" y="5712074"/>
            <a:ext cx="298460" cy="29846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0085832" y="5349240"/>
            <a:ext cx="1600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decisions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the Real World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35431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35431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/home/claude/aideck/icons/heartbe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8308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783080" y="1984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6227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/home/claude/aideck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911096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5532120" y="1984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risk detection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1131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/home/claude/aideck/icons/grad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911096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81160" y="16002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9281160" y="19842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tutoring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323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/home/claude/aideck/icons/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465576"/>
            <a:ext cx="438912" cy="4389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78308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783080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6227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/home/claude/aideck/icons/seedl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65576"/>
            <a:ext cx="438912" cy="43891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3212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532120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monitoring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1131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/home/claude/aideck/icons/ca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3465576"/>
            <a:ext cx="438912" cy="43891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281160" y="3154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Transportation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9281160" y="35387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54864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1323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8" name="Image 6" descr="/home/claude/aideck/icons/industr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" y="5020056"/>
            <a:ext cx="438912" cy="43891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78308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1783080" y="50932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1100" dirty="0"/>
          </a:p>
        </p:txBody>
      </p:sp>
      <p:sp>
        <p:nvSpPr>
          <p:cNvPr id="41" name="Shape 32"/>
          <p:cNvSpPr/>
          <p:nvPr/>
        </p:nvSpPr>
        <p:spPr>
          <a:xfrm>
            <a:off x="429768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2" name="Shape 33"/>
          <p:cNvSpPr/>
          <p:nvPr/>
        </p:nvSpPr>
        <p:spPr>
          <a:xfrm>
            <a:off x="446227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3" name="Image 7" descr="/home/claude/aideck/icons/fil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5020056"/>
            <a:ext cx="438912" cy="43891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53212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5532120" y="50932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recommendation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804672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21131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8" name="Image 8" descr="/home/claude/aideck/icons/c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6" y="5020056"/>
            <a:ext cx="438912" cy="43891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9281160" y="4709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</a:t>
            </a:r>
            <a:endParaRPr lang="en-US" sz="1350" dirty="0"/>
          </a:p>
        </p:txBody>
      </p:sp>
      <p:sp>
        <p:nvSpPr>
          <p:cNvPr id="50" name="Text 39"/>
          <p:cNvSpPr/>
          <p:nvPr/>
        </p:nvSpPr>
        <p:spPr>
          <a:xfrm>
            <a:off x="9281160" y="50932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assistance</a:t>
            </a:r>
            <a:endParaRPr lang="en-US" sz="1100" dirty="0"/>
          </a:p>
        </p:txBody>
      </p:sp>
      <p:sp>
        <p:nvSpPr>
          <p:cNvPr id="51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BSCS STUDENTS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Computer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/home/claude/ai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Cybersecurity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78308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&amp; anomaly detection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aideck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1911096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Software Engineering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53212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&amp; review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11312" y="167335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/home/claude/aideck/icons/networkwi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911096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81160" y="1600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Networks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9281160" y="205740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anomaly prediction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323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aidec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976" y="3465576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8308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Databases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78308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optimization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6227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/home/claude/aideck/icons/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3465576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53212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Cloud Computing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553212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&amp; resource mgmt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11312" y="322783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/home/claude/aideck/icons/microchi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49056" y="3465576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81160" y="31546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IoT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9281160" y="361188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sensor decision-making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1323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6" name="Image 6" descr="/home/claude/aideck/icons/userfriend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" y="5020056"/>
            <a:ext cx="438912" cy="4389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78308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HCI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783080" y="5166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user interfaces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9768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6227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7" descr="/home/claude/aideck/icons/co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00016" y="5020056"/>
            <a:ext cx="438912" cy="43891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53212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Robotics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5532120" y="5166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control systems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46720" y="45262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211312" y="4782312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6" name="Image 8" descr="/home/claude/aideck/icons/chartli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49056" y="5020056"/>
            <a:ext cx="438912" cy="43891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9281160" y="47091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Data Science</a:t>
            </a:r>
            <a:endParaRPr lang="en-US" sz="1250" dirty="0"/>
          </a:p>
        </p:txBody>
      </p:sp>
      <p:sp>
        <p:nvSpPr>
          <p:cNvPr id="48" name="Text 37"/>
          <p:cNvSpPr/>
          <p:nvPr/>
        </p:nvSpPr>
        <p:spPr>
          <a:xfrm>
            <a:off x="9281160" y="516636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AI Ecosystem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0" y="1417320"/>
            <a:ext cx="5212080" cy="475488"/>
          </a:xfrm>
          <a:prstGeom prst="roundRect">
            <a:avLst>
              <a:gd name="adj" fmla="val 1346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417320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38728" y="1975104"/>
            <a:ext cx="5084064" cy="475488"/>
          </a:xfrm>
          <a:prstGeom prst="roundRect">
            <a:avLst>
              <a:gd name="adj" fmla="val 13462"/>
            </a:avLst>
          </a:prstGeom>
          <a:solidFill>
            <a:srgbClr val="343E74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975104"/>
            <a:ext cx="508406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02736" y="2532888"/>
            <a:ext cx="4956048" cy="475488"/>
          </a:xfrm>
          <a:prstGeom prst="roundRect">
            <a:avLst>
              <a:gd name="adj" fmla="val 13462"/>
            </a:avLst>
          </a:prstGeom>
          <a:solidFill>
            <a:srgbClr val="495488"/>
          </a:solidFill>
          <a:ln/>
        </p:spPr>
      </p:sp>
      <p:sp>
        <p:nvSpPr>
          <p:cNvPr id="9" name="Text 7"/>
          <p:cNvSpPr/>
          <p:nvPr/>
        </p:nvSpPr>
        <p:spPr>
          <a:xfrm>
            <a:off x="3602736" y="2532888"/>
            <a:ext cx="4956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666744" y="3090672"/>
            <a:ext cx="4828032" cy="475488"/>
          </a:xfrm>
          <a:prstGeom prst="roundRect">
            <a:avLst>
              <a:gd name="adj" fmla="val 13462"/>
            </a:avLst>
          </a:prstGeom>
          <a:solidFill>
            <a:srgbClr val="5F6B9B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3090672"/>
            <a:ext cx="4828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730752" y="3648456"/>
            <a:ext cx="4700016" cy="475488"/>
          </a:xfrm>
          <a:prstGeom prst="roundRect">
            <a:avLst>
              <a:gd name="adj" fmla="val 13462"/>
            </a:avLst>
          </a:prstGeom>
          <a:solidFill>
            <a:srgbClr val="7482AF"/>
          </a:solidFill>
          <a:ln/>
        </p:spPr>
      </p:sp>
      <p:sp>
        <p:nvSpPr>
          <p:cNvPr id="13" name="Text 11"/>
          <p:cNvSpPr/>
          <p:nvPr/>
        </p:nvSpPr>
        <p:spPr>
          <a:xfrm>
            <a:off x="3730752" y="3648456"/>
            <a:ext cx="47000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/ Vision Models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794760" y="4206240"/>
            <a:ext cx="4572000" cy="475488"/>
          </a:xfrm>
          <a:prstGeom prst="roundRect">
            <a:avLst>
              <a:gd name="adj" fmla="val 13462"/>
            </a:avLst>
          </a:prstGeom>
          <a:solidFill>
            <a:srgbClr val="8A98C2"/>
          </a:solidFill>
          <a:ln/>
        </p:spPr>
      </p:sp>
      <p:sp>
        <p:nvSpPr>
          <p:cNvPr id="15" name="Text 13"/>
          <p:cNvSpPr/>
          <p:nvPr/>
        </p:nvSpPr>
        <p:spPr>
          <a:xfrm>
            <a:off x="3794760" y="42062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858768" y="4764024"/>
            <a:ext cx="4443984" cy="475488"/>
          </a:xfrm>
          <a:prstGeom prst="roundRect">
            <a:avLst>
              <a:gd name="adj" fmla="val 13462"/>
            </a:avLst>
          </a:prstGeom>
          <a:solidFill>
            <a:srgbClr val="9FAFD5"/>
          </a:solidFill>
          <a:ln/>
        </p:spPr>
      </p:sp>
      <p:sp>
        <p:nvSpPr>
          <p:cNvPr id="17" name="Text 15"/>
          <p:cNvSpPr/>
          <p:nvPr/>
        </p:nvSpPr>
        <p:spPr>
          <a:xfrm>
            <a:off x="3858768" y="4764024"/>
            <a:ext cx="4443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922776" y="5321808"/>
            <a:ext cx="4315968" cy="475488"/>
          </a:xfrm>
          <a:prstGeom prst="roundRect">
            <a:avLst>
              <a:gd name="adj" fmla="val 13462"/>
            </a:avLst>
          </a:prstGeom>
          <a:solidFill>
            <a:srgbClr val="B5C5E9"/>
          </a:solidFill>
          <a:ln/>
        </p:spPr>
      </p:sp>
      <p:sp>
        <p:nvSpPr>
          <p:cNvPr id="19" name="Text 17"/>
          <p:cNvSpPr/>
          <p:nvPr/>
        </p:nvSpPr>
        <p:spPr>
          <a:xfrm>
            <a:off x="3922776" y="5321808"/>
            <a:ext cx="4315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986784" y="5879592"/>
            <a:ext cx="4187952" cy="475488"/>
          </a:xfrm>
          <a:prstGeom prst="roundRect">
            <a:avLst>
              <a:gd name="adj" fmla="val 13462"/>
            </a:avLst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3986784" y="5879592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Applications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52560" y="1463040"/>
            <a:ext cx="2606040" cy="4709160"/>
          </a:xfrm>
          <a:prstGeom prst="roundRect">
            <a:avLst>
              <a:gd name="adj" fmla="val 2807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81160" y="1691640"/>
            <a:ext cx="2148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will meet these technologies throughout the BS degree and in industry roles.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81160" y="448056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just the map.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 courses: the depth.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Skills for the Future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Computer Science Student Learn?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87752" y="1924812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8" name="Shape 6"/>
          <p:cNvSpPr/>
          <p:nvPr/>
        </p:nvSpPr>
        <p:spPr>
          <a:xfrm>
            <a:off x="2724912" y="1600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18304" y="1924812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1" name="Shape 9"/>
          <p:cNvSpPr/>
          <p:nvPr/>
        </p:nvSpPr>
        <p:spPr>
          <a:xfrm>
            <a:off x="4855464" y="1600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5464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48856" y="1924812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4" name="Shape 12"/>
          <p:cNvSpPr/>
          <p:nvPr/>
        </p:nvSpPr>
        <p:spPr>
          <a:xfrm>
            <a:off x="6986016" y="1600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86016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9408" y="1924812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16568" y="160020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160020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4360" y="272491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249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AI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587752" y="3049524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724912" y="272491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27249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18304" y="3049524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5" name="Shape 23"/>
          <p:cNvSpPr/>
          <p:nvPr/>
        </p:nvSpPr>
        <p:spPr>
          <a:xfrm>
            <a:off x="4855464" y="272491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27249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48856" y="3049524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6016" y="272491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3F6FC"/>
          </a:solidFill>
          <a:ln w="12700">
            <a:solidFill>
              <a:srgbClr val="D8E1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6016" y="27249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979408" y="3049524"/>
            <a:ext cx="118872" cy="219456"/>
          </a:xfrm>
          <a:prstGeom prst="rightArrow">
            <a:avLst/>
          </a:prstGeom>
          <a:solidFill>
            <a:srgbClr val="FF6B4A"/>
          </a:solidFill>
          <a:ln/>
        </p:spPr>
      </p:sp>
      <p:sp>
        <p:nvSpPr>
          <p:cNvPr id="31" name="Shape 29"/>
          <p:cNvSpPr/>
          <p:nvPr/>
        </p:nvSpPr>
        <p:spPr>
          <a:xfrm>
            <a:off x="9116568" y="2724912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6B4A"/>
          </a:solidFill>
          <a:ln/>
        </p:spPr>
      </p:sp>
      <p:sp>
        <p:nvSpPr>
          <p:cNvPr id="32" name="Text 30"/>
          <p:cNvSpPr/>
          <p:nvPr/>
        </p:nvSpPr>
        <p:spPr>
          <a:xfrm>
            <a:off x="9116568" y="2724912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9436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skills you'll build hands-on experience with: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4360" y="4617720"/>
            <a:ext cx="83210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4617720"/>
            <a:ext cx="832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563624" y="461772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563624" y="46177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/ GitHub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108960" y="4617720"/>
            <a:ext cx="54406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3108960" y="4617720"/>
            <a:ext cx="5440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790188" y="4617720"/>
            <a:ext cx="236829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3790188" y="4617720"/>
            <a:ext cx="2368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/ Scikit-learn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95644" y="461772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295644" y="46177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840980" y="4617720"/>
            <a:ext cx="102412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5" name="Text 43"/>
          <p:cNvSpPr/>
          <p:nvPr/>
        </p:nvSpPr>
        <p:spPr>
          <a:xfrm>
            <a:off x="7840980" y="4617720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9002268" y="4617720"/>
            <a:ext cx="11201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/>
          <p:nvPr/>
        </p:nvSpPr>
        <p:spPr>
          <a:xfrm>
            <a:off x="9002268" y="4617720"/>
            <a:ext cx="11201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94360" y="5093208"/>
            <a:ext cx="150418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5093208"/>
            <a:ext cx="15041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235708" y="5093208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/>
          <p:nvPr/>
        </p:nvSpPr>
        <p:spPr>
          <a:xfrm>
            <a:off x="2235708" y="509320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9436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35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learning roadmap for your whole degree — not something to master all at once.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ACTIVITY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Design an AI Solution?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71432" y="384048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FF6B4A"/>
          </a:solidFill>
          <a:ln/>
        </p:spPr>
      </p:sp>
      <p:sp>
        <p:nvSpPr>
          <p:cNvPr id="5" name="Text 3"/>
          <p:cNvSpPr/>
          <p:nvPr/>
        </p:nvSpPr>
        <p:spPr>
          <a:xfrm>
            <a:off x="9171432" y="38404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7335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0" descr="/home/claude/ai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516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581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5448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fake news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297680" y="141732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462272" y="167335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/home/claude/aideck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580" y="185166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581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30352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cyber attacks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046720" y="141732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11312" y="167335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2" descr="/home/claude/aideck/icons/grad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185166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52560" y="15819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3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05256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student performance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48640" y="2743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13232" y="299923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3" descr="/home/claude/aideck/icons/seed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17754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5448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55448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plant diseases</a:t>
            </a:r>
            <a:endParaRPr lang="en-US" sz="1350" dirty="0"/>
          </a:p>
        </p:txBody>
      </p:sp>
      <p:sp>
        <p:nvSpPr>
          <p:cNvPr id="26" name="Shape 20"/>
          <p:cNvSpPr/>
          <p:nvPr/>
        </p:nvSpPr>
        <p:spPr>
          <a:xfrm>
            <a:off x="4297680" y="2743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462272" y="299923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4" descr="/home/claude/aideck/icons/commentdo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580" y="317754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30352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5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530352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university chatbot</a:t>
            </a:r>
            <a:endParaRPr lang="en-US" sz="1350" dirty="0"/>
          </a:p>
        </p:txBody>
      </p:sp>
      <p:sp>
        <p:nvSpPr>
          <p:cNvPr id="31" name="Shape 24"/>
          <p:cNvSpPr/>
          <p:nvPr/>
        </p:nvSpPr>
        <p:spPr>
          <a:xfrm>
            <a:off x="8046720" y="2743200"/>
            <a:ext cx="3611880" cy="1188720"/>
          </a:xfrm>
          <a:prstGeom prst="roundRect">
            <a:avLst>
              <a:gd name="adj" fmla="val 6154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211312" y="2999232"/>
            <a:ext cx="685800" cy="6858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5" descr="/home/claude/aideck/icons/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9620" y="3177540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052560" y="29077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6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90525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road accidents</a:t>
            </a:r>
            <a:endParaRPr lang="en-US" sz="1350" dirty="0"/>
          </a:p>
        </p:txBody>
      </p:sp>
      <p:sp>
        <p:nvSpPr>
          <p:cNvPr id="36" name="Shape 28"/>
          <p:cNvSpPr/>
          <p:nvPr/>
        </p:nvSpPr>
        <p:spPr>
          <a:xfrm>
            <a:off x="548640" y="4160520"/>
            <a:ext cx="11091672" cy="2148840"/>
          </a:xfrm>
          <a:prstGeom prst="roundRect">
            <a:avLst>
              <a:gd name="adj" fmla="val 3404"/>
            </a:avLst>
          </a:prstGeom>
          <a:solidFill>
            <a:srgbClr val="16204F"/>
          </a:solidFill>
          <a:ln/>
        </p:spPr>
      </p:sp>
      <p:sp>
        <p:nvSpPr>
          <p:cNvPr id="37" name="Text 29"/>
          <p:cNvSpPr/>
          <p:nvPr/>
        </p:nvSpPr>
        <p:spPr>
          <a:xfrm>
            <a:off x="8229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answers:</a:t>
            </a:r>
            <a:endParaRPr lang="en-US" sz="1350" dirty="0"/>
          </a:p>
        </p:txBody>
      </p:sp>
      <p:sp>
        <p:nvSpPr>
          <p:cNvPr id="38" name="Text 30"/>
          <p:cNvSpPr/>
          <p:nvPr/>
        </p:nvSpPr>
        <p:spPr>
          <a:xfrm>
            <a:off x="822960" y="464515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is the problem?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822960" y="495604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data might be needed?</a:t>
            </a:r>
            <a:endParaRPr lang="en-US" sz="1250" dirty="0"/>
          </a:p>
        </p:txBody>
      </p:sp>
      <p:sp>
        <p:nvSpPr>
          <p:cNvPr id="40" name="Text 32"/>
          <p:cNvSpPr/>
          <p:nvPr/>
        </p:nvSpPr>
        <p:spPr>
          <a:xfrm>
            <a:off x="822960" y="5266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AI capability is required?</a:t>
            </a:r>
            <a:endParaRPr lang="en-US" sz="1250" dirty="0"/>
          </a:p>
        </p:txBody>
      </p:sp>
      <p:sp>
        <p:nvSpPr>
          <p:cNvPr id="41" name="Text 33"/>
          <p:cNvSpPr/>
          <p:nvPr/>
        </p:nvSpPr>
        <p:spPr>
          <a:xfrm>
            <a:off x="822960" y="55778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Which AI branch could solve it?</a:t>
            </a:r>
            <a:endParaRPr lang="en-US" sz="1250" dirty="0"/>
          </a:p>
        </p:txBody>
      </p:sp>
      <p:sp>
        <p:nvSpPr>
          <p:cNvPr id="42" name="Text 34"/>
          <p:cNvSpPr/>
          <p:nvPr/>
        </p:nvSpPr>
        <p:spPr>
          <a:xfrm>
            <a:off x="822960" y="58887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What could be the benefit?</a:t>
            </a:r>
            <a:endParaRPr lang="en-US" sz="1250" dirty="0"/>
          </a:p>
        </p:txBody>
      </p:sp>
      <p:sp>
        <p:nvSpPr>
          <p:cNvPr id="43" name="Text 35"/>
          <p:cNvSpPr/>
          <p:nvPr/>
        </p:nvSpPr>
        <p:spPr>
          <a:xfrm>
            <a:off x="8778240" y="45720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5–7 minutes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discuss</a:t>
            </a:r>
            <a:endParaRPr lang="en-US" sz="1600" dirty="0"/>
          </a:p>
        </p:txBody>
      </p:sp>
      <p:sp>
        <p:nvSpPr>
          <p:cNvPr id="44" name="Text 36"/>
          <p:cNvSpPr/>
          <p:nvPr/>
        </p:nvSpPr>
        <p:spPr>
          <a:xfrm>
            <a:off x="8778240" y="5440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sec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group to present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5029200" cy="5029200"/>
          </a:xfrm>
          <a:prstGeom prst="ellipse">
            <a:avLst/>
          </a:prstGeom>
          <a:solidFill>
            <a:srgbClr val="1620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AI User to AI Problem Solver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78608" y="1833372"/>
            <a:ext cx="18288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278892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73168" y="1833372"/>
            <a:ext cx="18288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498348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67728" y="1833372"/>
            <a:ext cx="18288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7804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16204F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62288" y="1833372"/>
            <a:ext cx="182880" cy="219456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7" name="Shape 15"/>
          <p:cNvSpPr/>
          <p:nvPr/>
        </p:nvSpPr>
        <p:spPr>
          <a:xfrm>
            <a:off x="9372600" y="1508760"/>
            <a:ext cx="1965960" cy="868680"/>
          </a:xfrm>
          <a:prstGeom prst="roundRect">
            <a:avLst>
              <a:gd name="adj" fmla="val 8421"/>
            </a:avLst>
          </a:prstGeom>
          <a:solidFill>
            <a:srgbClr val="FF6B4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1508760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94360" y="283464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16204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971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 is not just about ChatGPT or robots."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8680" y="34290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"AI is a way of building computational systems that can learn, reason, perceive, generate, and make decisions."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" y="4434840"/>
            <a:ext cx="10881360" cy="1097280"/>
          </a:xfrm>
          <a:prstGeom prst="roundRect">
            <a:avLst>
              <a:gd name="adj" fmla="val 6667"/>
            </a:avLst>
          </a:prstGeom>
          <a:solidFill>
            <a:srgbClr val="FF6B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434840"/>
            <a:ext cx="1033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real-world problem would YOU like to solve using AI?"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94360" y="580644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AI journey starts today.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Lecture 01: Introduction to Artificial Intelligence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5594</Words>
  <Application>Microsoft Macintosh PowerPoint</Application>
  <PresentationFormat>Widescreen</PresentationFormat>
  <Paragraphs>529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Huzaifah</cp:lastModifiedBy>
  <cp:revision>2</cp:revision>
  <dcterms:created xsi:type="dcterms:W3CDTF">2026-09-02T10:18:30Z</dcterms:created>
  <dcterms:modified xsi:type="dcterms:W3CDTF">2026-09-10T04:11:34Z</dcterms:modified>
</cp:coreProperties>
</file>
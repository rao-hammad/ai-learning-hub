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2"/>
    <p:restoredTop sz="94610"/>
  </p:normalViewPr>
  <p:slideViewPr>
    <p:cSldViewPr snapToGrid="0" snapToObjects="1">
      <p:cViewPr varScale="1">
        <p:scale>
          <a:sx n="90" d="100"/>
          <a:sy n="90" d="100"/>
        </p:scale>
        <p:origin x="248"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95533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students. This lecture builds the conceptual foundation for the entire AI course: everything from search algorithms to machine learning agents is, underneath, an instance of the agent framework introduced today. State the roadmap: we will define what an agent is, what makes an agent rational, how to formally specify an agent's task with PEAS, the five major agent designs, and the six dimensions used to classify any task environment. Emphasize that by the end of this lecture, students should be able to look at ANY real AI system — a phone assistant, a vacuum robot, a self-driving car — and systematically describe it using this vocabulary. The diagram on this slide (Environment on the left, Agent on the right, percepts flowing one way and actions flowing the other) is the single mental picture the whole lecture hangs on; point at it explicitly.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Motivate the whole lecture: AI is not just 'clever algorithms' in the abstract — it is algorithms embedded in something that perceives and acts. Walk through the perceive-decide-act pattern with two or three of the listed systems out loud (e.g. a recommendation system perceives your click history, decides what you're likely to want, and acts by showing you a ranked list). Emphasize the self-driving car example on the bottom left in detail, since it will recur throughout the lecture as the running example. Classroom question: 'Can you think of an everyday device that does NOT fit this perceive-decide-act pattern?' (Expected answer: genuinely 'dumb' devices with no sensing at all, like a manual light switch, do not — this previews the idea that not everything is usefully modeled as an agent.) Transition: 'To study these systems rigorously, AI gives this pattern a name: the intelligent agent.'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through the eight objectives briskly — this slide sets expectations rather than teaching content. These are written as measurable outcomes (define, explain, distinguish, describe, identify, classify, analyze, select) rather than vague topics, which models good learning-outcome writing for students who will later write their own project reports. Mention that objective 8 (select an appropriate agent type) is the practical payoff: by the end of the lecture, given a new problem description, students should be able to argue for a specific agent design rather than just naming all five types. Transition: 'Let's start with the most basic question: what exactly do we mean by an agent?'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foundational definition of the whole lecture — write it on the board verbatim. Walk through the 5-box diagram slowly: the environment produces something the agent can sense (sensors), the agent processes that and chooses a response, and that response changes the environment again through actuators — hence the diagram ends back at 'Environment' to show this is a continuous loop, not a one-shot computation. Use the two examples to make 'sensors' and 'actuators' concrete rather than abstract: humans sense with eyes/ears/skin and act with hands/legs/speech; a self-driving car senses with cameras/LiDAR/radar/GPS and acts through steering/brakes/accelerator. Classroom question: 'Is a thermostat an agent?' Expected answer: yes — its sensor is a temperature probe, its actuator is a heating/cooling switch, even though it is an extremely simple one. Common misconception to correct: students often think 'agent' means 'a piece of software' — emphasize that hardware robots, purely mechanical devices, and even biological organisms all fit this definition; 'agent' is a functional role, not a technology.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this is a CYCLE, not a single pass — the diagram's final 'Action' box feeds back into a changed environment, which produces a brand-new percept, restarting the loop. This is why the percept SEQUENCE (not just the current percept) is the theoretically important object: at time t, an agent's decision can in principle depend on everything it has ever perceived, not only on what it senses right now. Use the autonomous vehicle example to make the frequency concrete — this loop can run many times per second in a real system. Classroom question: 'Does a simple light switch have a percept sequence?' Expected answer: essentially no meaningful one — a manual switch does not sense anything, so there is no percept at all, which is exactly why we would not usually call it an agent. Transition: 'Let's look more carefully at what a percept sequence actually is, and why remembering the past can matter.'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distinction sharply: a percept is a single frame; a percept sequence is the whole movie up to now. Many students initially assume an agent's decision can only ever depend on 'what it sees right now' — the vacuum example refutes this directly: after sensing 'wall detected,' a vacuum that remembers 'dirty floor' from percept 2 can decide to clean along the wall rather than immediately turning away. Ask: 'Could two DIFFERENT percept sequences ever justify the same action?' (Yes — e.g., a vacuum might turn left whether it just bumped a wall or is simply following a pre-planned sweep pattern.) Plant a forward reference explicitly: simple reflex agents (coming up in Section E) look ONLY at the current percept and ignore the rest of the sequence — this slide is what makes their limitation intelligible when we get there.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distinction trips students up, so be precise: the agent FUNCTION is a mathematical, external description — in principle an infinite table mapping every possible percept sequence to an action — while the agent PROGRAM is the finite, concrete implementation that some real machine actually runs. Multiple different programs can implement the very same function (e.g. a lookup table versus a compact rule); the function is what we use for analysis and specification, the program is what we build and run. Use the thermostat example to keep this concrete: the function is the abstract rule, the program is the literal circuit/firmware. Classroom question: 'Could two different agent PROGRAMS implement the exact same agent FUNCTION?' Expected answer: yes — e.g. a giant lookup table versus a short piece of logic can compute identical outputs for every input, illustrating that the function is about WHAT, the program is about HOW.</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heads off a common overreach: students often want a crisp yes/no test for 'is this thing intelligent?' Push back gently — these seven traits form a spectrum, and different agents legitimately combine different subsets. A thermostat perceives and responds (a little perception, a little responsiveness) but has no learning, no goal search, essentially no autonomy beyond its wiring. An autonomous vehicle exhibits nearly all seven. Both are still agents by our formal definition from slide 4. Classroom question: 'Is a calculator an intelligent agent?' Expected discussion: a calculator senses keypresses and acts by displaying results, so it weakly fits the agent definition, but it has essentially none of these seven characteristics beyond a trivial input-output mapping — most instructors would call it a degenerate or uninteresting agent rather than an 'intelligent' one, which is exactly why the next section introduces RATIONALITY as a sharper, more useful bar than the vague word 'intelligent.'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definition replaces the vague word 'intelligent' with something we can actually evaluate: rationality is defined relative to (1) a performance measure, (2) the percept sequence received so far, and (3) whatever the agent already knows — we unpack all three in detail next slide. Spend real time on the three contrast lines: rational does not mean the outcome will be good (bad luck can still produce a bad outcome from a rational choice), does not mean the agent knows everything (it only acts on what it has perceived), and does not mean flawless in some abstract sense. Classroom question: 'If a rational self-driving car brakes for what looks like a pedestrian, but it turns out to be a mannequin, was the decision still rational?' Expected answer: yes — given the information available at that moment, braking was the right call; rationality is judged at the time of the decision, not by the outcome after the fact. This directly previews the next slide's omniscience distinction.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formalizes the previous slide's definition into something usable for analysis. Go through the four factors and, for EACH one, ask students to imagine changing it and observe that the 'rational' action changes too — this is the key insight: rationality is always RELATIVE to these four things, never absolute. For instance, change the performance measure from 'minimize travel time' to 'minimize fuel use' and the very same percept sequence can yield a different rational action (e.g. accelerate hard vs. coast). Classroom question: 'Two self-driving cars see the exact same pedestrian at the exact same distance. Could different rational actions still be correct for each?' Expected answer: yes, if their prior knowledge, available actions (e.g. one has better brakes), or performance measures differ. Transition: 'One of these four factors deserves special attention, because it is so easy to confuse rationality with something it is not: knowing the future.'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Omniscience is a useful FOIL, not a real design option — no real agent can know the actual future, so demanding omniscience as the bar for 'good' AI is a category error. Make the obstacle example vivid: braking for a shape that MIGHT be a child is rational even in the (fortunate) case that it turns out to be a plastic bag — the alternative, only braking for CONFIRMED obstacles, would be far more dangerous on average even though it looks 'smarter' in this one lucky instance. Classroom question: 'Could a rational agent ever make what turns out, in hindsight, to be the wrong choice?' Expected answer: absolutely yes — rationality is evaluated against EXPECTED performance given available information, not against the one particular outcome that happened to occur. Common misconception to correct explicitly: 'the AI made a mistake' is often used loosely by the media to mean 'a bad outcome occurred,' but a rational agent that is unlucky did not necessarily make a mistake in the technical sense.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performance measure is the single most consequential design decision in building any agent — get it wrong and even a technically flawless agent will behave badly. Walk through the three columns and note that real systems usually optimize a WEIGHTED COMBINATION of several measures at once, not just one (e.g. a self-driving car cannot maximize safety alone by simply never moving). Classroom question: 'A recommendation system that optimizes ONLY for engagement (time spent watching) might learn to recommend increasingly extreme content. What went wrong?' Expected answer: the performance measure was too narrow — it captured one desirable thing (engagement) while ignoring others that matter (user wellbeing, long-term satisfaction, accuracy of information) — a textbook example of a misspecified performance measure producing rational-but-harmful behavior. This is a foundational lesson for later AI-safety and AI-ethics discussions.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 genuine 2-3 minute classroom discussion — do not reveal a single 'correct' answer immediately. Suggested answer to guide discussion: the rational action is almost certainly to WAIT or slow down until the pedestrian and crossing are clear, even at some cost to the deadline, because most reasonable performance measures weigh safety far more heavily than punctuality; whether to then reroute toward a charging point depends on how low the battery actually is and how far the remaining delivery is. The pedagogical point is not the specific answer but the METHOD: a rational decision here can only be justified by explicitly naming the performance measure, the current percepts, the available actions, and prior knowledge — exactly the four factors from slide 10. Push students who jump to an answer to justify it using these four terms explicitly. Common misconception to correct: 'the robot should just always prioritize the deadline since that is its job' — remind students that safety is normally part of the performance measure too, usually weighted far more heavily, unless the scenario states otherwise. Transition: 'To describe an agent's task environment this precisely and systematically every time, AI uses a standard framework: PEAS.'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PEAS is the standard vocabulary AI uses to describe ANY task environment precisely, from a thermostat to a self-driving car. Stress that PEAS is a DESCRIPTIVE specification tool, not an algorithm and not a design choice — you use it to characterize an existing or planned agent's task, not to compute anything. Walk through the four letters at a high level here; each of the next four slides takes one letter and goes deep with concrete real-world examples, then slide 19 assembles all four into one complete worked table. Classroom question: 'Why might two engineers building the same product argue less if they first agree on a PEAS description together?' Expected answer: PEAS forces explicit, upfront agreement on what counts as success (P), what the system must handle (E), what it can actually do (A), and what information it has access to (S) — removing a large source of hidden disagreement before any code is written. Common misconception to head off: PEAS is not itself an algorithm or a piece of software; it is purely a specification framework. Transition: 'Let's look at each of the four letters individually, starting with Performance Measure.'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repeats the term 'performance measure' deliberately — it was introduced in Section C for rational agents, and here it becomes the 'P' of PEAS; make that link explicit so students see PEAS as a structured way of packaging concepts they already know. Note that the same system (a taxi) can have MULTIPLE performance criteria simultaneously, and that real designs usually weight them rather than treating them as a simple checklist. Classroom question: 'Could two different taxi companies reasonably choose different performance measures for what looks like the same product?' Expected answer: yes — one company might weight speed more heavily, another might weight passenger comfort or fuel economy more heavily, and both agents could be rational under their own (different) performance measures. Common misconception: students sometimes think there is one 'objectively correct' performance measure for a task — correct this by noting that choosing it is a human design decision with real consequences. Transition: 'Next, the E in PEAS — the Environment the agent operates in.'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chess-vs-car contrast to preview Section F (environment properties): chess is a small, fully observable, deterministic, discrete environment, while driving is a large, partially observable, stochastic, continuous one — students do not need those terms yet, but planting the contrast now makes Section F land faster later. Classroom question: 'Is the opponent part of a chess agent's environment, or is the opponent also an agent?' Expected answer: both are true at once — the opponent is an agent from their own point of view, but from THIS agent's point of view, the opponent's moves are simply part of what the environment does; this is the seed of the single-agent vs multi-agent distinction covered later. Common misconception: students may think 'environment' only means physical surroundings — clarify that for a chess program the environment is entirely abstract (a board state and a rule set), with no physical world involved at all. Transition: 'Next, the A in PEAS — the Actuators an agent uses to act.'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Actuators are the agent's only way of influencing the world — everything the agent 'decides' is meaningless until it is expressed through some actuator. Point out that the SAME decision ('turn left') is executed through completely different actuators depending on embodiment — a robot turns its wheels, a car turns its steering column, a legged robot shifts its gait — the decision layer and the actuator layer are separate concerns. Classroom question: 'Does a chess-playing program have actuators?' Expected answer: yes, even though there is nothing physical — moving a piece on a digital board (or printing a move) IS its actuator; students often assume actuators must be physical/mechanical, which is a misconception worth correcting directly here. Common misconception: confusing sensors and actuators — reinforce the simple rule 'sensors IN, actuators OUT' before moving on. Transition: 'Finally, the S in PEAS — the Sensors an agent uses to perceive.'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Sensors define the RAW INFORMATION an agent has to work with — no matter how good its reasoning is, an agent can never act on information its sensors never captured. This directly foreshadows 'partially observable' environments in Section F: sensor limitations are exactly why full observability is rare. Classroom question: 'If a self-driving car's camera fails in heavy fog, does the car's environment change, or does its ability to perceive the environment change?' Expected answer: the environment itself is unchanged — only the agent's PERCEPTION of it has degraded; this is a subtle but important distinction between the environment (E) and the sensors (S) that access it. Common misconception: students sometimes conflate 'sensor' with 'percept' — clarify that the sensor is the physical/software mechanism, while the percept (from slide 6) is the actual piece of information it delivers at one moment. Transition: 'Now let's assemble all four letters into one complete, worked PEAS example.'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payoff of slides 14-18 — the same taxi example has now been fully assembled into one table using every letter from the framework. Read the table aloud row by row and ask students to notice that no row mentions HOW the taxi makes decisions (no algorithms, no AI techniques) — PEAS only describes WHAT the task is, never how it is solved; the how (agent type) is Section E's subject. Classroom question: 'Suppose we wanted the taxi to also minimize CO2 emissions. Which row of this table would that belong to?' Expected answer: Performance Measure — it is an additional success criterion, not a new environment, actuator, or sensor. Common misconception: students sometimes try to describe HOW the agent achieves safety (e.g. 'uses object detection') inside the Environment or Sensor rows — redirect: sensors are the MECHANISM for perceiving, not the algorithm for interpreting what is perceived. Transition: 'Let's see PEAS applied quickly across several very different real-world agents.'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this slide is BREADTH — four very different systems (a household appliance, a clinical tool, a game engine, and a web service) all fit the same four-letter template, which is exactly why PEAS is useful as a general specification language. Do not go deep on any one box here; instead ask students to notice the pattern: every P is a success criterion, every E is external context, every A changes the world, every S gathers information. Classroom question: 'Which of these four agents has the smallest, most fully specified environment, and why?' Expected answer: the chess-playing agent — its environment (the board, pieces, and rules) is a closed formal system, unlike the open-ended physical or social environments of the other three. Common misconception: students sometimes think a 'recommendation agent' has no actuators because it doesn't move anything physically — correct this by pointing out that DISPLAYING a recommendation IS the action that changes the environment (the user's choices). Transition: 'Now it's your turn — let's design a PEAS description together.'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real time here — resist the urge to reveal the answer early. Suggested answer to guide discussion afterward: Performance = timely delivery, food safety/temperature, energy efficiency, safe flight, regulatory compliance; Environment = airspace, buildings, weather, wind, no-fly zones, other drones, pedestrians below; Actuators = rotors/propellers, payload release mechanism, lights, possibly a speaker for alerts; Sensors = GPS, camera, altimeter, obstacle-detection (LiDAR/ultrasonic), wind and battery sensors. While circulating, watch for two common mistakes: (1) students listing HOW the drone decides its route under Environment instead of Actuators/Sensors, and (2) students giving only one performance criterion (e.g. 'deliver fast') when real systems balance several competing ones, exactly as discussed on slide 15. Ask one or two pairs to share out loud and briefly compare answers to surface disagreement about weighting (e.g. speed vs. safety) — this is a good moment to reconnect to slide 13's delivery-robot dilemma. Transition: 'PEAS tells us WHAT an agent's task is. Next, we look at HOW an agent can be built to actually make its decisions — the different types of intelligent agents.'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sets up the whole of Section E — five architectures, each adding a capability the previous one lacked: memory, then goals, then a way to compare outcomes, then the ability to improve over time. Stress immediately, before going deep on any one type, that this is a spectrum of CAPABILITY, not a ranking of QUALITY — a simple reflex agent is often the objectively correct engineering choice. Classroom question: 'Why would a company deliberately choose a simple reflex agent when more sophisticated options exist?' Expected answer: cost, reliability, predictability, and speed — simple reflex agents are cheap to build, easy to verify, and fast to run, and many real tasks do not need memory, goals, or learning at all. Common misconception: students often assume 'newer/fancier AI is always the right tool' — explicitly push back on this here, since it recurs throughout the lecture (distinction #15 from the syllabus). Transition: 'Let's start with the simplest kind — simple reflex agents.'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diagram left to right exactly as shown: the agent looks ONLY at what it senses right now, checks a condition, and fires an action — there is no step where past percepts are consulted. Emphasize this is implemented as simple condition-action ('IF-THEN') rules, sometimes literally called reflex rules. Classroom question: 'Is a calculator an intelligent agent?' Expected answer: no — a calculator has no autonomous percept-action loop with an environment; it only computes when a human supplies input, so it does not fit the agent definition from Section B at all (contrast with a thermostat, which DOES continuously sense and act without a human in the loop). Common misconception: students may think 'simple' means 'not useful' — remind them that simple reflex agents run enormous amounts of real infrastructure precisely because they are so reliable. Transition: 'But what happens when the current percept alone is not enough to decide correctly? That is where model-based agents come in.'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concrete example to nail down exactly why 'no world model' is not a limitation here — the automatic door genuinely does not need to remember anything, because 'is someone there right now' is the entire decision. Contrast explicitly: this is different from the vacuum cleaner example coming up next, where remembering matters a great deal. Classroom question (posed on-slide): 'What should the door do if the sensor briefly fails to detect a person who is still standing there?' Expected answer: with only a simple reflex design, the door will simply close on them, since it has no memory of the prior 'person detected' percept and no way to reason that the person is probably still present — this is the direct, concrete cost of having no internal state, and motivates the next slide's model-based upgrade. Common misconception: students sometimes think adding 'more sensors' fixes this — clarify that the issue is architectural (no memory of state), not a sensor-hardware problem; better sensors reduce failures but do not add the reasoning capability that a model-based design provides. Transition: 'When percept-only rules are not enough, agents need to remember something about the world. That is a model-based reflex agent.'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new idea is INTERNAL STATE: the agent keeps some representation of the world that persists between percepts, updated as new percepts arrive, combined with knowledge of how the world tends to evolve (the 'world model'). Stress that the agent still ultimately runs condition-action rules — the difference is that the condition can now depend on remembered state, not only on the instantaneous percept. Classroom question: 'Could a model-based agent still be “fooled” by an environment that changes in ways its model does not expect?' Expected answer: yes — a world model is only an approximation, and if the real environment changes in ways the model cannot represent (e.g. furniture moved while the vacuum's map assumes it did not), the agent can still make mistakes; a model reduces but does not eliminate the effect of partial observability. Common misconception: students sometimes think 'model-based' means 'has learned a model from data' — clarify that here the model can simply be hand-designed by the programmer; nothing about this agent type requires learning (that comes later). Transition: 'Let's see this robot vacuum's model-based design compared directly against the earlier simple reflex version.'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directly pairs with slide 25's abstract diagram — the left column is the general architecture applied specifically to a vacuum; the right column contrasts it with the simple reflex version from slides 23-24 to make the practical difference vivid. Ask students to predict, before you reveal: 'Which robot finishes cleaning a room faster on average — the simple reflex or the model-based one?' Expected answer: the model-based one, typically, because it avoids re-cleaning the same spots and can plan more efficient coverage — though note this is a tendency, not a guarantee (distinction #15 again: it depends on the specific environment and rules). Common misconception: students sometimes think 'model-based' automatically means 'has a goal' — clarify that this robot's map helps it decide efficiently, but it is still driven by rules/state, not by explicit goal reasoning — that distinction is exactly what the next agent type introduces. Transition: 'Model-based agents can react well to the present, informed by the past — but what if the agent needs to reason about a desired FUTURE state? That requires goals.'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crucial new ingredient is the GOAL — a description of a desired state of the world — combined with the ability to consider several candidate action sequences and pick one that is expected to reach it. This is the first agent type in the lecture that requires something like SEARCH: exploring possible futures before acting, which is exactly the subject of the NEXT lecture in this course. Classroom question: 'Is a GPS system goal-based?' Expected answer: yes — it explicitly represents a goal (the destination) and searches/plans over alternative routes to achieve it, rather than following a single fixed rule. Common misconception: students may think 'goal-based' requires the agent to be conscious of or verbally state its goal — clarify that the goal is simply a data structure or condition the agent's planning process is organized around; no awareness is implied. Transition: 'Let's see goal-based reasoning across a few more real systems before comparing it to the next step up — utility-based agents.'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quickly across the four rows to show breadth — physical navigation, an abstract board game, warehouse logistics, and a pure puzzle all fit the same State/Goal/Actions template. Spend the remaining time on the GPS row since it is called out as the fully worked example: make explicit that 'possible actions' here really means 'possible next road segments to take,' and that a real GPS system must search over an enormous space of route combinations. Classroom question: 'For the chess AI, is “checkmate opponent” always literally achievable from any board position?' Expected answer: not necessarily — a goal describes what the agent is trying to achieve, not a guarantee that it is currently reachable; the agent still searches for the best available approach even when the ideal goal cannot be perfectly guaranteed. Transition: 'Goals tell an agent WHAT to achieve — but sometimes two different actions both achieve the same goal. How does an agent pick the better one? That requires utility.'</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conceptually important upgrade: goal-based agents only ask a YES/NO question ('does this reach the goal?'), while utility-based agents ask a matter-of-degree question ('how good is this outcome relative to the others?'). Introduce the notation lightly here if useful: choose action a maximizing Expected Utility(a) — conceptually argmax over available actions — without dwelling on the math. Classroom question: 'Why might a utility-based agent sometimes choose a LONGER route than the shortest one that reaches the goal?' Expected answer: because the utility function weighs more than distance alone — e.g. a longer but safer or less congested route may have higher overall utility despite taking more time. Common misconception: students sometimes think 'utility' just means 'usefulness' in a vague sense — clarify it is typically a specific numeric score the agent is trying to maximize, combining multiple factors into one comparable number. Transition: 'Let's see this utility trade-off worked out concretely with two competing driving routes.'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concrete payoff of slide 29's abstract point: use it to make students articulate, in their own words, that a purely goal-based agent has NO principled way to prefer Route B over Route A — both satisfy the goal equally — while a utility-based agent can. Classroom question: 'If safety were weighted very heavily in the utility function, which route wins? What if speed were weighted most heavily instead?' Expected answer: Route B wins under a safety-heavy utility function, Route A under a speed-heavy one — the SAME two options can rationally be ranked differently depending entirely on how the utility function is defined, reinforcing slide 15's point that performance measures (and utility functions) are human design choices. Common misconception: students may think there is one 'objectively best' route independent of the utility function — correct this directly. Transition: 'Utility-based agents evaluate outcomes well, but they still need to know their own performance is improving. The final and most adaptive type is the learning agent.'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classic four-component learning-agent architecture. Walk through the feedback loop explicitly: the Performance Element acts in the world exactly like any of the earlier agent types; the Critic watches the outcomes and scores them against a fixed standard (note: the standard itself is usually NOT learned — only the behavior is); the Learning Element uses that score to propose improvements to the Performance Element; the Problem Generator occasionally suggests trying something new/exploratory rather than always taking the currently-best-known action, so the agent does not get stuck never discovering better strategies. Classroom question: 'Why would an agent ever deliberately take an action it believes is NOT currently the best one?' Expected answer: exploration — without occasionally trying suboptimal-looking actions (the Problem Generator's role), the agent might never discover an even better strategy; this is the classic exploration-vs-exploitation trade-off, worth naming even briefly. Common misconception: students often assume 'learning agent' means 'deep learning' or a specific ML algorithm — clarify that this is an architectural PATTERN; the learning element could use many different techniques, most of which are out of scope for today. Transition: 'Let's see this pattern in several systems you already use.'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deliberately broad and non-technical, per the scope constraint — the goal is for students to recognize the learning-agent PATTERN (data/experience feeding a learning process that improves behavior) in systems they already interact with daily, not to understand any specific ML algorithm yet. Classroom question: 'Which component from the previous slide's architecture is a spam filter's “this message was spam” user-flag most closely acting as?' Expected answer: it functions like the Critic's feedback — an external signal telling the system how well it is currently doing, which the Learning Element then uses to adjust the Performance Element's future filtering behavior. Common misconception: students sometimes think 'learning agent' and 'AI' are synonyms — remind them that every agent type covered today (simple reflex through utility-based) is legitimately 'AI' even without any learning at all; learning is one additional capability, not a requirement for something to count as AI. Transition: 'We've now seen all five agent types individually — let's compare them side by side in one table.'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a deliberate summary checkpoint — give students a moment to silently read it before discussing, since it condenses slides 22-32 into one reference. Point out the clear PROGRESSION down the rows: each successive type keeps every capability of the ones above it and adds one more (memory, then goals, then utility, then learning) — this is why slide 22 could legitimately draw it as an increasing chain, while still being careful that 'more capabilities' does not mean 'always better,' exactly as the closing callout restates. Classroom question: 'Could a real system be, say, both goal-based AND learning at the same time?' Expected answer: yes, and this is actually the NORM in modern real-world systems — e.g. a modern autonomous vehicle combines model-based perception, goal-based route planning, utility-based trade-offs, and learned components all at once, which is exactly the integrated example coming up in the final slide of this lecture. Common misconception: students may treat these five types as mutually exclusive categories a system must pick exactly one of — correct this now, explicitly, since it is conceptual-accuracy requirement #16 from the syllabus. Transition: 'We now know WHAT an agent's task is (PEAS) and HOW it can be designed to decide (agent types). The last remaining piece is WHERE it operates — the properties of its environment.'</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map for all of Section F — six dimensions, each with two contrasting poles, and each of the next five slides takes one (slide 39 takes two at once). Tell students explicitly these are INDEPENDENT dimensions: knowing an environment is deterministic tells you nothing about whether it is static or dynamic, for example. Classroom question: 'Can you think of an environment that is fully observable but still stochastic?' Expected answer: yes — e.g. rolling a die on a table in plain view: you can see everything (fully observable) but the outcome is still random (stochastic); observability and determinism are genuinely separate axes. Common misconception: students often assume 'complex environment' is a single scale — correct this by stressing there are six SEPARATE knobs, and a given environment sets each one independently. Transition: 'Let's go through each dimension one at a time, starting with observability.'</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Observability is about the AGENT'S SENSORS, not about the environment being inherently mysterious — the same physical world can be fully observable to one agent (a human standing beside the chess board) and partially observable to another (a chess program only receiving occasional noisy state updates). Classroom question (on slide): 'Why is a self-driving car's environment partially observable?' Expected answer: sensors have blind spots, limited range, and can be degraded by weather (rain, fog, glare); other drivers' intentions and hidden pedestrians (e.g. behind a parked truck) are simply not directly observable — the car must infer or estimate rather than directly sense them. Common misconception: students sometimes think adding more cameras/sensors makes an environment 'fully observable' — clarify that many environments (poker, for instance) are partially observable BY DESIGN, since opponents' hidden cards are fundamentally inaccessible information, not just a sensor limitation. Transition: 'Observability is about what an agent can SEE. Next: does the same action always produce the same result? That is determinism.'</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Determinism is about PREDICTABILITY of the next state given the current state and action — it says nothing about how complex or hard-to-search the environment is (chess is deterministic yet enormously hard to solve). Suggested answer to the on-slide question: yes, chess's rules are deterministic — a given move from a given position always produces the same resulting position; note carefully that this is a separate question from whether the OPPONENT'S move is predictable to the agent (that is an observability/strategy issue, not a determinism issue) — a good moment to reinforce dimension independence from slide 34. Classroom follow-up: 'Is a dice game deterministic?' Expected answer: no — the outcome of a die roll is treated as stochastic, since it is not practically predictable from the information the agent has. Common misconception: students sometimes conflate 'deterministic' with 'simple' — correct this directly using the chess example. Transition: 'Next: does one decision stand alone, or does it affect decisions still to come? That is the episodic/sequential distinction.'</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two small diagrams to make the contrast visual: in the episodic case, each box is deliberately drawn with no connecting logic to the next — an image classifier labeling photo #482 does not care what it did on photo #481; in the sequential case, each move genuinely changes the position for the next move, so history matters and today's action has consequences later. Classroom question: 'Is driving episodic or sequential?' Expected answer: sequential — a decision to change lanes now affects the traffic situation and available options moments later; nearly all real-world control tasks are sequential, which is why planning and search matter so much in AI. Common misconception: students sometimes think 'episodic' means 'happens only once' — clarify it means each episode is independent of the others, even if there are millions of episodes (e.g. millions of independent spam emails to classify). Transition: 'Next: does the world wait patiently for the agent to decide, or can it change mid-thought? That is static versus dynamic.'</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practical consequence of a dynamic environment is that an agent cannot take unlimited time to deliberate — by the time it finishes 'thinking,' the world it was reasoning about may no longer exist, making a once-good plan stale or even dangerous. Contrast directly with static environments (a crossword, an offline puzzle), where the agent can take as long as it likes with zero penalty for slow deliberation. Classroom question: 'Is air traffic control static or dynamic, and what happens to an agent that decides too slowly there?' Expected answer: dynamic — aircraft keep moving regardless of how long the controller (human or automated) takes to decide, so a slow decision can become actively wrong or dangerous by the time it is executed. Common misconception: students sometimes think 'dynamic' just means 'complicated' — clarify it specifically means the environment changes DURING deliberation, which is a timing property, not a complexity property. Transition: 'Two more dimensions remain, and they fit conveniently on one slide together: discrete versus continuous, and single-agent versus multi-agent.'</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dimensions on one slide, so move briskly through each: Panel A is about the STRUCTURE of the state/action space (countable and finite vs. a continuum of real-valued possibilities); Panel B is about how many decision-makers are in the picture. Classroom question for Panel A: 'Is a self-driving car's steering angle discrete or continuous?' Expected answer: continuous — the steering angle can take any real value within its range, not a fixed finite set (contrast with, say, a simplified grid-world game with discrete moves). Classroom question for Panel B: 'Is a robot vacuum operating alone in a home single-agent or multi-agent?' Expected answer: single-agent, in the typical case — nothing else in the environment is itself pursuing goals or reacting strategically to the vacuum (a pet moving around is usually treated as environmental noise, not a strategic agent). Common misconception: students sometimes think 'multi-agent' requires the other agents to be adversarial — explicitly correct this: multi-agent settings include pure cooperation (a delivery robot team), pure competition (chess), and mixtures of both (an auction, road traffic). Transition: 'We now have all the pieces — PEAS, agent types, and environment properties. Let's put them all together on one real system.'</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closing slide is the payoff of the entire lecture — walk students through the four quadrants and make them articulate, out loud, why the autonomous vehicle needs ALL three frameworks together: PEAS alone tells us the task, agent type alone tells us the decision architecture, and environment properties alone tell us the difficulty regime — none of the three is sufficient by itself, and real engineering requires all three simultaneously. Revisit the conceptual map explicitly: this is the exact Environment→Sensors→Agent→Actuators→Environment loop from slide 4/5 in Section B, and point out how much richer our vocabulary for describing it has become since then. Walk through why the vehicle is NOT simply 'a learning agent' or simply 'a goal-based agent' — modern autonomous vehicles genuinely blend model-based perception (tracking other cars), goal-based route planning, utility-based trade-offs (speed vs. safety vs. comfort), and learned perception/control components, which is exactly conceptual-accuracy point #16 from the start of the lecture. Give students real time on the Final Classroom Challenge — ideally have 2-3 volunteers present their chosen system's PEAS, agent type, and environment properties to the class; this is the authentic assessment of whether today's learning objectives (slide 3) were met. Common misconception to watch for one last time: students may want to name a single 'correct' agent type for the vehicle — reinforce that real systems are hybrids. Closing transition: today we answered WHAT an agent's task is and HOW it can be structured to decide; the natural next question is HOW an agent actually computes a good sequence of actions toward a goal — which is precisely what search algorithms (the next lecture) provide.</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E3D"/>
        </a:solidFill>
        <a:effectLst/>
      </p:bgPr>
    </p:bg>
    <p:spTree>
      <p:nvGrpSpPr>
        <p:cNvPr id="1" name=""/>
        <p:cNvGrpSpPr/>
        <p:nvPr/>
      </p:nvGrpSpPr>
      <p:grpSpPr>
        <a:xfrm>
          <a:off x="0" y="0"/>
          <a:ext cx="0" cy="0"/>
          <a:chOff x="0" y="0"/>
          <a:chExt cx="0" cy="0"/>
        </a:xfrm>
      </p:grpSpPr>
      <p:sp>
        <p:nvSpPr>
          <p:cNvPr id="2" name="Text 0"/>
          <p:cNvSpPr/>
          <p:nvPr/>
        </p:nvSpPr>
        <p:spPr>
          <a:xfrm>
            <a:off x="502920" y="822960"/>
            <a:ext cx="10058400" cy="411480"/>
          </a:xfrm>
          <a:prstGeom prst="rect">
            <a:avLst/>
          </a:prstGeom>
          <a:noFill/>
          <a:ln/>
        </p:spPr>
        <p:txBody>
          <a:bodyPr wrap="square" rtlCol="0" anchor="ctr"/>
          <a:lstStyle/>
          <a:p>
            <a:pPr marL="0" indent="0">
              <a:buNone/>
            </a:pPr>
            <a:r>
              <a:rPr lang="en-US" sz="1500" b="1" kern="0" spc="300" dirty="0">
                <a:solidFill>
                  <a:srgbClr val="B08D57"/>
                </a:solidFill>
                <a:latin typeface="Calibri" pitchFamily="34" charset="0"/>
                <a:ea typeface="Calibri" pitchFamily="34" charset="-122"/>
                <a:cs typeface="Calibri" pitchFamily="34" charset="-120"/>
              </a:rPr>
              <a:t>ARTIFICIAL INTELLIGENCE</a:t>
            </a:r>
            <a:endParaRPr lang="en-US" sz="1500" dirty="0"/>
          </a:p>
        </p:txBody>
      </p:sp>
      <p:sp>
        <p:nvSpPr>
          <p:cNvPr id="3" name="Text 1"/>
          <p:cNvSpPr/>
          <p:nvPr/>
        </p:nvSpPr>
        <p:spPr>
          <a:xfrm>
            <a:off x="502920" y="1280160"/>
            <a:ext cx="11155680" cy="2103120"/>
          </a:xfrm>
          <a:prstGeom prst="rect">
            <a:avLst/>
          </a:prstGeom>
          <a:noFill/>
          <a:ln/>
        </p:spPr>
        <p:txBody>
          <a:bodyPr wrap="square" rtlCol="0" anchor="ctr"/>
          <a:lstStyle/>
          <a:p>
            <a:pPr marL="0" indent="0">
              <a:lnSpc>
                <a:spcPts val="4600"/>
              </a:lnSpc>
              <a:buNone/>
            </a:pPr>
            <a:r>
              <a:rPr lang="en-US" sz="4200" b="1" dirty="0">
                <a:solidFill>
                  <a:srgbClr val="FFFFFF"/>
                </a:solidFill>
                <a:latin typeface="Cambria" pitchFamily="34" charset="0"/>
                <a:ea typeface="Cambria" pitchFamily="34" charset="-122"/>
                <a:cs typeface="Cambria" pitchFamily="34" charset="-120"/>
              </a:rPr>
              <a:t>Intelligent Agents and</a:t>
            </a:r>
            <a:endParaRPr lang="en-US" sz="4200" dirty="0"/>
          </a:p>
          <a:p>
            <a:pPr marL="0" indent="0">
              <a:lnSpc>
                <a:spcPts val="4600"/>
              </a:lnSpc>
              <a:buNone/>
            </a:pPr>
            <a:r>
              <a:rPr lang="en-US" sz="4200" b="1" dirty="0">
                <a:solidFill>
                  <a:srgbClr val="FFFFFF"/>
                </a:solidFill>
                <a:latin typeface="Cambria" pitchFamily="34" charset="0"/>
                <a:ea typeface="Cambria" pitchFamily="34" charset="-122"/>
                <a:cs typeface="Cambria" pitchFamily="34" charset="-120"/>
              </a:rPr>
              <a:t>AI Environments</a:t>
            </a:r>
            <a:endParaRPr lang="en-US" sz="4200" dirty="0"/>
          </a:p>
        </p:txBody>
      </p:sp>
      <p:sp>
        <p:nvSpPr>
          <p:cNvPr id="4" name="Text 2"/>
          <p:cNvSpPr/>
          <p:nvPr/>
        </p:nvSpPr>
        <p:spPr>
          <a:xfrm>
            <a:off x="502920" y="3429000"/>
            <a:ext cx="11155680" cy="502920"/>
          </a:xfrm>
          <a:prstGeom prst="rect">
            <a:avLst/>
          </a:prstGeom>
          <a:noFill/>
          <a:ln/>
        </p:spPr>
        <p:txBody>
          <a:bodyPr wrap="square" rtlCol="0" anchor="ctr"/>
          <a:lstStyle/>
          <a:p>
            <a:pPr marL="0" indent="0">
              <a:buNone/>
            </a:pPr>
            <a:r>
              <a:rPr lang="en-US" sz="1900" i="1" dirty="0">
                <a:solidFill>
                  <a:srgbClr val="C9D3E3"/>
                </a:solidFill>
                <a:latin typeface="Cambria" pitchFamily="34" charset="0"/>
                <a:ea typeface="Cambria" pitchFamily="34" charset="-122"/>
                <a:cs typeface="Cambria" pitchFamily="34" charset="-120"/>
              </a:rPr>
              <a:t>Agents, Rationality, PEAS, Agent Types, and Environment Properties</a:t>
            </a:r>
            <a:endParaRPr lang="en-US" sz="1900" dirty="0"/>
          </a:p>
        </p:txBody>
      </p:sp>
      <p:sp>
        <p:nvSpPr>
          <p:cNvPr id="5" name="Shape 3"/>
          <p:cNvSpPr/>
          <p:nvPr/>
        </p:nvSpPr>
        <p:spPr>
          <a:xfrm>
            <a:off x="502920" y="4069080"/>
            <a:ext cx="2194560" cy="0"/>
          </a:xfrm>
          <a:prstGeom prst="line">
            <a:avLst/>
          </a:prstGeom>
          <a:noFill/>
          <a:ln w="25400">
            <a:solidFill>
              <a:srgbClr val="B08D57"/>
            </a:solidFill>
            <a:prstDash val="solid"/>
          </a:ln>
        </p:spPr>
      </p:sp>
      <p:sp>
        <p:nvSpPr>
          <p:cNvPr id="6" name="Shape 4"/>
          <p:cNvSpPr/>
          <p:nvPr/>
        </p:nvSpPr>
        <p:spPr>
          <a:xfrm>
            <a:off x="9189720" y="5559552"/>
            <a:ext cx="1005840" cy="768096"/>
          </a:xfrm>
          <a:prstGeom prst="roundRect">
            <a:avLst>
              <a:gd name="adj" fmla="val 11905"/>
            </a:avLst>
          </a:prstGeom>
          <a:solidFill>
            <a:srgbClr val="13294B"/>
          </a:solidFill>
          <a:ln w="19050">
            <a:solidFill>
              <a:srgbClr val="B08D57"/>
            </a:solidFill>
            <a:prstDash val="solid"/>
          </a:ln>
        </p:spPr>
      </p:sp>
      <p:sp>
        <p:nvSpPr>
          <p:cNvPr id="7" name="Text 5"/>
          <p:cNvSpPr/>
          <p:nvPr/>
        </p:nvSpPr>
        <p:spPr>
          <a:xfrm>
            <a:off x="9189720" y="5559552"/>
            <a:ext cx="1005840" cy="768096"/>
          </a:xfrm>
          <a:prstGeom prst="rect">
            <a:avLst/>
          </a:prstGeom>
          <a:noFill/>
          <a:ln/>
        </p:spPr>
        <p:txBody>
          <a:bodyPr wrap="square" rtlCol="0" anchor="ctr"/>
          <a:lstStyle/>
          <a:p>
            <a:pPr marL="0" indent="0" algn="ctr">
              <a:buNone/>
            </a:pPr>
            <a:r>
              <a:rPr lang="en-US" sz="1500" b="1" dirty="0">
                <a:solidFill>
                  <a:srgbClr val="B08D57"/>
                </a:solidFill>
                <a:latin typeface="Calibri" pitchFamily="34" charset="0"/>
                <a:ea typeface="Calibri" pitchFamily="34" charset="-122"/>
                <a:cs typeface="Calibri" pitchFamily="34" charset="-120"/>
              </a:rPr>
              <a:t>AGENT</a:t>
            </a:r>
            <a:endParaRPr lang="en-US" sz="1500" dirty="0"/>
          </a:p>
        </p:txBody>
      </p:sp>
      <p:sp>
        <p:nvSpPr>
          <p:cNvPr id="8" name="Shape 6"/>
          <p:cNvSpPr/>
          <p:nvPr/>
        </p:nvSpPr>
        <p:spPr>
          <a:xfrm>
            <a:off x="1280160" y="5559552"/>
            <a:ext cx="2743200" cy="768096"/>
          </a:xfrm>
          <a:prstGeom prst="roundRect">
            <a:avLst>
              <a:gd name="adj" fmla="val 11905"/>
            </a:avLst>
          </a:prstGeom>
          <a:solidFill>
            <a:srgbClr val="13294B"/>
          </a:solidFill>
          <a:ln w="12700">
            <a:solidFill>
              <a:srgbClr val="3B5578"/>
            </a:solidFill>
            <a:prstDash val="solid"/>
          </a:ln>
        </p:spPr>
      </p:sp>
      <p:sp>
        <p:nvSpPr>
          <p:cNvPr id="9" name="Text 7"/>
          <p:cNvSpPr/>
          <p:nvPr/>
        </p:nvSpPr>
        <p:spPr>
          <a:xfrm>
            <a:off x="1280160" y="5559552"/>
            <a:ext cx="2743200" cy="768096"/>
          </a:xfrm>
          <a:prstGeom prst="rect">
            <a:avLst/>
          </a:prstGeom>
          <a:noFill/>
          <a:ln/>
        </p:spPr>
        <p:txBody>
          <a:bodyPr wrap="square" rtlCol="0" anchor="ctr"/>
          <a:lstStyle/>
          <a:p>
            <a:pPr marL="0" indent="0" algn="ctr">
              <a:buNone/>
            </a:pPr>
            <a:r>
              <a:rPr lang="en-US" sz="1500" b="1" dirty="0">
                <a:solidFill>
                  <a:srgbClr val="C9D3E3"/>
                </a:solidFill>
                <a:latin typeface="Calibri" pitchFamily="34" charset="0"/>
                <a:ea typeface="Calibri" pitchFamily="34" charset="-122"/>
                <a:cs typeface="Calibri" pitchFamily="34" charset="-120"/>
              </a:rPr>
              <a:t>ENVIRONMENT</a:t>
            </a:r>
            <a:endParaRPr lang="en-US" sz="1500" dirty="0"/>
          </a:p>
        </p:txBody>
      </p:sp>
      <p:sp>
        <p:nvSpPr>
          <p:cNvPr id="10" name="Text 8"/>
          <p:cNvSpPr/>
          <p:nvPr/>
        </p:nvSpPr>
        <p:spPr>
          <a:xfrm>
            <a:off x="4160520" y="5321808"/>
            <a:ext cx="5394960" cy="320040"/>
          </a:xfrm>
          <a:prstGeom prst="rect">
            <a:avLst/>
          </a:prstGeom>
          <a:noFill/>
          <a:ln/>
        </p:spPr>
        <p:txBody>
          <a:bodyPr wrap="square" rtlCol="0" anchor="ctr"/>
          <a:lstStyle/>
          <a:p>
            <a:pPr marL="0" indent="0" algn="ctr">
              <a:buNone/>
            </a:pPr>
            <a:r>
              <a:rPr lang="en-US" sz="1300" i="1" dirty="0">
                <a:solidFill>
                  <a:srgbClr val="9FB0CC"/>
                </a:solidFill>
                <a:latin typeface="Calibri" pitchFamily="34" charset="0"/>
                <a:ea typeface="Calibri" pitchFamily="34" charset="-122"/>
                <a:cs typeface="Calibri" pitchFamily="34" charset="-120"/>
              </a:rPr>
              <a:t>percepts (sensors)  →</a:t>
            </a:r>
            <a:endParaRPr lang="en-US" sz="1300" dirty="0"/>
          </a:p>
        </p:txBody>
      </p:sp>
      <p:sp>
        <p:nvSpPr>
          <p:cNvPr id="11" name="Text 9"/>
          <p:cNvSpPr/>
          <p:nvPr/>
        </p:nvSpPr>
        <p:spPr>
          <a:xfrm>
            <a:off x="4160520" y="6236208"/>
            <a:ext cx="5394960" cy="320040"/>
          </a:xfrm>
          <a:prstGeom prst="rect">
            <a:avLst/>
          </a:prstGeom>
          <a:noFill/>
          <a:ln/>
        </p:spPr>
        <p:txBody>
          <a:bodyPr wrap="square" rtlCol="0" anchor="ctr"/>
          <a:lstStyle/>
          <a:p>
            <a:pPr marL="0" indent="0" algn="ctr">
              <a:buNone/>
            </a:pPr>
            <a:r>
              <a:rPr lang="en-US" sz="1300" i="1" dirty="0">
                <a:solidFill>
                  <a:srgbClr val="9FB0CC"/>
                </a:solidFill>
                <a:latin typeface="Calibri" pitchFamily="34" charset="0"/>
                <a:ea typeface="Calibri" pitchFamily="34" charset="-122"/>
                <a:cs typeface="Calibri" pitchFamily="34" charset="-120"/>
              </a:rPr>
              <a:t>←  actions (actuators)</a:t>
            </a:r>
            <a:endParaRPr lang="en-US" sz="1300" dirty="0"/>
          </a:p>
        </p:txBody>
      </p:sp>
      <p:sp>
        <p:nvSpPr>
          <p:cNvPr id="12" name="Text 10"/>
          <p:cNvSpPr/>
          <p:nvPr/>
        </p:nvSpPr>
        <p:spPr>
          <a:xfrm>
            <a:off x="502920" y="4297680"/>
            <a:ext cx="7772400" cy="1188720"/>
          </a:xfrm>
          <a:prstGeom prst="rect">
            <a:avLst/>
          </a:prstGeom>
          <a:noFill/>
          <a:ln/>
        </p:spPr>
        <p:txBody>
          <a:bodyPr wrap="square" rtlCol="0" anchor="ctr"/>
          <a:lstStyle/>
          <a:p>
            <a:pPr marL="0" indent="0">
              <a:lnSpc>
                <a:spcPts val="2400"/>
              </a:lnSpc>
              <a:buNone/>
            </a:pPr>
            <a:r>
              <a:rPr lang="en-US" sz="1600" b="1" dirty="0">
                <a:solidFill>
                  <a:srgbClr val="FFFFFF"/>
                </a:solidFill>
                <a:latin typeface="Calibri" pitchFamily="34" charset="0"/>
                <a:ea typeface="Calibri" pitchFamily="34" charset="-122"/>
                <a:cs typeface="Calibri" pitchFamily="34" charset="-120"/>
              </a:rPr>
              <a:t>Lecture 2</a:t>
            </a:r>
            <a:endParaRPr lang="en-US" sz="1600" dirty="0"/>
          </a:p>
          <a:p>
            <a:pPr marL="0" indent="0">
              <a:lnSpc>
                <a:spcPts val="2400"/>
              </a:lnSpc>
              <a:buNone/>
            </a:pPr>
            <a:r>
              <a:rPr lang="en-US" sz="1600" dirty="0">
                <a:solidFill>
                  <a:srgbClr val="C9D3E3"/>
                </a:solidFill>
                <a:latin typeface="Calibri" pitchFamily="34" charset="0"/>
                <a:ea typeface="Calibri" pitchFamily="34" charset="-122"/>
                <a:cs typeface="Calibri" pitchFamily="34" charset="-120"/>
              </a:rPr>
              <a:t>BS Computer Science — Artificial Intelligence</a:t>
            </a:r>
            <a:endParaRPr lang="en-US" sz="1600" dirty="0"/>
          </a:p>
          <a:p>
            <a:pPr marL="0" indent="0">
              <a:lnSpc>
                <a:spcPts val="2400"/>
              </a:lnSpc>
              <a:buNone/>
            </a:pPr>
            <a:r>
              <a:rPr lang="en-US" sz="1600" b="1" dirty="0">
                <a:solidFill>
                  <a:srgbClr val="FFFFFF"/>
                </a:solidFill>
                <a:latin typeface="Calibri" pitchFamily="34" charset="0"/>
                <a:ea typeface="Calibri" pitchFamily="34" charset="-122"/>
                <a:cs typeface="Calibri" pitchFamily="34" charset="-120"/>
              </a:rPr>
              <a:t>Dr. Ghulam Ali</a:t>
            </a:r>
            <a:endParaRPr lang="en-US" sz="1600" dirty="0"/>
          </a:p>
        </p:txBody>
      </p:sp>
      <p:sp>
        <p:nvSpPr>
          <p:cNvPr id="13" name="Text 11"/>
          <p:cNvSpPr/>
          <p:nvPr/>
        </p:nvSpPr>
        <p:spPr>
          <a:xfrm>
            <a:off x="502920" y="6446520"/>
            <a:ext cx="8229600" cy="320040"/>
          </a:xfrm>
          <a:prstGeom prst="rect">
            <a:avLst/>
          </a:prstGeom>
          <a:noFill/>
          <a:ln/>
        </p:spPr>
        <p:txBody>
          <a:bodyPr wrap="square" rtlCol="0" anchor="ctr"/>
          <a:lstStyle/>
          <a:p>
            <a:pPr marL="0" indent="0">
              <a:buNone/>
            </a:pPr>
            <a:r>
              <a:rPr lang="en-US" sz="1400" i="1" dirty="0">
                <a:solidFill>
                  <a:srgbClr val="8B96AC"/>
                </a:solidFill>
                <a:latin typeface="Calibri" pitchFamily="34" charset="0"/>
                <a:ea typeface="Calibri" pitchFamily="34" charset="-122"/>
                <a:cs typeface="Calibri" pitchFamily="34" charset="-120"/>
              </a:rPr>
              <a:t>AI — Intelligent Agents  |  Introduction</a:t>
            </a:r>
            <a:endParaRPr lang="en-US" sz="1400" dirty="0"/>
          </a:p>
        </p:txBody>
      </p:sp>
      <p:sp>
        <p:nvSpPr>
          <p:cNvPr id="14" name="Text 12"/>
          <p:cNvSpPr/>
          <p:nvPr/>
        </p:nvSpPr>
        <p:spPr>
          <a:xfrm>
            <a:off x="10500055" y="6446520"/>
            <a:ext cx="1188720" cy="320040"/>
          </a:xfrm>
          <a:prstGeom prst="rect">
            <a:avLst/>
          </a:prstGeom>
          <a:noFill/>
          <a:ln/>
        </p:spPr>
        <p:txBody>
          <a:bodyPr wrap="square" rtlCol="0" anchor="ctr"/>
          <a:lstStyle/>
          <a:p>
            <a:pPr marL="0" indent="0" algn="r">
              <a:buNone/>
            </a:pPr>
            <a:r>
              <a:rPr lang="en-US" sz="1400" dirty="0">
                <a:solidFill>
                  <a:srgbClr val="8B96AC"/>
                </a:solidFill>
                <a:latin typeface="Calibri" pitchFamily="34" charset="0"/>
                <a:ea typeface="Calibri" pitchFamily="34" charset="-122"/>
                <a:cs typeface="Calibri" pitchFamily="34" charset="-120"/>
              </a:rPr>
              <a:t>1 / 40</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85855" cy="347472"/>
          </a:xfrm>
          <a:prstGeom prst="rect">
            <a:avLst/>
          </a:prstGeom>
          <a:noFill/>
          <a:ln/>
        </p:spPr>
        <p:txBody>
          <a:bodyPr wrap="square" rtlCol="0" anchor="ctr"/>
          <a:lstStyle/>
          <a:p>
            <a:pPr marL="0" indent="0">
              <a:buNone/>
            </a:pPr>
            <a:r>
              <a:rPr lang="en-US" sz="1500" b="1" kern="0" spc="150" dirty="0">
                <a:solidFill>
                  <a:srgbClr val="B08D57"/>
                </a:solidFill>
                <a:latin typeface="Calibri" pitchFamily="34" charset="0"/>
                <a:ea typeface="Calibri" pitchFamily="34" charset="-122"/>
                <a:cs typeface="Calibri" pitchFamily="34" charset="-120"/>
              </a:rPr>
              <a:t>MOTIVATION</a:t>
            </a:r>
            <a:endParaRPr lang="en-US" sz="1500" dirty="0"/>
          </a:p>
        </p:txBody>
      </p:sp>
      <p:sp>
        <p:nvSpPr>
          <p:cNvPr id="3" name="Text 1"/>
          <p:cNvSpPr txBox="1"/>
          <p:nvPr/>
        </p:nvSpPr>
        <p:spPr>
          <a:xfrm>
            <a:off x="502920" y="676656"/>
            <a:ext cx="11185855" cy="1417320"/>
          </a:xfrm>
          <a:prstGeom prst="rect">
            <a:avLst/>
          </a:prstGeom>
          <a:noFill/>
          <a:ln/>
        </p:spPr>
        <p:txBody>
          <a:bodyPr wrap="square" rtlCol="0" anchor="t"/>
          <a:lstStyle/>
          <a:p>
            <a:pPr marL="0" indent="0">
              <a:lnSpc>
                <a:spcPts val="3136"/>
              </a:lnSpc>
              <a:buNone/>
            </a:pPr>
            <a:r>
              <a:rPr lang="en-US" sz="2800" b="1" dirty="0">
                <a:solidFill>
                  <a:srgbClr val="0B1E3D"/>
                </a:solidFill>
                <a:latin typeface="Cambria" pitchFamily="34" charset="0"/>
                <a:ea typeface="Cambria" pitchFamily="34" charset="-122"/>
                <a:cs typeface="Cambria" pitchFamily="34" charset="-120"/>
              </a:rPr>
              <a:t>From AI Problems to Intelligent Agents</a:t>
            </a:r>
            <a:endParaRPr lang="en-US" sz="2800" dirty="0"/>
          </a:p>
        </p:txBody>
      </p:sp>
      <p:sp>
        <p:nvSpPr>
          <p:cNvPr id="4" name="Text 2"/>
          <p:cNvSpPr/>
          <p:nvPr/>
        </p:nvSpPr>
        <p:spPr>
          <a:xfrm>
            <a:off x="502920" y="2286000"/>
            <a:ext cx="11185855" cy="1371600"/>
          </a:xfrm>
          <a:prstGeom prst="rect">
            <a:avLst/>
          </a:prstGeom>
          <a:noFill/>
          <a:ln/>
        </p:spPr>
        <p:txBody>
          <a:bodyPr wrap="square" lIns="0" tIns="0" rIns="0" bIns="0" rtlCol="0" anchor="t"/>
          <a:lstStyle/>
          <a:p>
            <a:pPr marL="228600" indent="-228600">
              <a:spcAft>
                <a:spcPts val="1000"/>
              </a:spcAft>
              <a:buSzPct val="100000"/>
              <a:buChar char="▪"/>
            </a:pPr>
            <a:r>
              <a:rPr lang="en-US" sz="2000" dirty="0">
                <a:solidFill>
                  <a:srgbClr val="1A1F2B"/>
                </a:solidFill>
                <a:latin typeface="Calibri" pitchFamily="34" charset="0"/>
                <a:ea typeface="Calibri" pitchFamily="34" charset="-122"/>
                <a:cs typeface="Calibri" pitchFamily="34" charset="-120"/>
              </a:rPr>
              <a:t>AI is ultimately about building systems that act well in the world, not just systems that compute an answer in isolation.</a:t>
            </a:r>
            <a:endParaRPr lang="en-US" sz="2000" dirty="0"/>
          </a:p>
          <a:p>
            <a:pPr marL="228600" indent="-228600">
              <a:spcAft>
                <a:spcPts val="1000"/>
              </a:spcAft>
              <a:buSzPct val="100000"/>
              <a:buChar char="▪"/>
            </a:pPr>
            <a:r>
              <a:rPr lang="en-US" sz="2000" dirty="0">
                <a:solidFill>
                  <a:srgbClr val="1A1F2B"/>
                </a:solidFill>
                <a:latin typeface="Calibri" pitchFamily="34" charset="0"/>
                <a:ea typeface="Calibri" pitchFamily="34" charset="-122"/>
                <a:cs typeface="Calibri" pitchFamily="34" charset="-120"/>
              </a:rPr>
              <a:t>Nearly every AI system — however different its internals — can be described as something that perceives, decides, and acts.</a:t>
            </a:r>
            <a:endParaRPr lang="en-US" sz="2000" dirty="0"/>
          </a:p>
        </p:txBody>
      </p:sp>
      <p:sp>
        <p:nvSpPr>
          <p:cNvPr id="5" name="Shape 3"/>
          <p:cNvSpPr/>
          <p:nvPr/>
        </p:nvSpPr>
        <p:spPr>
          <a:xfrm>
            <a:off x="502920" y="3703320"/>
            <a:ext cx="1828800" cy="868680"/>
          </a:xfrm>
          <a:prstGeom prst="roundRect">
            <a:avLst>
              <a:gd name="adj" fmla="val 8421"/>
            </a:avLst>
          </a:prstGeom>
          <a:solidFill>
            <a:srgbClr val="F3F5F8"/>
          </a:solidFill>
          <a:ln/>
        </p:spPr>
      </p:sp>
      <p:sp>
        <p:nvSpPr>
          <p:cNvPr id="6" name="Text 4"/>
          <p:cNvSpPr/>
          <p:nvPr/>
        </p:nvSpPr>
        <p:spPr>
          <a:xfrm>
            <a:off x="576072" y="3703320"/>
            <a:ext cx="1682496" cy="868680"/>
          </a:xfrm>
          <a:prstGeom prst="rect">
            <a:avLst/>
          </a:prstGeom>
          <a:noFill/>
          <a:ln/>
        </p:spPr>
        <p:txBody>
          <a:bodyPr wrap="square" rtlCol="0" anchor="ctr"/>
          <a:lstStyle/>
          <a:p>
            <a:pPr marL="0" indent="0" algn="ctr">
              <a:lnSpc>
                <a:spcPts val="2070"/>
              </a:lnSpc>
              <a:buNone/>
            </a:pPr>
            <a:r>
              <a:rPr lang="en-US" sz="1800" b="1" dirty="0">
                <a:solidFill>
                  <a:srgbClr val="0B1E3D"/>
                </a:solidFill>
                <a:latin typeface="Calibri" pitchFamily="34" charset="0"/>
                <a:ea typeface="Calibri" pitchFamily="34" charset="-122"/>
                <a:cs typeface="Calibri" pitchFamily="34" charset="-120"/>
              </a:rPr>
              <a:t>PERCEIVE</a:t>
            </a:r>
            <a:endParaRPr lang="en-US" sz="1800" dirty="0"/>
          </a:p>
        </p:txBody>
      </p:sp>
      <p:sp>
        <p:nvSpPr>
          <p:cNvPr id="7" name="Text 5"/>
          <p:cNvSpPr/>
          <p:nvPr/>
        </p:nvSpPr>
        <p:spPr>
          <a:xfrm>
            <a:off x="2331720" y="3703320"/>
            <a:ext cx="457200" cy="868680"/>
          </a:xfrm>
          <a:prstGeom prst="rect">
            <a:avLst/>
          </a:prstGeom>
          <a:noFill/>
          <a:ln/>
        </p:spPr>
        <p:txBody>
          <a:bodyPr wrap="square" rtlCol="0" anchor="ctr"/>
          <a:lstStyle/>
          <a:p>
            <a:pPr marL="0" indent="0" algn="ctr">
              <a:buNone/>
            </a:pPr>
            <a:r>
              <a:rPr lang="en-US" sz="2400" b="1" dirty="0">
                <a:solidFill>
                  <a:srgbClr val="0B1E3D"/>
                </a:solidFill>
                <a:latin typeface="Calibri" pitchFamily="34" charset="0"/>
                <a:ea typeface="Calibri" pitchFamily="34" charset="-122"/>
                <a:cs typeface="Calibri" pitchFamily="34" charset="-120"/>
              </a:rPr>
              <a:t>→</a:t>
            </a:r>
            <a:endParaRPr lang="en-US" sz="2400" dirty="0"/>
          </a:p>
        </p:txBody>
      </p:sp>
      <p:sp>
        <p:nvSpPr>
          <p:cNvPr id="8" name="Shape 6"/>
          <p:cNvSpPr/>
          <p:nvPr/>
        </p:nvSpPr>
        <p:spPr>
          <a:xfrm>
            <a:off x="2788920" y="3703320"/>
            <a:ext cx="1828800" cy="868680"/>
          </a:xfrm>
          <a:prstGeom prst="roundRect">
            <a:avLst>
              <a:gd name="adj" fmla="val 8421"/>
            </a:avLst>
          </a:prstGeom>
          <a:solidFill>
            <a:srgbClr val="F3F5F8"/>
          </a:solidFill>
          <a:ln/>
        </p:spPr>
      </p:sp>
      <p:sp>
        <p:nvSpPr>
          <p:cNvPr id="9" name="Text 7"/>
          <p:cNvSpPr/>
          <p:nvPr/>
        </p:nvSpPr>
        <p:spPr>
          <a:xfrm>
            <a:off x="2862072" y="3703320"/>
            <a:ext cx="1682496" cy="868680"/>
          </a:xfrm>
          <a:prstGeom prst="rect">
            <a:avLst/>
          </a:prstGeom>
          <a:noFill/>
          <a:ln/>
        </p:spPr>
        <p:txBody>
          <a:bodyPr wrap="square" rtlCol="0" anchor="ctr"/>
          <a:lstStyle/>
          <a:p>
            <a:pPr marL="0" indent="0" algn="ctr">
              <a:lnSpc>
                <a:spcPts val="2070"/>
              </a:lnSpc>
              <a:buNone/>
            </a:pPr>
            <a:r>
              <a:rPr lang="en-US" sz="1800" b="1" dirty="0">
                <a:solidFill>
                  <a:srgbClr val="0B1E3D"/>
                </a:solidFill>
                <a:latin typeface="Calibri" pitchFamily="34" charset="0"/>
                <a:ea typeface="Calibri" pitchFamily="34" charset="-122"/>
                <a:cs typeface="Calibri" pitchFamily="34" charset="-120"/>
              </a:rPr>
              <a:t>DECIDE</a:t>
            </a:r>
            <a:endParaRPr lang="en-US" sz="1800" dirty="0"/>
          </a:p>
        </p:txBody>
      </p:sp>
      <p:sp>
        <p:nvSpPr>
          <p:cNvPr id="10" name="Text 8"/>
          <p:cNvSpPr/>
          <p:nvPr/>
        </p:nvSpPr>
        <p:spPr>
          <a:xfrm>
            <a:off x="4617720" y="3703320"/>
            <a:ext cx="457200" cy="868680"/>
          </a:xfrm>
          <a:prstGeom prst="rect">
            <a:avLst/>
          </a:prstGeom>
          <a:noFill/>
          <a:ln/>
        </p:spPr>
        <p:txBody>
          <a:bodyPr wrap="square" rtlCol="0" anchor="ctr"/>
          <a:lstStyle/>
          <a:p>
            <a:pPr marL="0" indent="0" algn="ctr">
              <a:buNone/>
            </a:pPr>
            <a:r>
              <a:rPr lang="en-US" sz="2400" b="1" dirty="0">
                <a:solidFill>
                  <a:srgbClr val="0B1E3D"/>
                </a:solidFill>
                <a:latin typeface="Calibri" pitchFamily="34" charset="0"/>
                <a:ea typeface="Calibri" pitchFamily="34" charset="-122"/>
                <a:cs typeface="Calibri" pitchFamily="34" charset="-120"/>
              </a:rPr>
              <a:t>→</a:t>
            </a:r>
            <a:endParaRPr lang="en-US" sz="2400" dirty="0"/>
          </a:p>
        </p:txBody>
      </p:sp>
      <p:sp>
        <p:nvSpPr>
          <p:cNvPr id="11" name="Shape 9"/>
          <p:cNvSpPr/>
          <p:nvPr/>
        </p:nvSpPr>
        <p:spPr>
          <a:xfrm>
            <a:off x="5074920" y="3703320"/>
            <a:ext cx="1828800" cy="868680"/>
          </a:xfrm>
          <a:prstGeom prst="roundRect">
            <a:avLst>
              <a:gd name="adj" fmla="val 8421"/>
            </a:avLst>
          </a:prstGeom>
          <a:solidFill>
            <a:srgbClr val="F3F5F8"/>
          </a:solidFill>
          <a:ln/>
        </p:spPr>
      </p:sp>
      <p:sp>
        <p:nvSpPr>
          <p:cNvPr id="12" name="Text 10"/>
          <p:cNvSpPr/>
          <p:nvPr/>
        </p:nvSpPr>
        <p:spPr>
          <a:xfrm>
            <a:off x="5148072" y="3703320"/>
            <a:ext cx="1682496" cy="868680"/>
          </a:xfrm>
          <a:prstGeom prst="rect">
            <a:avLst/>
          </a:prstGeom>
          <a:noFill/>
          <a:ln/>
        </p:spPr>
        <p:txBody>
          <a:bodyPr wrap="square" rtlCol="0" anchor="ctr"/>
          <a:lstStyle/>
          <a:p>
            <a:pPr marL="0" indent="0" algn="ctr">
              <a:lnSpc>
                <a:spcPts val="2070"/>
              </a:lnSpc>
              <a:buNone/>
            </a:pPr>
            <a:r>
              <a:rPr lang="en-US" sz="1800" b="1" dirty="0">
                <a:solidFill>
                  <a:srgbClr val="0B1E3D"/>
                </a:solidFill>
                <a:latin typeface="Calibri" pitchFamily="34" charset="0"/>
                <a:ea typeface="Calibri" pitchFamily="34" charset="-122"/>
                <a:cs typeface="Calibri" pitchFamily="34" charset="-120"/>
              </a:rPr>
              <a:t>ACT</a:t>
            </a:r>
            <a:endParaRPr lang="en-US" sz="1800" dirty="0"/>
          </a:p>
        </p:txBody>
      </p:sp>
      <p:sp>
        <p:nvSpPr>
          <p:cNvPr id="13" name="Shape 11"/>
          <p:cNvSpPr/>
          <p:nvPr/>
        </p:nvSpPr>
        <p:spPr>
          <a:xfrm>
            <a:off x="7589520" y="3703320"/>
            <a:ext cx="4069080" cy="2651760"/>
          </a:xfrm>
          <a:prstGeom prst="roundRect">
            <a:avLst>
              <a:gd name="adj" fmla="val 2414"/>
            </a:avLst>
          </a:prstGeom>
          <a:solidFill>
            <a:srgbClr val="0B1E3D"/>
          </a:solidFill>
          <a:ln/>
        </p:spPr>
      </p:sp>
      <p:sp>
        <p:nvSpPr>
          <p:cNvPr id="14" name="Text 12"/>
          <p:cNvSpPr/>
          <p:nvPr/>
        </p:nvSpPr>
        <p:spPr>
          <a:xfrm>
            <a:off x="7863840" y="3840480"/>
            <a:ext cx="3520440" cy="411480"/>
          </a:xfrm>
          <a:prstGeom prst="rect">
            <a:avLst/>
          </a:prstGeom>
          <a:noFill/>
          <a:ln/>
        </p:spPr>
        <p:txBody>
          <a:bodyPr wrap="square" rtlCol="0" anchor="ctr"/>
          <a:lstStyle/>
          <a:p>
            <a:pPr marL="0" indent="0">
              <a:buNone/>
            </a:pPr>
            <a:r>
              <a:rPr lang="en-US" sz="1900" b="1" dirty="0">
                <a:solidFill>
                  <a:srgbClr val="B08D57"/>
                </a:solidFill>
                <a:latin typeface="Cambria" pitchFamily="34" charset="0"/>
                <a:ea typeface="Cambria" pitchFamily="34" charset="-122"/>
                <a:cs typeface="Cambria" pitchFamily="34" charset="-120"/>
              </a:rPr>
              <a:t>Systems that fit this pattern</a:t>
            </a:r>
            <a:endParaRPr lang="en-US" sz="1900" dirty="0"/>
          </a:p>
        </p:txBody>
      </p:sp>
      <p:sp>
        <p:nvSpPr>
          <p:cNvPr id="15" name="Text 13"/>
          <p:cNvSpPr/>
          <p:nvPr/>
        </p:nvSpPr>
        <p:spPr>
          <a:xfrm>
            <a:off x="7818120" y="4325112"/>
            <a:ext cx="3611880" cy="1920240"/>
          </a:xfrm>
          <a:prstGeom prst="rect">
            <a:avLst/>
          </a:prstGeom>
          <a:noFill/>
          <a:ln/>
        </p:spPr>
        <p:txBody>
          <a:bodyPr wrap="square" lIns="0" tIns="0" rIns="0" bIns="0" rtlCol="0" anchor="t"/>
          <a:lstStyle/>
          <a:p>
            <a:pPr marL="228600" indent="-228600">
              <a:spcAft>
                <a:spcPts val="200"/>
              </a:spcAft>
              <a:buSzPct val="100000"/>
              <a:buChar char="▪"/>
            </a:pPr>
            <a:r>
              <a:rPr lang="en-US" sz="1800" dirty="0">
                <a:solidFill>
                  <a:srgbClr val="E7EBF3"/>
                </a:solidFill>
                <a:latin typeface="Calibri" pitchFamily="34" charset="0"/>
                <a:ea typeface="Calibri" pitchFamily="34" charset="-122"/>
                <a:cs typeface="Calibri" pitchFamily="34" charset="-120"/>
              </a:rPr>
              <a:t>Autonomous vehicle</a:t>
            </a:r>
            <a:endParaRPr lang="en-US" sz="1800" dirty="0"/>
          </a:p>
          <a:p>
            <a:pPr marL="228600" indent="-228600">
              <a:spcAft>
                <a:spcPts val="200"/>
              </a:spcAft>
              <a:buSzPct val="100000"/>
              <a:buChar char="▪"/>
            </a:pPr>
            <a:r>
              <a:rPr lang="en-US" sz="1800" dirty="0">
                <a:solidFill>
                  <a:srgbClr val="E7EBF3"/>
                </a:solidFill>
                <a:latin typeface="Calibri" pitchFamily="34" charset="0"/>
                <a:ea typeface="Calibri" pitchFamily="34" charset="-122"/>
                <a:cs typeface="Calibri" pitchFamily="34" charset="-120"/>
              </a:rPr>
              <a:t>Virtual assistant</a:t>
            </a:r>
            <a:endParaRPr lang="en-US" sz="1800" dirty="0"/>
          </a:p>
          <a:p>
            <a:pPr marL="228600" indent="-228600">
              <a:spcAft>
                <a:spcPts val="200"/>
              </a:spcAft>
              <a:buSzPct val="100000"/>
              <a:buChar char="▪"/>
            </a:pPr>
            <a:r>
              <a:rPr lang="en-US" sz="1800" dirty="0">
                <a:solidFill>
                  <a:srgbClr val="E7EBF3"/>
                </a:solidFill>
                <a:latin typeface="Calibri" pitchFamily="34" charset="0"/>
                <a:ea typeface="Calibri" pitchFamily="34" charset="-122"/>
                <a:cs typeface="Calibri" pitchFamily="34" charset="-120"/>
              </a:rPr>
              <a:t>Robot vacuum cleaner</a:t>
            </a:r>
            <a:endParaRPr lang="en-US" sz="1800" dirty="0"/>
          </a:p>
          <a:p>
            <a:pPr marL="228600" indent="-228600">
              <a:spcAft>
                <a:spcPts val="200"/>
              </a:spcAft>
              <a:buSzPct val="100000"/>
              <a:buChar char="▪"/>
            </a:pPr>
            <a:r>
              <a:rPr lang="en-US" sz="1800" dirty="0">
                <a:solidFill>
                  <a:srgbClr val="E7EBF3"/>
                </a:solidFill>
                <a:latin typeface="Calibri" pitchFamily="34" charset="0"/>
                <a:ea typeface="Calibri" pitchFamily="34" charset="-122"/>
                <a:cs typeface="Calibri" pitchFamily="34" charset="-120"/>
              </a:rPr>
              <a:t>Recommendation system</a:t>
            </a:r>
            <a:endParaRPr lang="en-US" sz="1800" dirty="0"/>
          </a:p>
          <a:p>
            <a:pPr marL="228600" indent="-228600">
              <a:spcAft>
                <a:spcPts val="200"/>
              </a:spcAft>
              <a:buSzPct val="100000"/>
              <a:buChar char="▪"/>
            </a:pPr>
            <a:r>
              <a:rPr lang="en-US" sz="1800" dirty="0">
                <a:solidFill>
                  <a:srgbClr val="E7EBF3"/>
                </a:solidFill>
                <a:latin typeface="Calibri" pitchFamily="34" charset="0"/>
                <a:ea typeface="Calibri" pitchFamily="34" charset="-122"/>
                <a:cs typeface="Calibri" pitchFamily="34" charset="-120"/>
              </a:rPr>
              <a:t>Game-playing AI</a:t>
            </a:r>
            <a:endParaRPr lang="en-US" sz="1800" dirty="0"/>
          </a:p>
          <a:p>
            <a:pPr marL="228600" indent="-228600">
              <a:spcAft>
                <a:spcPts val="200"/>
              </a:spcAft>
              <a:buSzPct val="100000"/>
              <a:buChar char="▪"/>
            </a:pPr>
            <a:r>
              <a:rPr lang="en-US" sz="1800" dirty="0">
                <a:solidFill>
                  <a:srgbClr val="E7EBF3"/>
                </a:solidFill>
                <a:latin typeface="Calibri" pitchFamily="34" charset="0"/>
                <a:ea typeface="Calibri" pitchFamily="34" charset="-122"/>
                <a:cs typeface="Calibri" pitchFamily="34" charset="-120"/>
              </a:rPr>
              <a:t>Medical decision-support system</a:t>
            </a:r>
            <a:endParaRPr lang="en-US" sz="1800" dirty="0"/>
          </a:p>
        </p:txBody>
      </p:sp>
      <p:sp>
        <p:nvSpPr>
          <p:cNvPr id="16" name="Text 14"/>
          <p:cNvSpPr/>
          <p:nvPr/>
        </p:nvSpPr>
        <p:spPr>
          <a:xfrm>
            <a:off x="502920" y="4800600"/>
            <a:ext cx="6400800" cy="1188720"/>
          </a:xfrm>
          <a:prstGeom prst="rect">
            <a:avLst/>
          </a:prstGeom>
          <a:noFill/>
          <a:ln/>
        </p:spPr>
        <p:txBody>
          <a:bodyPr wrap="square" rtlCol="0" anchor="ctr"/>
          <a:lstStyle/>
          <a:p>
            <a:pPr marL="0" indent="0">
              <a:lnSpc>
                <a:spcPts val="2470"/>
              </a:lnSpc>
              <a:buNone/>
            </a:pPr>
            <a:r>
              <a:rPr lang="en-US" sz="1900" b="1" dirty="0">
                <a:solidFill>
                  <a:srgbClr val="0B1E3D"/>
                </a:solidFill>
                <a:latin typeface="Calibri" pitchFamily="34" charset="0"/>
                <a:ea typeface="Calibri" pitchFamily="34" charset="-122"/>
                <a:cs typeface="Calibri" pitchFamily="34" charset="-120"/>
              </a:rPr>
              <a:t>Real-life example:  </a:t>
            </a:r>
            <a:r>
              <a:rPr lang="en-US" sz="1900" dirty="0">
                <a:solidFill>
                  <a:srgbClr val="1A1F2B"/>
                </a:solidFill>
                <a:latin typeface="Calibri" pitchFamily="34" charset="0"/>
                <a:ea typeface="Calibri" pitchFamily="34" charset="-122"/>
                <a:cs typeface="Calibri" pitchFamily="34" charset="-120"/>
              </a:rPr>
              <a:t>a self-driving car observes roads, vehicles, pedestrians and traffic signals, then decides and controls the vehicle accordingly.</a:t>
            </a:r>
            <a:endParaRPr lang="en-US" sz="1900" dirty="0"/>
          </a:p>
        </p:txBody>
      </p:sp>
      <p:sp>
        <p:nvSpPr>
          <p:cNvPr id="17" name="Text 15"/>
          <p:cNvSpPr/>
          <p:nvPr/>
        </p:nvSpPr>
        <p:spPr>
          <a:xfrm>
            <a:off x="502920" y="6446520"/>
            <a:ext cx="8229600" cy="320040"/>
          </a:xfrm>
          <a:prstGeom prst="rect">
            <a:avLst/>
          </a:prstGeom>
          <a:noFill/>
          <a:ln/>
        </p:spPr>
        <p:txBody>
          <a:bodyPr wrap="square" rtlCol="0" anchor="ctr"/>
          <a:lstStyle/>
          <a:p>
            <a:pPr marL="0" indent="0">
              <a:buNone/>
            </a:pPr>
            <a:r>
              <a:rPr lang="en-US" sz="1400" i="1" dirty="0">
                <a:solidFill>
                  <a:srgbClr val="5A6478"/>
                </a:solidFill>
                <a:latin typeface="Calibri" pitchFamily="34" charset="0"/>
                <a:ea typeface="Calibri" pitchFamily="34" charset="-122"/>
                <a:cs typeface="Calibri" pitchFamily="34" charset="-120"/>
              </a:rPr>
              <a:t>AI — Intelligent Agents  |  A. Introduction</a:t>
            </a:r>
            <a:endParaRPr lang="en-US" sz="1400" dirty="0"/>
          </a:p>
        </p:txBody>
      </p:sp>
      <p:sp>
        <p:nvSpPr>
          <p:cNvPr id="18" name="Text 16"/>
          <p:cNvSpPr/>
          <p:nvPr/>
        </p:nvSpPr>
        <p:spPr>
          <a:xfrm>
            <a:off x="10500055" y="6446520"/>
            <a:ext cx="1188720" cy="320040"/>
          </a:xfrm>
          <a:prstGeom prst="rect">
            <a:avLst/>
          </a:prstGeom>
          <a:noFill/>
          <a:ln/>
        </p:spPr>
        <p:txBody>
          <a:bodyPr wrap="square" rtlCol="0" anchor="ctr"/>
          <a:lstStyle/>
          <a:p>
            <a:pPr marL="0" indent="0" algn="r">
              <a:buNone/>
            </a:pPr>
            <a:r>
              <a:rPr lang="en-US" sz="1400" dirty="0">
                <a:solidFill>
                  <a:srgbClr val="5A6478"/>
                </a:solidFill>
                <a:latin typeface="Calibri" pitchFamily="34" charset="0"/>
                <a:ea typeface="Calibri" pitchFamily="34" charset="-122"/>
                <a:cs typeface="Calibri" pitchFamily="34" charset="-120"/>
              </a:rPr>
              <a:t>2 / 40</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85855" cy="347472"/>
          </a:xfrm>
          <a:prstGeom prst="rect">
            <a:avLst/>
          </a:prstGeom>
          <a:noFill/>
          <a:ln/>
        </p:spPr>
        <p:txBody>
          <a:bodyPr wrap="square" rtlCol="0" anchor="ctr"/>
          <a:lstStyle/>
          <a:p>
            <a:pPr marL="0" indent="0">
              <a:buNone/>
            </a:pPr>
            <a:r>
              <a:rPr lang="en-US" sz="1500" b="1" kern="0" spc="150" dirty="0">
                <a:solidFill>
                  <a:srgbClr val="B08D57"/>
                </a:solidFill>
                <a:latin typeface="Calibri" pitchFamily="34" charset="0"/>
                <a:ea typeface="Calibri" pitchFamily="34" charset="-122"/>
                <a:cs typeface="Calibri" pitchFamily="34" charset="-120"/>
              </a:rPr>
              <a:t>ROADMAP</a:t>
            </a:r>
            <a:endParaRPr lang="en-US" sz="1500" dirty="0"/>
          </a:p>
        </p:txBody>
      </p:sp>
      <p:sp>
        <p:nvSpPr>
          <p:cNvPr id="3" name="Text 1"/>
          <p:cNvSpPr txBox="1"/>
          <p:nvPr/>
        </p:nvSpPr>
        <p:spPr>
          <a:xfrm>
            <a:off x="502920" y="676656"/>
            <a:ext cx="11185855" cy="1417320"/>
          </a:xfrm>
          <a:prstGeom prst="rect">
            <a:avLst/>
          </a:prstGeom>
          <a:noFill/>
          <a:ln/>
        </p:spPr>
        <p:txBody>
          <a:bodyPr wrap="square" rtlCol="0" anchor="t"/>
          <a:lstStyle/>
          <a:p>
            <a:pPr marL="0" indent="0">
              <a:lnSpc>
                <a:spcPts val="3136"/>
              </a:lnSpc>
              <a:buNone/>
            </a:pPr>
            <a:r>
              <a:rPr lang="en-US" sz="2800" b="1" dirty="0">
                <a:solidFill>
                  <a:srgbClr val="0B1E3D"/>
                </a:solidFill>
                <a:latin typeface="Cambria" pitchFamily="34" charset="0"/>
                <a:ea typeface="Cambria" pitchFamily="34" charset="-122"/>
                <a:cs typeface="Cambria" pitchFamily="34" charset="-120"/>
              </a:rPr>
              <a:t>Learning Objectives for Today</a:t>
            </a:r>
            <a:endParaRPr lang="en-US" sz="2800" dirty="0"/>
          </a:p>
        </p:txBody>
      </p:sp>
      <p:sp>
        <p:nvSpPr>
          <p:cNvPr id="4" name="Shape 2"/>
          <p:cNvSpPr/>
          <p:nvPr/>
        </p:nvSpPr>
        <p:spPr>
          <a:xfrm>
            <a:off x="502920" y="1828800"/>
            <a:ext cx="384048" cy="384048"/>
          </a:xfrm>
          <a:prstGeom prst="roundRect">
            <a:avLst>
              <a:gd name="adj" fmla="val 50000"/>
            </a:avLst>
          </a:prstGeom>
          <a:solidFill>
            <a:srgbClr val="0B1E3D"/>
          </a:solidFill>
          <a:ln/>
        </p:spPr>
      </p:sp>
      <p:sp>
        <p:nvSpPr>
          <p:cNvPr id="5" name="Text 3"/>
          <p:cNvSpPr/>
          <p:nvPr/>
        </p:nvSpPr>
        <p:spPr>
          <a:xfrm>
            <a:off x="502920" y="1828800"/>
            <a:ext cx="384048" cy="384048"/>
          </a:xfrm>
          <a:prstGeom prst="rect">
            <a:avLst/>
          </a:prstGeom>
          <a:noFill/>
          <a:ln/>
        </p:spPr>
        <p:txBody>
          <a:bodyPr wrap="square" rtlCol="0" anchor="ctr"/>
          <a:lstStyle/>
          <a:p>
            <a:pPr marL="0" indent="0" algn="ctr">
              <a:buNone/>
            </a:pPr>
            <a:r>
              <a:rPr lang="en-US" sz="1500" b="1" dirty="0">
                <a:solidFill>
                  <a:srgbClr val="B08D57"/>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033272" y="1810512"/>
            <a:ext cx="10241280" cy="475488"/>
          </a:xfrm>
          <a:prstGeom prst="rect">
            <a:avLst/>
          </a:prstGeom>
          <a:noFill/>
          <a:ln/>
        </p:spPr>
        <p:txBody>
          <a:bodyPr wrap="square" rtlCol="0" anchor="ctr"/>
          <a:lstStyle/>
          <a:p>
            <a:pPr marL="0" indent="0">
              <a:lnSpc>
                <a:spcPts val="2100"/>
              </a:lnSpc>
              <a:buNone/>
            </a:pPr>
            <a:r>
              <a:rPr lang="en-US" sz="1800" b="1" dirty="0">
                <a:solidFill>
                  <a:srgbClr val="0B1E3D"/>
                </a:solidFill>
                <a:latin typeface="Cambria" pitchFamily="34" charset="0"/>
                <a:ea typeface="Cambria" pitchFamily="34" charset="-122"/>
                <a:cs typeface="Cambria" pitchFamily="34" charset="-120"/>
              </a:rPr>
              <a:t>Define  </a:t>
            </a:r>
            <a:r>
              <a:rPr lang="en-US" sz="1800" dirty="0">
                <a:solidFill>
                  <a:srgbClr val="1A1F2B"/>
                </a:solidFill>
                <a:latin typeface="Calibri" pitchFamily="34" charset="0"/>
                <a:ea typeface="Calibri" pitchFamily="34" charset="-122"/>
                <a:cs typeface="Calibri" pitchFamily="34" charset="-120"/>
              </a:rPr>
              <a:t>an intelligent agent and its agent function.</a:t>
            </a:r>
            <a:endParaRPr lang="en-US" sz="1800" dirty="0"/>
          </a:p>
        </p:txBody>
      </p:sp>
      <p:sp>
        <p:nvSpPr>
          <p:cNvPr id="7" name="Shape 5"/>
          <p:cNvSpPr/>
          <p:nvPr/>
        </p:nvSpPr>
        <p:spPr>
          <a:xfrm>
            <a:off x="502920" y="2359152"/>
            <a:ext cx="384048" cy="384048"/>
          </a:xfrm>
          <a:prstGeom prst="roundRect">
            <a:avLst>
              <a:gd name="adj" fmla="val 50000"/>
            </a:avLst>
          </a:prstGeom>
          <a:solidFill>
            <a:srgbClr val="0B1E3D"/>
          </a:solidFill>
          <a:ln/>
        </p:spPr>
      </p:sp>
      <p:sp>
        <p:nvSpPr>
          <p:cNvPr id="8" name="Text 6"/>
          <p:cNvSpPr/>
          <p:nvPr/>
        </p:nvSpPr>
        <p:spPr>
          <a:xfrm>
            <a:off x="502920" y="2359152"/>
            <a:ext cx="384048" cy="384048"/>
          </a:xfrm>
          <a:prstGeom prst="rect">
            <a:avLst/>
          </a:prstGeom>
          <a:noFill/>
          <a:ln/>
        </p:spPr>
        <p:txBody>
          <a:bodyPr wrap="square" rtlCol="0" anchor="ctr"/>
          <a:lstStyle/>
          <a:p>
            <a:pPr marL="0" indent="0" algn="ctr">
              <a:buNone/>
            </a:pPr>
            <a:r>
              <a:rPr lang="en-US" sz="1500" b="1" dirty="0">
                <a:solidFill>
                  <a:srgbClr val="B08D57"/>
                </a:solidFill>
                <a:latin typeface="Calibri" pitchFamily="34" charset="0"/>
                <a:ea typeface="Calibri" pitchFamily="34" charset="-122"/>
                <a:cs typeface="Calibri" pitchFamily="34" charset="-120"/>
              </a:rPr>
              <a:t>2</a:t>
            </a:r>
            <a:endParaRPr lang="en-US" sz="1500" dirty="0"/>
          </a:p>
        </p:txBody>
      </p:sp>
      <p:sp>
        <p:nvSpPr>
          <p:cNvPr id="9" name="Text 7"/>
          <p:cNvSpPr/>
          <p:nvPr/>
        </p:nvSpPr>
        <p:spPr>
          <a:xfrm>
            <a:off x="1033272" y="2340864"/>
            <a:ext cx="10241280" cy="475488"/>
          </a:xfrm>
          <a:prstGeom prst="rect">
            <a:avLst/>
          </a:prstGeom>
          <a:noFill/>
          <a:ln/>
        </p:spPr>
        <p:txBody>
          <a:bodyPr wrap="square" rtlCol="0" anchor="ctr"/>
          <a:lstStyle/>
          <a:p>
            <a:pPr marL="0" indent="0">
              <a:lnSpc>
                <a:spcPts val="2100"/>
              </a:lnSpc>
              <a:buNone/>
            </a:pPr>
            <a:r>
              <a:rPr lang="en-US" sz="1800" b="1" dirty="0">
                <a:solidFill>
                  <a:srgbClr val="0B1E3D"/>
                </a:solidFill>
                <a:latin typeface="Cambria" pitchFamily="34" charset="0"/>
                <a:ea typeface="Cambria" pitchFamily="34" charset="-122"/>
                <a:cs typeface="Cambria" pitchFamily="34" charset="-120"/>
              </a:rPr>
              <a:t>Explain  </a:t>
            </a:r>
            <a:r>
              <a:rPr lang="en-US" sz="1800" dirty="0">
                <a:solidFill>
                  <a:srgbClr val="1A1F2B"/>
                </a:solidFill>
                <a:latin typeface="Calibri" pitchFamily="34" charset="0"/>
                <a:ea typeface="Calibri" pitchFamily="34" charset="-122"/>
                <a:cs typeface="Calibri" pitchFamily="34" charset="-120"/>
              </a:rPr>
              <a:t>the concept of rationality in an agent.</a:t>
            </a:r>
            <a:endParaRPr lang="en-US" sz="1800" dirty="0"/>
          </a:p>
        </p:txBody>
      </p:sp>
      <p:sp>
        <p:nvSpPr>
          <p:cNvPr id="10" name="Shape 8"/>
          <p:cNvSpPr/>
          <p:nvPr/>
        </p:nvSpPr>
        <p:spPr>
          <a:xfrm>
            <a:off x="502920" y="2889504"/>
            <a:ext cx="384048" cy="384048"/>
          </a:xfrm>
          <a:prstGeom prst="roundRect">
            <a:avLst>
              <a:gd name="adj" fmla="val 50000"/>
            </a:avLst>
          </a:prstGeom>
          <a:solidFill>
            <a:srgbClr val="0B1E3D"/>
          </a:solidFill>
          <a:ln/>
        </p:spPr>
      </p:sp>
      <p:sp>
        <p:nvSpPr>
          <p:cNvPr id="11" name="Text 9"/>
          <p:cNvSpPr/>
          <p:nvPr/>
        </p:nvSpPr>
        <p:spPr>
          <a:xfrm>
            <a:off x="502920" y="2889504"/>
            <a:ext cx="384048" cy="384048"/>
          </a:xfrm>
          <a:prstGeom prst="rect">
            <a:avLst/>
          </a:prstGeom>
          <a:noFill/>
          <a:ln/>
        </p:spPr>
        <p:txBody>
          <a:bodyPr wrap="square" rtlCol="0" anchor="ctr"/>
          <a:lstStyle/>
          <a:p>
            <a:pPr marL="0" indent="0" algn="ctr">
              <a:buNone/>
            </a:pPr>
            <a:r>
              <a:rPr lang="en-US" sz="1500" b="1" dirty="0">
                <a:solidFill>
                  <a:srgbClr val="B08D57"/>
                </a:solidFill>
                <a:latin typeface="Calibri" pitchFamily="34" charset="0"/>
                <a:ea typeface="Calibri" pitchFamily="34" charset="-122"/>
                <a:cs typeface="Calibri" pitchFamily="34" charset="-120"/>
              </a:rPr>
              <a:t>3</a:t>
            </a:r>
            <a:endParaRPr lang="en-US" sz="1500" dirty="0"/>
          </a:p>
        </p:txBody>
      </p:sp>
      <p:sp>
        <p:nvSpPr>
          <p:cNvPr id="12" name="Text 10"/>
          <p:cNvSpPr/>
          <p:nvPr/>
        </p:nvSpPr>
        <p:spPr>
          <a:xfrm>
            <a:off x="1033272" y="2871216"/>
            <a:ext cx="10241280" cy="475488"/>
          </a:xfrm>
          <a:prstGeom prst="rect">
            <a:avLst/>
          </a:prstGeom>
          <a:noFill/>
          <a:ln/>
        </p:spPr>
        <p:txBody>
          <a:bodyPr wrap="square" rtlCol="0" anchor="ctr"/>
          <a:lstStyle/>
          <a:p>
            <a:pPr marL="0" indent="0">
              <a:lnSpc>
                <a:spcPts val="2100"/>
              </a:lnSpc>
              <a:buNone/>
            </a:pPr>
            <a:r>
              <a:rPr lang="en-US" sz="1800" b="1" dirty="0">
                <a:solidFill>
                  <a:srgbClr val="0B1E3D"/>
                </a:solidFill>
                <a:latin typeface="Cambria" pitchFamily="34" charset="0"/>
                <a:ea typeface="Cambria" pitchFamily="34" charset="-122"/>
                <a:cs typeface="Cambria" pitchFamily="34" charset="-120"/>
              </a:rPr>
              <a:t>Distinguish  </a:t>
            </a:r>
            <a:r>
              <a:rPr lang="en-US" sz="1800" dirty="0">
                <a:solidFill>
                  <a:srgbClr val="1A1F2B"/>
                </a:solidFill>
                <a:latin typeface="Calibri" pitchFamily="34" charset="0"/>
                <a:ea typeface="Calibri" pitchFamily="34" charset="-122"/>
                <a:cs typeface="Calibri" pitchFamily="34" charset="-120"/>
              </a:rPr>
              <a:t>rational agents from merely successful agents.</a:t>
            </a:r>
            <a:endParaRPr lang="en-US" sz="1800" dirty="0"/>
          </a:p>
        </p:txBody>
      </p:sp>
      <p:sp>
        <p:nvSpPr>
          <p:cNvPr id="13" name="Shape 11"/>
          <p:cNvSpPr/>
          <p:nvPr/>
        </p:nvSpPr>
        <p:spPr>
          <a:xfrm>
            <a:off x="502920" y="3419856"/>
            <a:ext cx="384048" cy="384048"/>
          </a:xfrm>
          <a:prstGeom prst="roundRect">
            <a:avLst>
              <a:gd name="adj" fmla="val 50000"/>
            </a:avLst>
          </a:prstGeom>
          <a:solidFill>
            <a:srgbClr val="0B1E3D"/>
          </a:solidFill>
          <a:ln/>
        </p:spPr>
      </p:sp>
      <p:sp>
        <p:nvSpPr>
          <p:cNvPr id="14" name="Text 12"/>
          <p:cNvSpPr/>
          <p:nvPr/>
        </p:nvSpPr>
        <p:spPr>
          <a:xfrm>
            <a:off x="502920" y="3419856"/>
            <a:ext cx="384048" cy="384048"/>
          </a:xfrm>
          <a:prstGeom prst="rect">
            <a:avLst/>
          </a:prstGeom>
          <a:noFill/>
          <a:ln/>
        </p:spPr>
        <p:txBody>
          <a:bodyPr wrap="square" rtlCol="0" anchor="ctr"/>
          <a:lstStyle/>
          <a:p>
            <a:pPr marL="0" indent="0" algn="ctr">
              <a:buNone/>
            </a:pPr>
            <a:r>
              <a:rPr lang="en-US" sz="1500" b="1" dirty="0">
                <a:solidFill>
                  <a:srgbClr val="B08D57"/>
                </a:solidFill>
                <a:latin typeface="Calibri" pitchFamily="34" charset="0"/>
                <a:ea typeface="Calibri" pitchFamily="34" charset="-122"/>
                <a:cs typeface="Calibri" pitchFamily="34" charset="-120"/>
              </a:rPr>
              <a:t>4</a:t>
            </a:r>
            <a:endParaRPr lang="en-US" sz="1500" dirty="0"/>
          </a:p>
        </p:txBody>
      </p:sp>
      <p:sp>
        <p:nvSpPr>
          <p:cNvPr id="15" name="Text 13"/>
          <p:cNvSpPr/>
          <p:nvPr/>
        </p:nvSpPr>
        <p:spPr>
          <a:xfrm>
            <a:off x="1033272" y="3401568"/>
            <a:ext cx="10241280" cy="475488"/>
          </a:xfrm>
          <a:prstGeom prst="rect">
            <a:avLst/>
          </a:prstGeom>
          <a:noFill/>
          <a:ln/>
        </p:spPr>
        <p:txBody>
          <a:bodyPr wrap="square" rtlCol="0" anchor="ctr"/>
          <a:lstStyle/>
          <a:p>
            <a:pPr marL="0" indent="0">
              <a:lnSpc>
                <a:spcPts val="2100"/>
              </a:lnSpc>
              <a:buNone/>
            </a:pPr>
            <a:r>
              <a:rPr lang="en-US" sz="1800" b="1" dirty="0">
                <a:solidFill>
                  <a:srgbClr val="0B1E3D"/>
                </a:solidFill>
                <a:latin typeface="Cambria" pitchFamily="34" charset="0"/>
                <a:ea typeface="Cambria" pitchFamily="34" charset="-122"/>
                <a:cs typeface="Cambria" pitchFamily="34" charset="-120"/>
              </a:rPr>
              <a:t>Describe  </a:t>
            </a:r>
            <a:r>
              <a:rPr lang="en-US" sz="1800" dirty="0">
                <a:solidFill>
                  <a:srgbClr val="1A1F2B"/>
                </a:solidFill>
                <a:latin typeface="Calibri" pitchFamily="34" charset="0"/>
                <a:ea typeface="Calibri" pitchFamily="34" charset="-122"/>
                <a:cs typeface="Calibri" pitchFamily="34" charset="-120"/>
              </a:rPr>
              <a:t>the PEAS framework for specifying a task.</a:t>
            </a:r>
            <a:endParaRPr lang="en-US" sz="1800" dirty="0"/>
          </a:p>
        </p:txBody>
      </p:sp>
      <p:sp>
        <p:nvSpPr>
          <p:cNvPr id="16" name="Shape 14"/>
          <p:cNvSpPr/>
          <p:nvPr/>
        </p:nvSpPr>
        <p:spPr>
          <a:xfrm>
            <a:off x="502920" y="3950208"/>
            <a:ext cx="384048" cy="384048"/>
          </a:xfrm>
          <a:prstGeom prst="roundRect">
            <a:avLst>
              <a:gd name="adj" fmla="val 50000"/>
            </a:avLst>
          </a:prstGeom>
          <a:solidFill>
            <a:srgbClr val="0B1E3D"/>
          </a:solidFill>
          <a:ln/>
        </p:spPr>
      </p:sp>
      <p:sp>
        <p:nvSpPr>
          <p:cNvPr id="17" name="Text 15"/>
          <p:cNvSpPr/>
          <p:nvPr/>
        </p:nvSpPr>
        <p:spPr>
          <a:xfrm>
            <a:off x="502920" y="3950208"/>
            <a:ext cx="384048" cy="384048"/>
          </a:xfrm>
          <a:prstGeom prst="rect">
            <a:avLst/>
          </a:prstGeom>
          <a:noFill/>
          <a:ln/>
        </p:spPr>
        <p:txBody>
          <a:bodyPr wrap="square" rtlCol="0" anchor="ctr"/>
          <a:lstStyle/>
          <a:p>
            <a:pPr marL="0" indent="0" algn="ctr">
              <a:buNone/>
            </a:pPr>
            <a:r>
              <a:rPr lang="en-US" sz="1500" b="1" dirty="0">
                <a:solidFill>
                  <a:srgbClr val="B08D57"/>
                </a:solidFill>
                <a:latin typeface="Calibri" pitchFamily="34" charset="0"/>
                <a:ea typeface="Calibri" pitchFamily="34" charset="-122"/>
                <a:cs typeface="Calibri" pitchFamily="34" charset="-120"/>
              </a:rPr>
              <a:t>5</a:t>
            </a:r>
            <a:endParaRPr lang="en-US" sz="1500" dirty="0"/>
          </a:p>
        </p:txBody>
      </p:sp>
      <p:sp>
        <p:nvSpPr>
          <p:cNvPr id="18" name="Text 16"/>
          <p:cNvSpPr/>
          <p:nvPr/>
        </p:nvSpPr>
        <p:spPr>
          <a:xfrm>
            <a:off x="1033272" y="3931920"/>
            <a:ext cx="10241280" cy="475488"/>
          </a:xfrm>
          <a:prstGeom prst="rect">
            <a:avLst/>
          </a:prstGeom>
          <a:noFill/>
          <a:ln/>
        </p:spPr>
        <p:txBody>
          <a:bodyPr wrap="square" rtlCol="0" anchor="ctr"/>
          <a:lstStyle/>
          <a:p>
            <a:pPr marL="0" indent="0">
              <a:lnSpc>
                <a:spcPts val="2100"/>
              </a:lnSpc>
              <a:buNone/>
            </a:pPr>
            <a:r>
              <a:rPr lang="en-US" sz="1800" b="1" dirty="0">
                <a:solidFill>
                  <a:srgbClr val="0B1E3D"/>
                </a:solidFill>
                <a:latin typeface="Cambria" pitchFamily="34" charset="0"/>
                <a:ea typeface="Cambria" pitchFamily="34" charset="-122"/>
                <a:cs typeface="Cambria" pitchFamily="34" charset="-120"/>
              </a:rPr>
              <a:t>Identify  </a:t>
            </a:r>
            <a:r>
              <a:rPr lang="en-US" sz="1800" dirty="0">
                <a:solidFill>
                  <a:srgbClr val="1A1F2B"/>
                </a:solidFill>
                <a:latin typeface="Calibri" pitchFamily="34" charset="0"/>
                <a:ea typeface="Calibri" pitchFamily="34" charset="-122"/>
                <a:cs typeface="Calibri" pitchFamily="34" charset="-120"/>
              </a:rPr>
              <a:t>the five major types of intelligent agents.</a:t>
            </a:r>
            <a:endParaRPr lang="en-US" sz="1800" dirty="0"/>
          </a:p>
        </p:txBody>
      </p:sp>
      <p:sp>
        <p:nvSpPr>
          <p:cNvPr id="19" name="Shape 17"/>
          <p:cNvSpPr/>
          <p:nvPr/>
        </p:nvSpPr>
        <p:spPr>
          <a:xfrm>
            <a:off x="502920" y="4480560"/>
            <a:ext cx="384048" cy="384048"/>
          </a:xfrm>
          <a:prstGeom prst="roundRect">
            <a:avLst>
              <a:gd name="adj" fmla="val 50000"/>
            </a:avLst>
          </a:prstGeom>
          <a:solidFill>
            <a:srgbClr val="0B1E3D"/>
          </a:solidFill>
          <a:ln/>
        </p:spPr>
      </p:sp>
      <p:sp>
        <p:nvSpPr>
          <p:cNvPr id="20" name="Text 18"/>
          <p:cNvSpPr/>
          <p:nvPr/>
        </p:nvSpPr>
        <p:spPr>
          <a:xfrm>
            <a:off x="502920" y="4480560"/>
            <a:ext cx="384048" cy="384048"/>
          </a:xfrm>
          <a:prstGeom prst="rect">
            <a:avLst/>
          </a:prstGeom>
          <a:noFill/>
          <a:ln/>
        </p:spPr>
        <p:txBody>
          <a:bodyPr wrap="square" rtlCol="0" anchor="ctr"/>
          <a:lstStyle/>
          <a:p>
            <a:pPr marL="0" indent="0" algn="ctr">
              <a:buNone/>
            </a:pPr>
            <a:r>
              <a:rPr lang="en-US" sz="1500" b="1" dirty="0">
                <a:solidFill>
                  <a:srgbClr val="B08D57"/>
                </a:solidFill>
                <a:latin typeface="Calibri" pitchFamily="34" charset="0"/>
                <a:ea typeface="Calibri" pitchFamily="34" charset="-122"/>
                <a:cs typeface="Calibri" pitchFamily="34" charset="-120"/>
              </a:rPr>
              <a:t>6</a:t>
            </a:r>
            <a:endParaRPr lang="en-US" sz="1500" dirty="0"/>
          </a:p>
        </p:txBody>
      </p:sp>
      <p:sp>
        <p:nvSpPr>
          <p:cNvPr id="21" name="Text 19"/>
          <p:cNvSpPr/>
          <p:nvPr/>
        </p:nvSpPr>
        <p:spPr>
          <a:xfrm>
            <a:off x="1033272" y="4462272"/>
            <a:ext cx="10241280" cy="475488"/>
          </a:xfrm>
          <a:prstGeom prst="rect">
            <a:avLst/>
          </a:prstGeom>
          <a:noFill/>
          <a:ln/>
        </p:spPr>
        <p:txBody>
          <a:bodyPr wrap="square" rtlCol="0" anchor="ctr"/>
          <a:lstStyle/>
          <a:p>
            <a:pPr marL="0" indent="0">
              <a:lnSpc>
                <a:spcPts val="2100"/>
              </a:lnSpc>
              <a:buNone/>
            </a:pPr>
            <a:r>
              <a:rPr lang="en-US" sz="1800" b="1" dirty="0">
                <a:solidFill>
                  <a:srgbClr val="0B1E3D"/>
                </a:solidFill>
                <a:latin typeface="Cambria" pitchFamily="34" charset="0"/>
                <a:ea typeface="Cambria" pitchFamily="34" charset="-122"/>
                <a:cs typeface="Cambria" pitchFamily="34" charset="-120"/>
              </a:rPr>
              <a:t>Classify  </a:t>
            </a:r>
            <a:r>
              <a:rPr lang="en-US" sz="1800" dirty="0">
                <a:solidFill>
                  <a:srgbClr val="1A1F2B"/>
                </a:solidFill>
                <a:latin typeface="Calibri" pitchFamily="34" charset="0"/>
                <a:ea typeface="Calibri" pitchFamily="34" charset="-122"/>
                <a:cs typeface="Calibri" pitchFamily="34" charset="-120"/>
              </a:rPr>
              <a:t>task environments using six standard properties.</a:t>
            </a:r>
            <a:endParaRPr lang="en-US" sz="1800" dirty="0"/>
          </a:p>
        </p:txBody>
      </p:sp>
      <p:sp>
        <p:nvSpPr>
          <p:cNvPr id="22" name="Shape 20"/>
          <p:cNvSpPr/>
          <p:nvPr/>
        </p:nvSpPr>
        <p:spPr>
          <a:xfrm>
            <a:off x="502920" y="5010912"/>
            <a:ext cx="384048" cy="384048"/>
          </a:xfrm>
          <a:prstGeom prst="roundRect">
            <a:avLst>
              <a:gd name="adj" fmla="val 50000"/>
            </a:avLst>
          </a:prstGeom>
          <a:solidFill>
            <a:srgbClr val="0B1E3D"/>
          </a:solidFill>
          <a:ln/>
        </p:spPr>
      </p:sp>
      <p:sp>
        <p:nvSpPr>
          <p:cNvPr id="23" name="Text 21"/>
          <p:cNvSpPr/>
          <p:nvPr/>
        </p:nvSpPr>
        <p:spPr>
          <a:xfrm>
            <a:off x="502920" y="5010912"/>
            <a:ext cx="384048" cy="384048"/>
          </a:xfrm>
          <a:prstGeom prst="rect">
            <a:avLst/>
          </a:prstGeom>
          <a:noFill/>
          <a:ln/>
        </p:spPr>
        <p:txBody>
          <a:bodyPr wrap="square" rtlCol="0" anchor="ctr"/>
          <a:lstStyle/>
          <a:p>
            <a:pPr marL="0" indent="0" algn="ctr">
              <a:buNone/>
            </a:pPr>
            <a:r>
              <a:rPr lang="en-US" sz="1500" b="1" dirty="0">
                <a:solidFill>
                  <a:srgbClr val="B08D57"/>
                </a:solidFill>
                <a:latin typeface="Calibri" pitchFamily="34" charset="0"/>
                <a:ea typeface="Calibri" pitchFamily="34" charset="-122"/>
                <a:cs typeface="Calibri" pitchFamily="34" charset="-120"/>
              </a:rPr>
              <a:t>7</a:t>
            </a:r>
            <a:endParaRPr lang="en-US" sz="1500" dirty="0"/>
          </a:p>
        </p:txBody>
      </p:sp>
      <p:sp>
        <p:nvSpPr>
          <p:cNvPr id="24" name="Text 22"/>
          <p:cNvSpPr/>
          <p:nvPr/>
        </p:nvSpPr>
        <p:spPr>
          <a:xfrm>
            <a:off x="1033272" y="4992624"/>
            <a:ext cx="10241280" cy="475488"/>
          </a:xfrm>
          <a:prstGeom prst="rect">
            <a:avLst/>
          </a:prstGeom>
          <a:noFill/>
          <a:ln/>
        </p:spPr>
        <p:txBody>
          <a:bodyPr wrap="square" rtlCol="0" anchor="ctr"/>
          <a:lstStyle/>
          <a:p>
            <a:pPr marL="0" indent="0">
              <a:lnSpc>
                <a:spcPts val="2100"/>
              </a:lnSpc>
              <a:buNone/>
            </a:pPr>
            <a:r>
              <a:rPr lang="en-US" sz="1800" b="1" dirty="0">
                <a:solidFill>
                  <a:srgbClr val="0B1E3D"/>
                </a:solidFill>
                <a:latin typeface="Cambria" pitchFamily="34" charset="0"/>
                <a:ea typeface="Cambria" pitchFamily="34" charset="-122"/>
                <a:cs typeface="Cambria" pitchFamily="34" charset="-120"/>
              </a:rPr>
              <a:t>Analyze  </a:t>
            </a:r>
            <a:r>
              <a:rPr lang="en-US" sz="1800" dirty="0">
                <a:solidFill>
                  <a:srgbClr val="1A1F2B"/>
                </a:solidFill>
                <a:latin typeface="Calibri" pitchFamily="34" charset="0"/>
                <a:ea typeface="Calibri" pitchFamily="34" charset="-122"/>
                <a:cs typeface="Calibri" pitchFamily="34" charset="-120"/>
              </a:rPr>
              <a:t>real-world AI systems using this vocabulary.</a:t>
            </a:r>
            <a:endParaRPr lang="en-US" sz="1800" dirty="0"/>
          </a:p>
        </p:txBody>
      </p:sp>
      <p:sp>
        <p:nvSpPr>
          <p:cNvPr id="25" name="Shape 23"/>
          <p:cNvSpPr/>
          <p:nvPr/>
        </p:nvSpPr>
        <p:spPr>
          <a:xfrm>
            <a:off x="502920" y="5541264"/>
            <a:ext cx="384048" cy="384048"/>
          </a:xfrm>
          <a:prstGeom prst="roundRect">
            <a:avLst>
              <a:gd name="adj" fmla="val 50000"/>
            </a:avLst>
          </a:prstGeom>
          <a:solidFill>
            <a:srgbClr val="0B1E3D"/>
          </a:solidFill>
          <a:ln/>
        </p:spPr>
      </p:sp>
      <p:sp>
        <p:nvSpPr>
          <p:cNvPr id="26" name="Text 24"/>
          <p:cNvSpPr/>
          <p:nvPr/>
        </p:nvSpPr>
        <p:spPr>
          <a:xfrm>
            <a:off x="502920" y="5541264"/>
            <a:ext cx="384048" cy="384048"/>
          </a:xfrm>
          <a:prstGeom prst="rect">
            <a:avLst/>
          </a:prstGeom>
          <a:noFill/>
          <a:ln/>
        </p:spPr>
        <p:txBody>
          <a:bodyPr wrap="square" rtlCol="0" anchor="ctr"/>
          <a:lstStyle/>
          <a:p>
            <a:pPr marL="0" indent="0" algn="ctr">
              <a:buNone/>
            </a:pPr>
            <a:r>
              <a:rPr lang="en-US" sz="1500" b="1" dirty="0">
                <a:solidFill>
                  <a:srgbClr val="B08D57"/>
                </a:solidFill>
                <a:latin typeface="Calibri" pitchFamily="34" charset="0"/>
                <a:ea typeface="Calibri" pitchFamily="34" charset="-122"/>
                <a:cs typeface="Calibri" pitchFamily="34" charset="-120"/>
              </a:rPr>
              <a:t>8</a:t>
            </a:r>
            <a:endParaRPr lang="en-US" sz="1500" dirty="0"/>
          </a:p>
        </p:txBody>
      </p:sp>
      <p:sp>
        <p:nvSpPr>
          <p:cNvPr id="27" name="Text 25"/>
          <p:cNvSpPr/>
          <p:nvPr/>
        </p:nvSpPr>
        <p:spPr>
          <a:xfrm>
            <a:off x="1033272" y="5522976"/>
            <a:ext cx="10241280" cy="475488"/>
          </a:xfrm>
          <a:prstGeom prst="rect">
            <a:avLst/>
          </a:prstGeom>
          <a:noFill/>
          <a:ln/>
        </p:spPr>
        <p:txBody>
          <a:bodyPr wrap="square" rtlCol="0" anchor="ctr"/>
          <a:lstStyle/>
          <a:p>
            <a:pPr marL="0" indent="0">
              <a:lnSpc>
                <a:spcPts val="2100"/>
              </a:lnSpc>
              <a:buNone/>
            </a:pPr>
            <a:r>
              <a:rPr lang="en-US" sz="1800" b="1" dirty="0">
                <a:solidFill>
                  <a:srgbClr val="0B1E3D"/>
                </a:solidFill>
                <a:latin typeface="Cambria" pitchFamily="34" charset="0"/>
                <a:ea typeface="Cambria" pitchFamily="34" charset="-122"/>
                <a:cs typeface="Cambria" pitchFamily="34" charset="-120"/>
              </a:rPr>
              <a:t>Select  </a:t>
            </a:r>
            <a:r>
              <a:rPr lang="en-US" sz="1800" dirty="0">
                <a:solidFill>
                  <a:srgbClr val="1A1F2B"/>
                </a:solidFill>
                <a:latin typeface="Calibri" pitchFamily="34" charset="0"/>
                <a:ea typeface="Calibri" pitchFamily="34" charset="-122"/>
                <a:cs typeface="Calibri" pitchFamily="34" charset="-120"/>
              </a:rPr>
              <a:t>an appropriate agent type for a given problem.</a:t>
            </a:r>
            <a:endParaRPr lang="en-US" sz="1800" dirty="0"/>
          </a:p>
        </p:txBody>
      </p:sp>
      <p:sp>
        <p:nvSpPr>
          <p:cNvPr id="28" name="Text 26"/>
          <p:cNvSpPr/>
          <p:nvPr/>
        </p:nvSpPr>
        <p:spPr>
          <a:xfrm>
            <a:off x="502920" y="6446520"/>
            <a:ext cx="8229600" cy="320040"/>
          </a:xfrm>
          <a:prstGeom prst="rect">
            <a:avLst/>
          </a:prstGeom>
          <a:noFill/>
          <a:ln/>
        </p:spPr>
        <p:txBody>
          <a:bodyPr wrap="square" rtlCol="0" anchor="ctr"/>
          <a:lstStyle/>
          <a:p>
            <a:pPr marL="0" indent="0">
              <a:buNone/>
            </a:pPr>
            <a:r>
              <a:rPr lang="en-US" sz="1400" i="1" dirty="0">
                <a:solidFill>
                  <a:srgbClr val="5A6478"/>
                </a:solidFill>
                <a:latin typeface="Calibri" pitchFamily="34" charset="0"/>
                <a:ea typeface="Calibri" pitchFamily="34" charset="-122"/>
                <a:cs typeface="Calibri" pitchFamily="34" charset="-120"/>
              </a:rPr>
              <a:t>AI — Intelligent Agents  |  A. Introduction</a:t>
            </a:r>
            <a:endParaRPr lang="en-US" sz="1400" dirty="0"/>
          </a:p>
        </p:txBody>
      </p:sp>
      <p:sp>
        <p:nvSpPr>
          <p:cNvPr id="29" name="Text 27"/>
          <p:cNvSpPr/>
          <p:nvPr/>
        </p:nvSpPr>
        <p:spPr>
          <a:xfrm>
            <a:off x="10500055" y="6446520"/>
            <a:ext cx="1188720" cy="320040"/>
          </a:xfrm>
          <a:prstGeom prst="rect">
            <a:avLst/>
          </a:prstGeom>
          <a:noFill/>
          <a:ln/>
        </p:spPr>
        <p:txBody>
          <a:bodyPr wrap="square" rtlCol="0" anchor="ctr"/>
          <a:lstStyle/>
          <a:p>
            <a:pPr marL="0" indent="0" algn="r">
              <a:buNone/>
            </a:pPr>
            <a:r>
              <a:rPr lang="en-US" sz="1400" dirty="0">
                <a:solidFill>
                  <a:srgbClr val="5A6478"/>
                </a:solidFill>
                <a:latin typeface="Calibri" pitchFamily="34" charset="0"/>
                <a:ea typeface="Calibri" pitchFamily="34" charset="-122"/>
                <a:cs typeface="Calibri" pitchFamily="34" charset="-120"/>
              </a:rPr>
              <a:t>3 / 40</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85855" cy="347472"/>
          </a:xfrm>
          <a:prstGeom prst="rect">
            <a:avLst/>
          </a:prstGeom>
          <a:noFill/>
          <a:ln/>
        </p:spPr>
        <p:txBody>
          <a:bodyPr wrap="square" rtlCol="0" anchor="ctr"/>
          <a:lstStyle/>
          <a:p>
            <a:pPr marL="0" indent="0">
              <a:buNone/>
            </a:pPr>
            <a:r>
              <a:rPr lang="en-US" sz="1500" b="1" kern="0" spc="150" dirty="0">
                <a:solidFill>
                  <a:srgbClr val="B08D57"/>
                </a:solidFill>
                <a:latin typeface="Calibri" pitchFamily="34" charset="0"/>
                <a:ea typeface="Calibri" pitchFamily="34" charset="-122"/>
                <a:cs typeface="Calibri" pitchFamily="34" charset="-120"/>
              </a:rPr>
              <a:t>B. INTELLIGENT AGENTS</a:t>
            </a:r>
            <a:endParaRPr lang="en-US" sz="1500" dirty="0"/>
          </a:p>
        </p:txBody>
      </p:sp>
      <p:sp>
        <p:nvSpPr>
          <p:cNvPr id="3" name="Text 1"/>
          <p:cNvSpPr txBox="1"/>
          <p:nvPr/>
        </p:nvSpPr>
        <p:spPr>
          <a:xfrm>
            <a:off x="502920" y="676656"/>
            <a:ext cx="11185855" cy="1417320"/>
          </a:xfrm>
          <a:prstGeom prst="rect">
            <a:avLst/>
          </a:prstGeom>
          <a:noFill/>
          <a:ln/>
        </p:spPr>
        <p:txBody>
          <a:bodyPr wrap="square" rtlCol="0" anchor="t"/>
          <a:lstStyle/>
          <a:p>
            <a:pPr marL="0" indent="0">
              <a:lnSpc>
                <a:spcPts val="3584"/>
              </a:lnSpc>
              <a:buNone/>
            </a:pPr>
            <a:r>
              <a:rPr lang="en-US" sz="3200" b="1" dirty="0">
                <a:solidFill>
                  <a:srgbClr val="0B1E3D"/>
                </a:solidFill>
                <a:latin typeface="Cambria" pitchFamily="34" charset="0"/>
                <a:ea typeface="Cambria" pitchFamily="34" charset="-122"/>
                <a:cs typeface="Cambria" pitchFamily="34" charset="-120"/>
              </a:rPr>
              <a:t>What Is an Agent?</a:t>
            </a:r>
            <a:endParaRPr lang="en-US" sz="3200" dirty="0"/>
          </a:p>
        </p:txBody>
      </p:sp>
      <p:sp>
        <p:nvSpPr>
          <p:cNvPr id="4" name="Shape 2"/>
          <p:cNvSpPr/>
          <p:nvPr/>
        </p:nvSpPr>
        <p:spPr>
          <a:xfrm>
            <a:off x="502920" y="1828800"/>
            <a:ext cx="11185855" cy="914400"/>
          </a:xfrm>
          <a:prstGeom prst="roundRect">
            <a:avLst>
              <a:gd name="adj" fmla="val 8000"/>
            </a:avLst>
          </a:prstGeom>
          <a:solidFill>
            <a:srgbClr val="0B1E3D"/>
          </a:solidFill>
          <a:ln/>
        </p:spPr>
      </p:sp>
      <p:sp>
        <p:nvSpPr>
          <p:cNvPr id="5" name="Text 3"/>
          <p:cNvSpPr/>
          <p:nvPr/>
        </p:nvSpPr>
        <p:spPr>
          <a:xfrm>
            <a:off x="777240" y="1828800"/>
            <a:ext cx="10637215" cy="914400"/>
          </a:xfrm>
          <a:prstGeom prst="rect">
            <a:avLst/>
          </a:prstGeom>
          <a:noFill/>
          <a:ln/>
        </p:spPr>
        <p:txBody>
          <a:bodyPr wrap="square" rtlCol="0" anchor="ctr"/>
          <a:lstStyle/>
          <a:p>
            <a:pPr marL="0" indent="0">
              <a:lnSpc>
                <a:spcPts val="2760"/>
              </a:lnSpc>
              <a:buNone/>
            </a:pPr>
            <a:r>
              <a:rPr lang="en-US" sz="2300" b="1" dirty="0">
                <a:solidFill>
                  <a:srgbClr val="B08D57"/>
                </a:solidFill>
                <a:latin typeface="Calibri" pitchFamily="34" charset="0"/>
                <a:ea typeface="Calibri" pitchFamily="34" charset="-122"/>
                <a:cs typeface="Calibri" pitchFamily="34" charset="-120"/>
              </a:rPr>
              <a:t>Formal definition:  </a:t>
            </a:r>
            <a:r>
              <a:rPr lang="en-US" sz="2300" dirty="0">
                <a:solidFill>
                  <a:srgbClr val="E7EBF3"/>
                </a:solidFill>
                <a:latin typeface="Calibri" pitchFamily="34" charset="0"/>
                <a:ea typeface="Calibri" pitchFamily="34" charset="-122"/>
                <a:cs typeface="Calibri" pitchFamily="34" charset="-120"/>
              </a:rPr>
              <a:t>an agent perceives its environment through sensors and acts upon that environment through actuators.</a:t>
            </a:r>
            <a:endParaRPr lang="en-US" sz="2300" dirty="0"/>
          </a:p>
        </p:txBody>
      </p:sp>
      <p:sp>
        <p:nvSpPr>
          <p:cNvPr id="6" name="Shape 4"/>
          <p:cNvSpPr/>
          <p:nvPr/>
        </p:nvSpPr>
        <p:spPr>
          <a:xfrm>
            <a:off x="502920" y="2880360"/>
            <a:ext cx="1944563" cy="731520"/>
          </a:xfrm>
          <a:prstGeom prst="roundRect">
            <a:avLst>
              <a:gd name="adj" fmla="val 10000"/>
            </a:avLst>
          </a:prstGeom>
          <a:solidFill>
            <a:srgbClr val="F3F5F8"/>
          </a:solidFill>
          <a:ln/>
        </p:spPr>
      </p:sp>
      <p:sp>
        <p:nvSpPr>
          <p:cNvPr id="7" name="Text 5"/>
          <p:cNvSpPr/>
          <p:nvPr/>
        </p:nvSpPr>
        <p:spPr>
          <a:xfrm>
            <a:off x="576072" y="2880360"/>
            <a:ext cx="1798259" cy="731520"/>
          </a:xfrm>
          <a:prstGeom prst="rect">
            <a:avLst/>
          </a:prstGeom>
          <a:noFill/>
          <a:ln/>
        </p:spPr>
        <p:txBody>
          <a:bodyPr wrap="square" rtlCol="0" anchor="ctr"/>
          <a:lstStyle/>
          <a:p>
            <a:pPr marL="0" indent="0" algn="ctr">
              <a:lnSpc>
                <a:spcPts val="2070"/>
              </a:lnSpc>
              <a:buNone/>
            </a:pPr>
            <a:r>
              <a:rPr lang="en-US" sz="1800" b="1" dirty="0">
                <a:solidFill>
                  <a:srgbClr val="0B1E3D"/>
                </a:solidFill>
                <a:latin typeface="Calibri" pitchFamily="34" charset="0"/>
                <a:ea typeface="Calibri" pitchFamily="34" charset="-122"/>
                <a:cs typeface="Calibri" pitchFamily="34" charset="-120"/>
              </a:rPr>
              <a:t>ENVIRONMENT</a:t>
            </a:r>
            <a:endParaRPr lang="en-US" sz="1800" dirty="0"/>
          </a:p>
        </p:txBody>
      </p:sp>
      <p:sp>
        <p:nvSpPr>
          <p:cNvPr id="8" name="Text 6"/>
          <p:cNvSpPr/>
          <p:nvPr/>
        </p:nvSpPr>
        <p:spPr>
          <a:xfrm>
            <a:off x="2447483" y="2880360"/>
            <a:ext cx="365760" cy="731520"/>
          </a:xfrm>
          <a:prstGeom prst="rect">
            <a:avLst/>
          </a:prstGeom>
          <a:noFill/>
          <a:ln/>
        </p:spPr>
        <p:txBody>
          <a:bodyPr wrap="square" rtlCol="0" anchor="ctr"/>
          <a:lstStyle/>
          <a:p>
            <a:pPr marL="0" indent="0" algn="ctr">
              <a:buNone/>
            </a:pPr>
            <a:r>
              <a:rPr lang="en-US" sz="2400" b="1" dirty="0">
                <a:solidFill>
                  <a:srgbClr val="0B1E3D"/>
                </a:solidFill>
                <a:latin typeface="Calibri" pitchFamily="34" charset="0"/>
                <a:ea typeface="Calibri" pitchFamily="34" charset="-122"/>
                <a:cs typeface="Calibri" pitchFamily="34" charset="-120"/>
              </a:rPr>
              <a:t>→</a:t>
            </a:r>
            <a:endParaRPr lang="en-US" sz="2400" dirty="0"/>
          </a:p>
        </p:txBody>
      </p:sp>
      <p:sp>
        <p:nvSpPr>
          <p:cNvPr id="9" name="Shape 7"/>
          <p:cNvSpPr/>
          <p:nvPr/>
        </p:nvSpPr>
        <p:spPr>
          <a:xfrm>
            <a:off x="2813243" y="2880360"/>
            <a:ext cx="1944563" cy="731520"/>
          </a:xfrm>
          <a:prstGeom prst="roundRect">
            <a:avLst>
              <a:gd name="adj" fmla="val 10000"/>
            </a:avLst>
          </a:prstGeom>
          <a:solidFill>
            <a:srgbClr val="F3F5F8"/>
          </a:solidFill>
          <a:ln/>
        </p:spPr>
      </p:sp>
      <p:sp>
        <p:nvSpPr>
          <p:cNvPr id="10" name="Text 8"/>
          <p:cNvSpPr/>
          <p:nvPr/>
        </p:nvSpPr>
        <p:spPr>
          <a:xfrm>
            <a:off x="2886395" y="2880360"/>
            <a:ext cx="1798259" cy="731520"/>
          </a:xfrm>
          <a:prstGeom prst="rect">
            <a:avLst/>
          </a:prstGeom>
          <a:noFill/>
          <a:ln/>
        </p:spPr>
        <p:txBody>
          <a:bodyPr wrap="square" rtlCol="0" anchor="ctr"/>
          <a:lstStyle/>
          <a:p>
            <a:pPr marL="0" indent="0" algn="ctr">
              <a:lnSpc>
                <a:spcPts val="2070"/>
              </a:lnSpc>
              <a:buNone/>
            </a:pPr>
            <a:r>
              <a:rPr lang="en-US" sz="1800" b="1" dirty="0">
                <a:solidFill>
                  <a:srgbClr val="0B1E3D"/>
                </a:solidFill>
                <a:latin typeface="Calibri" pitchFamily="34" charset="0"/>
                <a:ea typeface="Calibri" pitchFamily="34" charset="-122"/>
                <a:cs typeface="Calibri" pitchFamily="34" charset="-120"/>
              </a:rPr>
              <a:t>SENSORS</a:t>
            </a:r>
            <a:endParaRPr lang="en-US" sz="1800" dirty="0"/>
          </a:p>
        </p:txBody>
      </p:sp>
      <p:sp>
        <p:nvSpPr>
          <p:cNvPr id="11" name="Text 9"/>
          <p:cNvSpPr/>
          <p:nvPr/>
        </p:nvSpPr>
        <p:spPr>
          <a:xfrm>
            <a:off x="4757806" y="2880360"/>
            <a:ext cx="365760" cy="731520"/>
          </a:xfrm>
          <a:prstGeom prst="rect">
            <a:avLst/>
          </a:prstGeom>
          <a:noFill/>
          <a:ln/>
        </p:spPr>
        <p:txBody>
          <a:bodyPr wrap="square" rtlCol="0" anchor="ctr"/>
          <a:lstStyle/>
          <a:p>
            <a:pPr marL="0" indent="0" algn="ctr">
              <a:buNone/>
            </a:pPr>
            <a:r>
              <a:rPr lang="en-US" sz="2400" b="1" dirty="0">
                <a:solidFill>
                  <a:srgbClr val="0B1E3D"/>
                </a:solidFill>
                <a:latin typeface="Calibri" pitchFamily="34" charset="0"/>
                <a:ea typeface="Calibri" pitchFamily="34" charset="-122"/>
                <a:cs typeface="Calibri" pitchFamily="34" charset="-120"/>
              </a:rPr>
              <a:t>→</a:t>
            </a:r>
            <a:endParaRPr lang="en-US" sz="2400" dirty="0"/>
          </a:p>
        </p:txBody>
      </p:sp>
      <p:sp>
        <p:nvSpPr>
          <p:cNvPr id="12" name="Shape 10"/>
          <p:cNvSpPr/>
          <p:nvPr/>
        </p:nvSpPr>
        <p:spPr>
          <a:xfrm>
            <a:off x="5123566" y="2880360"/>
            <a:ext cx="1944563" cy="731520"/>
          </a:xfrm>
          <a:prstGeom prst="roundRect">
            <a:avLst>
              <a:gd name="adj" fmla="val 10000"/>
            </a:avLst>
          </a:prstGeom>
          <a:solidFill>
            <a:srgbClr val="F3F5F8"/>
          </a:solidFill>
          <a:ln/>
        </p:spPr>
      </p:sp>
      <p:sp>
        <p:nvSpPr>
          <p:cNvPr id="13" name="Text 11"/>
          <p:cNvSpPr/>
          <p:nvPr/>
        </p:nvSpPr>
        <p:spPr>
          <a:xfrm>
            <a:off x="5196718" y="2880360"/>
            <a:ext cx="1798259" cy="731520"/>
          </a:xfrm>
          <a:prstGeom prst="rect">
            <a:avLst/>
          </a:prstGeom>
          <a:noFill/>
          <a:ln/>
        </p:spPr>
        <p:txBody>
          <a:bodyPr wrap="square" rtlCol="0" anchor="ctr"/>
          <a:lstStyle/>
          <a:p>
            <a:pPr marL="0" indent="0" algn="ctr">
              <a:lnSpc>
                <a:spcPts val="2070"/>
              </a:lnSpc>
              <a:buNone/>
            </a:pPr>
            <a:r>
              <a:rPr lang="en-US" sz="1800" b="1" dirty="0">
                <a:solidFill>
                  <a:srgbClr val="0B1E3D"/>
                </a:solidFill>
                <a:latin typeface="Calibri" pitchFamily="34" charset="0"/>
                <a:ea typeface="Calibri" pitchFamily="34" charset="-122"/>
                <a:cs typeface="Calibri" pitchFamily="34" charset="-120"/>
              </a:rPr>
              <a:t>AGENT</a:t>
            </a:r>
            <a:endParaRPr lang="en-US" sz="1800" dirty="0"/>
          </a:p>
        </p:txBody>
      </p:sp>
      <p:sp>
        <p:nvSpPr>
          <p:cNvPr id="14" name="Text 12"/>
          <p:cNvSpPr/>
          <p:nvPr/>
        </p:nvSpPr>
        <p:spPr>
          <a:xfrm>
            <a:off x="7068129" y="2880360"/>
            <a:ext cx="365760" cy="731520"/>
          </a:xfrm>
          <a:prstGeom prst="rect">
            <a:avLst/>
          </a:prstGeom>
          <a:noFill/>
          <a:ln/>
        </p:spPr>
        <p:txBody>
          <a:bodyPr wrap="square" rtlCol="0" anchor="ctr"/>
          <a:lstStyle/>
          <a:p>
            <a:pPr marL="0" indent="0" algn="ctr">
              <a:buNone/>
            </a:pPr>
            <a:r>
              <a:rPr lang="en-US" sz="2400" b="1" dirty="0">
                <a:solidFill>
                  <a:srgbClr val="0B1E3D"/>
                </a:solidFill>
                <a:latin typeface="Calibri" pitchFamily="34" charset="0"/>
                <a:ea typeface="Calibri" pitchFamily="34" charset="-122"/>
                <a:cs typeface="Calibri" pitchFamily="34" charset="-120"/>
              </a:rPr>
              <a:t>→</a:t>
            </a:r>
            <a:endParaRPr lang="en-US" sz="2400" dirty="0"/>
          </a:p>
        </p:txBody>
      </p:sp>
      <p:sp>
        <p:nvSpPr>
          <p:cNvPr id="15" name="Shape 13"/>
          <p:cNvSpPr/>
          <p:nvPr/>
        </p:nvSpPr>
        <p:spPr>
          <a:xfrm>
            <a:off x="7433889" y="2880360"/>
            <a:ext cx="1944563" cy="731520"/>
          </a:xfrm>
          <a:prstGeom prst="roundRect">
            <a:avLst>
              <a:gd name="adj" fmla="val 10000"/>
            </a:avLst>
          </a:prstGeom>
          <a:solidFill>
            <a:srgbClr val="F3F5F8"/>
          </a:solidFill>
          <a:ln/>
        </p:spPr>
      </p:sp>
      <p:sp>
        <p:nvSpPr>
          <p:cNvPr id="16" name="Text 14"/>
          <p:cNvSpPr/>
          <p:nvPr/>
        </p:nvSpPr>
        <p:spPr>
          <a:xfrm>
            <a:off x="7507041" y="2880360"/>
            <a:ext cx="1798259" cy="731520"/>
          </a:xfrm>
          <a:prstGeom prst="rect">
            <a:avLst/>
          </a:prstGeom>
          <a:noFill/>
          <a:ln/>
        </p:spPr>
        <p:txBody>
          <a:bodyPr wrap="square" rtlCol="0" anchor="ctr"/>
          <a:lstStyle/>
          <a:p>
            <a:pPr marL="0" indent="0" algn="ctr">
              <a:lnSpc>
                <a:spcPts val="2070"/>
              </a:lnSpc>
              <a:buNone/>
            </a:pPr>
            <a:r>
              <a:rPr lang="en-US" sz="1800" b="1" dirty="0">
                <a:solidFill>
                  <a:srgbClr val="0B1E3D"/>
                </a:solidFill>
                <a:latin typeface="Calibri" pitchFamily="34" charset="0"/>
                <a:ea typeface="Calibri" pitchFamily="34" charset="-122"/>
                <a:cs typeface="Calibri" pitchFamily="34" charset="-120"/>
              </a:rPr>
              <a:t>ACTUATORS</a:t>
            </a:r>
            <a:endParaRPr lang="en-US" sz="1800" dirty="0"/>
          </a:p>
        </p:txBody>
      </p:sp>
      <p:sp>
        <p:nvSpPr>
          <p:cNvPr id="17" name="Text 15"/>
          <p:cNvSpPr/>
          <p:nvPr/>
        </p:nvSpPr>
        <p:spPr>
          <a:xfrm>
            <a:off x="9378452" y="2880360"/>
            <a:ext cx="365760" cy="731520"/>
          </a:xfrm>
          <a:prstGeom prst="rect">
            <a:avLst/>
          </a:prstGeom>
          <a:noFill/>
          <a:ln/>
        </p:spPr>
        <p:txBody>
          <a:bodyPr wrap="square" rtlCol="0" anchor="ctr"/>
          <a:lstStyle/>
          <a:p>
            <a:pPr marL="0" indent="0" algn="ctr">
              <a:buNone/>
            </a:pPr>
            <a:r>
              <a:rPr lang="en-US" sz="2400" b="1" dirty="0">
                <a:solidFill>
                  <a:srgbClr val="0B1E3D"/>
                </a:solidFill>
                <a:latin typeface="Calibri" pitchFamily="34" charset="0"/>
                <a:ea typeface="Calibri" pitchFamily="34" charset="-122"/>
                <a:cs typeface="Calibri" pitchFamily="34" charset="-120"/>
              </a:rPr>
              <a:t>→</a:t>
            </a:r>
            <a:endParaRPr lang="en-US" sz="2400" dirty="0"/>
          </a:p>
        </p:txBody>
      </p:sp>
      <p:sp>
        <p:nvSpPr>
          <p:cNvPr id="18" name="Shape 16"/>
          <p:cNvSpPr/>
          <p:nvPr/>
        </p:nvSpPr>
        <p:spPr>
          <a:xfrm>
            <a:off x="9744212" y="2880360"/>
            <a:ext cx="1944563" cy="731520"/>
          </a:xfrm>
          <a:prstGeom prst="roundRect">
            <a:avLst>
              <a:gd name="adj" fmla="val 10000"/>
            </a:avLst>
          </a:prstGeom>
          <a:solidFill>
            <a:srgbClr val="F3F5F8"/>
          </a:solidFill>
          <a:ln/>
        </p:spPr>
      </p:sp>
      <p:sp>
        <p:nvSpPr>
          <p:cNvPr id="19" name="Text 17"/>
          <p:cNvSpPr/>
          <p:nvPr/>
        </p:nvSpPr>
        <p:spPr>
          <a:xfrm>
            <a:off x="9817364" y="2880360"/>
            <a:ext cx="1798259" cy="731520"/>
          </a:xfrm>
          <a:prstGeom prst="rect">
            <a:avLst/>
          </a:prstGeom>
          <a:noFill/>
          <a:ln/>
        </p:spPr>
        <p:txBody>
          <a:bodyPr wrap="square" rtlCol="0" anchor="ctr"/>
          <a:lstStyle/>
          <a:p>
            <a:pPr marL="0" indent="0" algn="ctr">
              <a:lnSpc>
                <a:spcPts val="2070"/>
              </a:lnSpc>
              <a:buNone/>
            </a:pPr>
            <a:r>
              <a:rPr lang="en-US" sz="1800" b="1" dirty="0">
                <a:solidFill>
                  <a:srgbClr val="0B1E3D"/>
                </a:solidFill>
                <a:latin typeface="Calibri" pitchFamily="34" charset="0"/>
                <a:ea typeface="Calibri" pitchFamily="34" charset="-122"/>
                <a:cs typeface="Calibri" pitchFamily="34" charset="-120"/>
              </a:rPr>
              <a:t>ENVIRONMENT</a:t>
            </a:r>
            <a:endParaRPr lang="en-US" sz="1800" dirty="0"/>
          </a:p>
        </p:txBody>
      </p:sp>
      <p:sp>
        <p:nvSpPr>
          <p:cNvPr id="20" name="Shape 18"/>
          <p:cNvSpPr/>
          <p:nvPr/>
        </p:nvSpPr>
        <p:spPr>
          <a:xfrm>
            <a:off x="502920" y="3794760"/>
            <a:ext cx="5432908" cy="2468880"/>
          </a:xfrm>
          <a:prstGeom prst="roundRect">
            <a:avLst>
              <a:gd name="adj" fmla="val 2963"/>
            </a:avLst>
          </a:prstGeom>
          <a:solidFill>
            <a:srgbClr val="F3F5F8"/>
          </a:solidFill>
          <a:ln w="12700">
            <a:solidFill>
              <a:srgbClr val="D8DCE3"/>
            </a:solidFill>
            <a:prstDash val="solid"/>
          </a:ln>
        </p:spPr>
      </p:sp>
      <p:sp>
        <p:nvSpPr>
          <p:cNvPr id="21" name="Text 19"/>
          <p:cNvSpPr/>
          <p:nvPr/>
        </p:nvSpPr>
        <p:spPr>
          <a:xfrm>
            <a:off x="758952" y="3959352"/>
            <a:ext cx="4920844" cy="502920"/>
          </a:xfrm>
          <a:prstGeom prst="rect">
            <a:avLst/>
          </a:prstGeom>
          <a:noFill/>
          <a:ln/>
        </p:spPr>
        <p:txBody>
          <a:bodyPr wrap="square" rtlCol="0" anchor="ctr"/>
          <a:lstStyle/>
          <a:p>
            <a:pPr marL="0" indent="0">
              <a:buNone/>
            </a:pPr>
            <a:r>
              <a:rPr lang="en-US" sz="2100" b="1" dirty="0">
                <a:solidFill>
                  <a:srgbClr val="0B1E3D"/>
                </a:solidFill>
                <a:latin typeface="Cambria" pitchFamily="34" charset="0"/>
                <a:ea typeface="Cambria" pitchFamily="34" charset="-122"/>
                <a:cs typeface="Cambria" pitchFamily="34" charset="-120"/>
              </a:rPr>
              <a:t>Human</a:t>
            </a:r>
            <a:endParaRPr lang="en-US" sz="2100" dirty="0"/>
          </a:p>
        </p:txBody>
      </p:sp>
      <p:sp>
        <p:nvSpPr>
          <p:cNvPr id="22" name="Text 20"/>
          <p:cNvSpPr/>
          <p:nvPr/>
        </p:nvSpPr>
        <p:spPr>
          <a:xfrm>
            <a:off x="758952" y="4480560"/>
            <a:ext cx="4920844" cy="1645920"/>
          </a:xfrm>
          <a:prstGeom prst="rect">
            <a:avLst/>
          </a:prstGeom>
          <a:noFill/>
          <a:ln/>
        </p:spPr>
        <p:txBody>
          <a:bodyPr wrap="square" lIns="0" tIns="0" rIns="0" bIns="0" rtlCol="0" anchor="t"/>
          <a:lstStyle/>
          <a:p>
            <a:pPr marL="228600" indent="-228600">
              <a:buSzPct val="100000"/>
              <a:buChar char="▪"/>
            </a:pPr>
            <a:r>
              <a:rPr lang="en-US" sz="1900" b="1" dirty="0">
                <a:solidFill>
                  <a:srgbClr val="1A1F2B"/>
                </a:solidFill>
                <a:latin typeface="Calibri" pitchFamily="34" charset="0"/>
                <a:ea typeface="Calibri" pitchFamily="34" charset="-122"/>
                <a:cs typeface="Calibri" pitchFamily="34" charset="-120"/>
              </a:rPr>
              <a:t>Sensors = </a:t>
            </a:r>
            <a:r>
              <a:rPr lang="en-US" sz="1900" dirty="0">
                <a:solidFill>
                  <a:srgbClr val="1A1F2B"/>
                </a:solidFill>
                <a:latin typeface="Calibri" pitchFamily="34" charset="0"/>
                <a:ea typeface="Calibri" pitchFamily="34" charset="-122"/>
                <a:cs typeface="Calibri" pitchFamily="34" charset="-120"/>
              </a:rPr>
              <a:t>eyes, ears, skin</a:t>
            </a:r>
            <a:endParaRPr lang="en-US" sz="1900" dirty="0"/>
          </a:p>
          <a:p>
            <a:pPr marL="228600" indent="-228600">
              <a:buSzPct val="100000"/>
              <a:buChar char="▪"/>
            </a:pPr>
            <a:r>
              <a:rPr lang="en-US" sz="1900" b="1" dirty="0">
                <a:solidFill>
                  <a:srgbClr val="1A1F2B"/>
                </a:solidFill>
                <a:latin typeface="Calibri" pitchFamily="34" charset="0"/>
                <a:ea typeface="Calibri" pitchFamily="34" charset="-122"/>
                <a:cs typeface="Calibri" pitchFamily="34" charset="-120"/>
              </a:rPr>
              <a:t>Actuators = </a:t>
            </a:r>
            <a:r>
              <a:rPr lang="en-US" sz="1900" dirty="0">
                <a:solidFill>
                  <a:srgbClr val="1A1F2B"/>
                </a:solidFill>
                <a:latin typeface="Calibri" pitchFamily="34" charset="0"/>
                <a:ea typeface="Calibri" pitchFamily="34" charset="-122"/>
                <a:cs typeface="Calibri" pitchFamily="34" charset="-120"/>
              </a:rPr>
              <a:t>hands, legs, speech</a:t>
            </a:r>
            <a:endParaRPr lang="en-US" sz="1900" dirty="0"/>
          </a:p>
        </p:txBody>
      </p:sp>
      <p:sp>
        <p:nvSpPr>
          <p:cNvPr id="23" name="Shape 21"/>
          <p:cNvSpPr/>
          <p:nvPr/>
        </p:nvSpPr>
        <p:spPr>
          <a:xfrm>
            <a:off x="6255868" y="3794760"/>
            <a:ext cx="5432908" cy="2468880"/>
          </a:xfrm>
          <a:prstGeom prst="roundRect">
            <a:avLst>
              <a:gd name="adj" fmla="val 2963"/>
            </a:avLst>
          </a:prstGeom>
          <a:solidFill>
            <a:srgbClr val="0B1E3D"/>
          </a:solidFill>
          <a:ln/>
        </p:spPr>
      </p:sp>
      <p:sp>
        <p:nvSpPr>
          <p:cNvPr id="24" name="Text 22"/>
          <p:cNvSpPr/>
          <p:nvPr/>
        </p:nvSpPr>
        <p:spPr>
          <a:xfrm>
            <a:off x="6511900" y="3959352"/>
            <a:ext cx="4920844" cy="502920"/>
          </a:xfrm>
          <a:prstGeom prst="rect">
            <a:avLst/>
          </a:prstGeom>
          <a:noFill/>
          <a:ln/>
        </p:spPr>
        <p:txBody>
          <a:bodyPr wrap="square" rtlCol="0" anchor="ctr"/>
          <a:lstStyle/>
          <a:p>
            <a:pPr marL="0" indent="0">
              <a:buNone/>
            </a:pPr>
            <a:r>
              <a:rPr lang="en-US" sz="2100" b="1" dirty="0">
                <a:solidFill>
                  <a:srgbClr val="B08D57"/>
                </a:solidFill>
                <a:latin typeface="Cambria" pitchFamily="34" charset="0"/>
                <a:ea typeface="Cambria" pitchFamily="34" charset="-122"/>
                <a:cs typeface="Cambria" pitchFamily="34" charset="-120"/>
              </a:rPr>
              <a:t>Autonomous Car</a:t>
            </a:r>
            <a:endParaRPr lang="en-US" sz="2100" dirty="0"/>
          </a:p>
        </p:txBody>
      </p:sp>
      <p:sp>
        <p:nvSpPr>
          <p:cNvPr id="25" name="Text 23"/>
          <p:cNvSpPr/>
          <p:nvPr/>
        </p:nvSpPr>
        <p:spPr>
          <a:xfrm>
            <a:off x="6511900" y="4480560"/>
            <a:ext cx="4920844" cy="1645920"/>
          </a:xfrm>
          <a:prstGeom prst="rect">
            <a:avLst/>
          </a:prstGeom>
          <a:noFill/>
          <a:ln/>
        </p:spPr>
        <p:txBody>
          <a:bodyPr wrap="square" lIns="0" tIns="0" rIns="0" bIns="0" rtlCol="0" anchor="t"/>
          <a:lstStyle/>
          <a:p>
            <a:pPr marL="228600" indent="-228600">
              <a:buSzPct val="100000"/>
              <a:buChar char="▪"/>
            </a:pPr>
            <a:r>
              <a:rPr lang="en-US" sz="1900" b="1" dirty="0">
                <a:solidFill>
                  <a:srgbClr val="E7EBF3"/>
                </a:solidFill>
                <a:latin typeface="Calibri" pitchFamily="34" charset="0"/>
                <a:ea typeface="Calibri" pitchFamily="34" charset="-122"/>
                <a:cs typeface="Calibri" pitchFamily="34" charset="-120"/>
              </a:rPr>
              <a:t>Sensors = </a:t>
            </a:r>
            <a:r>
              <a:rPr lang="en-US" sz="1900" dirty="0">
                <a:solidFill>
                  <a:srgbClr val="E7EBF3"/>
                </a:solidFill>
                <a:latin typeface="Calibri" pitchFamily="34" charset="0"/>
                <a:ea typeface="Calibri" pitchFamily="34" charset="-122"/>
                <a:cs typeface="Calibri" pitchFamily="34" charset="-120"/>
              </a:rPr>
              <a:t>cameras, LiDAR, radar, GPS</a:t>
            </a:r>
            <a:endParaRPr lang="en-US" sz="1900" dirty="0"/>
          </a:p>
          <a:p>
            <a:pPr marL="228600" indent="-228600">
              <a:buSzPct val="100000"/>
              <a:buChar char="▪"/>
            </a:pPr>
            <a:r>
              <a:rPr lang="en-US" sz="1900" b="1" dirty="0">
                <a:solidFill>
                  <a:srgbClr val="E7EBF3"/>
                </a:solidFill>
                <a:latin typeface="Calibri" pitchFamily="34" charset="0"/>
                <a:ea typeface="Calibri" pitchFamily="34" charset="-122"/>
                <a:cs typeface="Calibri" pitchFamily="34" charset="-120"/>
              </a:rPr>
              <a:t>Actuators = </a:t>
            </a:r>
            <a:r>
              <a:rPr lang="en-US" sz="1900" dirty="0">
                <a:solidFill>
                  <a:srgbClr val="E7EBF3"/>
                </a:solidFill>
                <a:latin typeface="Calibri" pitchFamily="34" charset="0"/>
                <a:ea typeface="Calibri" pitchFamily="34" charset="-122"/>
                <a:cs typeface="Calibri" pitchFamily="34" charset="-120"/>
              </a:rPr>
              <a:t>steering, brakes, accelerator</a:t>
            </a:r>
            <a:endParaRPr lang="en-US" sz="1900" dirty="0"/>
          </a:p>
        </p:txBody>
      </p:sp>
      <p:sp>
        <p:nvSpPr>
          <p:cNvPr id="26" name="Text 24"/>
          <p:cNvSpPr/>
          <p:nvPr/>
        </p:nvSpPr>
        <p:spPr>
          <a:xfrm>
            <a:off x="502920" y="6446520"/>
            <a:ext cx="8229600" cy="320040"/>
          </a:xfrm>
          <a:prstGeom prst="rect">
            <a:avLst/>
          </a:prstGeom>
          <a:noFill/>
          <a:ln/>
        </p:spPr>
        <p:txBody>
          <a:bodyPr wrap="square" rtlCol="0" anchor="ctr"/>
          <a:lstStyle/>
          <a:p>
            <a:pPr marL="0" indent="0">
              <a:buNone/>
            </a:pPr>
            <a:r>
              <a:rPr lang="en-US" sz="1400" i="1" dirty="0">
                <a:solidFill>
                  <a:srgbClr val="5A6478"/>
                </a:solidFill>
                <a:latin typeface="Calibri" pitchFamily="34" charset="0"/>
                <a:ea typeface="Calibri" pitchFamily="34" charset="-122"/>
                <a:cs typeface="Calibri" pitchFamily="34" charset="-120"/>
              </a:rPr>
              <a:t>AI — Intelligent Agents  |  B. Intelligent Agents</a:t>
            </a:r>
            <a:endParaRPr lang="en-US" sz="1400" dirty="0"/>
          </a:p>
        </p:txBody>
      </p:sp>
      <p:sp>
        <p:nvSpPr>
          <p:cNvPr id="27" name="Text 25"/>
          <p:cNvSpPr/>
          <p:nvPr/>
        </p:nvSpPr>
        <p:spPr>
          <a:xfrm>
            <a:off x="10500055" y="6446520"/>
            <a:ext cx="1188720" cy="320040"/>
          </a:xfrm>
          <a:prstGeom prst="rect">
            <a:avLst/>
          </a:prstGeom>
          <a:noFill/>
          <a:ln/>
        </p:spPr>
        <p:txBody>
          <a:bodyPr wrap="square" rtlCol="0" anchor="ctr"/>
          <a:lstStyle/>
          <a:p>
            <a:pPr marL="0" indent="0" algn="r">
              <a:buNone/>
            </a:pPr>
            <a:r>
              <a:rPr lang="en-US" sz="1400" dirty="0">
                <a:solidFill>
                  <a:srgbClr val="5A6478"/>
                </a:solidFill>
                <a:latin typeface="Calibri" pitchFamily="34" charset="0"/>
                <a:ea typeface="Calibri" pitchFamily="34" charset="-122"/>
                <a:cs typeface="Calibri" pitchFamily="34" charset="-120"/>
              </a:rPr>
              <a:t>4 / 40</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85855" cy="347472"/>
          </a:xfrm>
          <a:prstGeom prst="rect">
            <a:avLst/>
          </a:prstGeom>
          <a:noFill/>
          <a:ln/>
        </p:spPr>
        <p:txBody>
          <a:bodyPr wrap="square" rtlCol="0" anchor="ctr"/>
          <a:lstStyle/>
          <a:p>
            <a:pPr marL="0" indent="0">
              <a:buNone/>
            </a:pPr>
            <a:r>
              <a:rPr lang="en-US" sz="1500" b="1" kern="0" spc="150" dirty="0">
                <a:solidFill>
                  <a:srgbClr val="B08D57"/>
                </a:solidFill>
                <a:latin typeface="Calibri" pitchFamily="34" charset="0"/>
                <a:ea typeface="Calibri" pitchFamily="34" charset="-122"/>
                <a:cs typeface="Calibri" pitchFamily="34" charset="-120"/>
              </a:rPr>
              <a:t>B. INTELLIGENT AGENTS</a:t>
            </a:r>
            <a:endParaRPr lang="en-US" sz="1500" dirty="0"/>
          </a:p>
        </p:txBody>
      </p:sp>
      <p:sp>
        <p:nvSpPr>
          <p:cNvPr id="3" name="Text 1"/>
          <p:cNvSpPr txBox="1"/>
          <p:nvPr/>
        </p:nvSpPr>
        <p:spPr>
          <a:xfrm>
            <a:off x="502920" y="676656"/>
            <a:ext cx="11185855" cy="1417320"/>
          </a:xfrm>
          <a:prstGeom prst="rect">
            <a:avLst/>
          </a:prstGeom>
          <a:noFill/>
          <a:ln/>
        </p:spPr>
        <p:txBody>
          <a:bodyPr wrap="square" rtlCol="0" anchor="t"/>
          <a:lstStyle/>
          <a:p>
            <a:pPr marL="0" indent="0">
              <a:lnSpc>
                <a:spcPts val="3584"/>
              </a:lnSpc>
              <a:buNone/>
            </a:pPr>
            <a:r>
              <a:rPr lang="en-US" sz="3200" b="1" dirty="0">
                <a:solidFill>
                  <a:srgbClr val="0B1E3D"/>
                </a:solidFill>
                <a:latin typeface="Cambria" pitchFamily="34" charset="0"/>
                <a:ea typeface="Cambria" pitchFamily="34" charset="-122"/>
                <a:cs typeface="Cambria" pitchFamily="34" charset="-120"/>
              </a:rPr>
              <a:t>Agent–Environment Interaction</a:t>
            </a:r>
            <a:endParaRPr lang="en-US" sz="3200" dirty="0"/>
          </a:p>
        </p:txBody>
      </p:sp>
      <p:sp>
        <p:nvSpPr>
          <p:cNvPr id="4" name="Shape 2"/>
          <p:cNvSpPr/>
          <p:nvPr/>
        </p:nvSpPr>
        <p:spPr>
          <a:xfrm>
            <a:off x="502920" y="1828800"/>
            <a:ext cx="2453564" cy="777240"/>
          </a:xfrm>
          <a:prstGeom prst="roundRect">
            <a:avLst>
              <a:gd name="adj" fmla="val 9412"/>
            </a:avLst>
          </a:prstGeom>
          <a:solidFill>
            <a:srgbClr val="F3F5F8"/>
          </a:solidFill>
          <a:ln/>
        </p:spPr>
      </p:sp>
      <p:sp>
        <p:nvSpPr>
          <p:cNvPr id="5" name="Text 3"/>
          <p:cNvSpPr/>
          <p:nvPr/>
        </p:nvSpPr>
        <p:spPr>
          <a:xfrm>
            <a:off x="576072" y="1828800"/>
            <a:ext cx="2307260" cy="777240"/>
          </a:xfrm>
          <a:prstGeom prst="rect">
            <a:avLst/>
          </a:prstGeom>
          <a:noFill/>
          <a:ln/>
        </p:spPr>
        <p:txBody>
          <a:bodyPr wrap="square" rtlCol="0" anchor="ctr"/>
          <a:lstStyle/>
          <a:p>
            <a:pPr marL="0" indent="0" algn="ctr">
              <a:lnSpc>
                <a:spcPts val="2070"/>
              </a:lnSpc>
              <a:buNone/>
            </a:pPr>
            <a:r>
              <a:rPr lang="en-US" sz="1800" b="1" dirty="0">
                <a:solidFill>
                  <a:srgbClr val="0B1E3D"/>
                </a:solidFill>
                <a:latin typeface="Calibri" pitchFamily="34" charset="0"/>
                <a:ea typeface="Calibri" pitchFamily="34" charset="-122"/>
                <a:cs typeface="Calibri" pitchFamily="34" charset="-120"/>
              </a:rPr>
              <a:t>Environment</a:t>
            </a:r>
            <a:endParaRPr lang="en-US" sz="1800" dirty="0"/>
          </a:p>
        </p:txBody>
      </p:sp>
      <p:sp>
        <p:nvSpPr>
          <p:cNvPr id="6" name="Text 4"/>
          <p:cNvSpPr/>
          <p:nvPr/>
        </p:nvSpPr>
        <p:spPr>
          <a:xfrm>
            <a:off x="2956484" y="1828800"/>
            <a:ext cx="457200" cy="777240"/>
          </a:xfrm>
          <a:prstGeom prst="rect">
            <a:avLst/>
          </a:prstGeom>
          <a:noFill/>
          <a:ln/>
        </p:spPr>
        <p:txBody>
          <a:bodyPr wrap="square" rtlCol="0" anchor="ctr"/>
          <a:lstStyle/>
          <a:p>
            <a:pPr marL="0" indent="0" algn="ctr">
              <a:buNone/>
            </a:pPr>
            <a:r>
              <a:rPr lang="en-US" sz="2400" b="1" dirty="0">
                <a:solidFill>
                  <a:srgbClr val="0B1E3D"/>
                </a:solidFill>
                <a:latin typeface="Calibri" pitchFamily="34" charset="0"/>
                <a:ea typeface="Calibri" pitchFamily="34" charset="-122"/>
                <a:cs typeface="Calibri" pitchFamily="34" charset="-120"/>
              </a:rPr>
              <a:t>→</a:t>
            </a:r>
            <a:endParaRPr lang="en-US" sz="2400" dirty="0"/>
          </a:p>
        </p:txBody>
      </p:sp>
      <p:sp>
        <p:nvSpPr>
          <p:cNvPr id="7" name="Shape 5"/>
          <p:cNvSpPr/>
          <p:nvPr/>
        </p:nvSpPr>
        <p:spPr>
          <a:xfrm>
            <a:off x="3413684" y="1828800"/>
            <a:ext cx="2453564" cy="777240"/>
          </a:xfrm>
          <a:prstGeom prst="roundRect">
            <a:avLst>
              <a:gd name="adj" fmla="val 9412"/>
            </a:avLst>
          </a:prstGeom>
          <a:solidFill>
            <a:srgbClr val="F3F5F8"/>
          </a:solidFill>
          <a:ln/>
        </p:spPr>
      </p:sp>
      <p:sp>
        <p:nvSpPr>
          <p:cNvPr id="8" name="Text 6"/>
          <p:cNvSpPr/>
          <p:nvPr/>
        </p:nvSpPr>
        <p:spPr>
          <a:xfrm>
            <a:off x="3486836" y="1828800"/>
            <a:ext cx="2307260" cy="777240"/>
          </a:xfrm>
          <a:prstGeom prst="rect">
            <a:avLst/>
          </a:prstGeom>
          <a:noFill/>
          <a:ln/>
        </p:spPr>
        <p:txBody>
          <a:bodyPr wrap="square" rtlCol="0" anchor="ctr"/>
          <a:lstStyle/>
          <a:p>
            <a:pPr marL="0" indent="0" algn="ctr">
              <a:lnSpc>
                <a:spcPts val="2070"/>
              </a:lnSpc>
              <a:buNone/>
            </a:pPr>
            <a:r>
              <a:rPr lang="en-US" sz="1800" b="1" dirty="0">
                <a:solidFill>
                  <a:srgbClr val="0B1E3D"/>
                </a:solidFill>
                <a:latin typeface="Calibri" pitchFamily="34" charset="0"/>
                <a:ea typeface="Calibri" pitchFamily="34" charset="-122"/>
                <a:cs typeface="Calibri" pitchFamily="34" charset="-120"/>
              </a:rPr>
              <a:t>Percept</a:t>
            </a:r>
            <a:endParaRPr lang="en-US" sz="1800" dirty="0"/>
          </a:p>
        </p:txBody>
      </p:sp>
      <p:sp>
        <p:nvSpPr>
          <p:cNvPr id="9" name="Text 7"/>
          <p:cNvSpPr/>
          <p:nvPr/>
        </p:nvSpPr>
        <p:spPr>
          <a:xfrm>
            <a:off x="5867248" y="1828800"/>
            <a:ext cx="457200" cy="777240"/>
          </a:xfrm>
          <a:prstGeom prst="rect">
            <a:avLst/>
          </a:prstGeom>
          <a:noFill/>
          <a:ln/>
        </p:spPr>
        <p:txBody>
          <a:bodyPr wrap="square" rtlCol="0" anchor="ctr"/>
          <a:lstStyle/>
          <a:p>
            <a:pPr marL="0" indent="0" algn="ctr">
              <a:buNone/>
            </a:pPr>
            <a:r>
              <a:rPr lang="en-US" sz="2400" b="1" dirty="0">
                <a:solidFill>
                  <a:srgbClr val="0B1E3D"/>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6324448" y="1828800"/>
            <a:ext cx="2453564" cy="777240"/>
          </a:xfrm>
          <a:prstGeom prst="roundRect">
            <a:avLst>
              <a:gd name="adj" fmla="val 9412"/>
            </a:avLst>
          </a:prstGeom>
          <a:solidFill>
            <a:srgbClr val="F3F5F8"/>
          </a:solidFill>
          <a:ln/>
        </p:spPr>
      </p:sp>
      <p:sp>
        <p:nvSpPr>
          <p:cNvPr id="11" name="Text 9"/>
          <p:cNvSpPr/>
          <p:nvPr/>
        </p:nvSpPr>
        <p:spPr>
          <a:xfrm>
            <a:off x="6397600" y="1828800"/>
            <a:ext cx="2307260" cy="777240"/>
          </a:xfrm>
          <a:prstGeom prst="rect">
            <a:avLst/>
          </a:prstGeom>
          <a:noFill/>
          <a:ln/>
        </p:spPr>
        <p:txBody>
          <a:bodyPr wrap="square" rtlCol="0" anchor="ctr"/>
          <a:lstStyle/>
          <a:p>
            <a:pPr marL="0" indent="0" algn="ctr">
              <a:lnSpc>
                <a:spcPts val="2070"/>
              </a:lnSpc>
              <a:buNone/>
            </a:pPr>
            <a:r>
              <a:rPr lang="en-US" sz="1800" b="1" dirty="0">
                <a:solidFill>
                  <a:srgbClr val="0B1E3D"/>
                </a:solidFill>
                <a:latin typeface="Calibri" pitchFamily="34" charset="0"/>
                <a:ea typeface="Calibri" pitchFamily="34" charset="-122"/>
                <a:cs typeface="Calibri" pitchFamily="34" charset="-120"/>
              </a:rPr>
              <a:t>Agent</a:t>
            </a:r>
            <a:endParaRPr lang="en-US" sz="1800" dirty="0"/>
          </a:p>
        </p:txBody>
      </p:sp>
      <p:sp>
        <p:nvSpPr>
          <p:cNvPr id="12" name="Text 10"/>
          <p:cNvSpPr/>
          <p:nvPr/>
        </p:nvSpPr>
        <p:spPr>
          <a:xfrm>
            <a:off x="8778011" y="1828800"/>
            <a:ext cx="457200" cy="777240"/>
          </a:xfrm>
          <a:prstGeom prst="rect">
            <a:avLst/>
          </a:prstGeom>
          <a:noFill/>
          <a:ln/>
        </p:spPr>
        <p:txBody>
          <a:bodyPr wrap="square" rtlCol="0" anchor="ctr"/>
          <a:lstStyle/>
          <a:p>
            <a:pPr marL="0" indent="0" algn="ctr">
              <a:buNone/>
            </a:pPr>
            <a:r>
              <a:rPr lang="en-US" sz="2400" b="1" dirty="0">
                <a:solidFill>
                  <a:srgbClr val="0B1E3D"/>
                </a:solidFill>
                <a:latin typeface="Calibri" pitchFamily="34" charset="0"/>
                <a:ea typeface="Calibri" pitchFamily="34" charset="-122"/>
                <a:cs typeface="Calibri" pitchFamily="34" charset="-120"/>
              </a:rPr>
              <a:t>→</a:t>
            </a:r>
            <a:endParaRPr lang="en-US" sz="2400" dirty="0"/>
          </a:p>
        </p:txBody>
      </p:sp>
      <p:sp>
        <p:nvSpPr>
          <p:cNvPr id="13" name="Shape 11"/>
          <p:cNvSpPr/>
          <p:nvPr/>
        </p:nvSpPr>
        <p:spPr>
          <a:xfrm>
            <a:off x="9235211" y="1828800"/>
            <a:ext cx="2453564" cy="777240"/>
          </a:xfrm>
          <a:prstGeom prst="roundRect">
            <a:avLst>
              <a:gd name="adj" fmla="val 9412"/>
            </a:avLst>
          </a:prstGeom>
          <a:solidFill>
            <a:srgbClr val="F3F5F8"/>
          </a:solidFill>
          <a:ln/>
        </p:spPr>
      </p:sp>
      <p:sp>
        <p:nvSpPr>
          <p:cNvPr id="14" name="Text 12"/>
          <p:cNvSpPr/>
          <p:nvPr/>
        </p:nvSpPr>
        <p:spPr>
          <a:xfrm>
            <a:off x="9308363" y="1828800"/>
            <a:ext cx="2307260" cy="777240"/>
          </a:xfrm>
          <a:prstGeom prst="rect">
            <a:avLst/>
          </a:prstGeom>
          <a:noFill/>
          <a:ln/>
        </p:spPr>
        <p:txBody>
          <a:bodyPr wrap="square" rtlCol="0" anchor="ctr"/>
          <a:lstStyle/>
          <a:p>
            <a:pPr marL="0" indent="0" algn="ctr">
              <a:lnSpc>
                <a:spcPts val="2070"/>
              </a:lnSpc>
              <a:buNone/>
            </a:pPr>
            <a:r>
              <a:rPr lang="en-US" sz="1800" b="1" dirty="0">
                <a:solidFill>
                  <a:srgbClr val="0B1E3D"/>
                </a:solidFill>
                <a:latin typeface="Calibri" pitchFamily="34" charset="0"/>
                <a:ea typeface="Calibri" pitchFamily="34" charset="-122"/>
                <a:cs typeface="Calibri" pitchFamily="34" charset="-120"/>
              </a:rPr>
              <a:t>Action</a:t>
            </a:r>
            <a:endParaRPr lang="en-US" sz="1800" dirty="0"/>
          </a:p>
        </p:txBody>
      </p:sp>
      <p:sp>
        <p:nvSpPr>
          <p:cNvPr id="15" name="Text 13"/>
          <p:cNvSpPr/>
          <p:nvPr/>
        </p:nvSpPr>
        <p:spPr>
          <a:xfrm>
            <a:off x="502920" y="2697480"/>
            <a:ext cx="11185855" cy="365760"/>
          </a:xfrm>
          <a:prstGeom prst="rect">
            <a:avLst/>
          </a:prstGeom>
          <a:noFill/>
          <a:ln/>
        </p:spPr>
        <p:txBody>
          <a:bodyPr wrap="square" rtlCol="0" anchor="ctr"/>
          <a:lstStyle/>
          <a:p>
            <a:pPr marL="0" indent="0" algn="ctr">
              <a:buNone/>
            </a:pPr>
            <a:r>
              <a:rPr lang="en-US" sz="1800" i="1" dirty="0">
                <a:solidFill>
                  <a:srgbClr val="5A6478"/>
                </a:solidFill>
                <a:latin typeface="Calibri" pitchFamily="34" charset="0"/>
                <a:ea typeface="Calibri" pitchFamily="34" charset="-122"/>
                <a:cs typeface="Calibri" pitchFamily="34" charset="-120"/>
              </a:rPr>
              <a:t>...and the cycle repeats: the changed environment produces a new percept, prompting a new action.</a:t>
            </a:r>
            <a:endParaRPr lang="en-US" sz="1800" dirty="0"/>
          </a:p>
        </p:txBody>
      </p:sp>
      <p:sp>
        <p:nvSpPr>
          <p:cNvPr id="16" name="Text 14"/>
          <p:cNvSpPr/>
          <p:nvPr/>
        </p:nvSpPr>
        <p:spPr>
          <a:xfrm>
            <a:off x="502920" y="3246120"/>
            <a:ext cx="11185855" cy="1965960"/>
          </a:xfrm>
          <a:prstGeom prst="rect">
            <a:avLst/>
          </a:prstGeom>
          <a:noFill/>
          <a:ln/>
        </p:spPr>
        <p:txBody>
          <a:bodyPr wrap="square" lIns="0" tIns="0" rIns="0" bIns="0" rtlCol="0" anchor="t"/>
          <a:lstStyle/>
          <a:p>
            <a:pPr marL="228600" indent="-228600">
              <a:buSzPct val="100000"/>
              <a:buChar char="▪"/>
            </a:pPr>
            <a:r>
              <a:rPr lang="en-US" sz="2000" b="1" dirty="0">
                <a:solidFill>
                  <a:srgbClr val="0B1E3D"/>
                </a:solidFill>
                <a:latin typeface="Calibri" pitchFamily="34" charset="0"/>
                <a:ea typeface="Calibri" pitchFamily="34" charset="-122"/>
                <a:cs typeface="Calibri" pitchFamily="34" charset="-120"/>
              </a:rPr>
              <a:t>Percept — </a:t>
            </a:r>
            <a:r>
              <a:rPr lang="en-US" sz="2000" dirty="0">
                <a:solidFill>
                  <a:srgbClr val="1A1F2B"/>
                </a:solidFill>
                <a:latin typeface="Calibri" pitchFamily="34" charset="0"/>
                <a:ea typeface="Calibri" pitchFamily="34" charset="-122"/>
                <a:cs typeface="Calibri" pitchFamily="34" charset="-120"/>
              </a:rPr>
              <a:t>what the agent senses at one instant.</a:t>
            </a:r>
            <a:endParaRPr lang="en-US" sz="2000" dirty="0"/>
          </a:p>
          <a:p>
            <a:pPr marL="228600" indent="-228600">
              <a:buSzPct val="100000"/>
              <a:buChar char="▪"/>
            </a:pPr>
            <a:r>
              <a:rPr lang="en-US" sz="2000" b="1" dirty="0">
                <a:solidFill>
                  <a:srgbClr val="0B1E3D"/>
                </a:solidFill>
                <a:latin typeface="Calibri" pitchFamily="34" charset="0"/>
                <a:ea typeface="Calibri" pitchFamily="34" charset="-122"/>
                <a:cs typeface="Calibri" pitchFamily="34" charset="-120"/>
              </a:rPr>
              <a:t>Percept sequence — </a:t>
            </a:r>
            <a:r>
              <a:rPr lang="en-US" sz="2000" dirty="0">
                <a:solidFill>
                  <a:srgbClr val="1A1F2B"/>
                </a:solidFill>
                <a:latin typeface="Calibri" pitchFamily="34" charset="0"/>
                <a:ea typeface="Calibri" pitchFamily="34" charset="-122"/>
                <a:cs typeface="Calibri" pitchFamily="34" charset="-120"/>
              </a:rPr>
              <a:t>the complete history of percepts so far.</a:t>
            </a:r>
            <a:endParaRPr lang="en-US" sz="2000" dirty="0"/>
          </a:p>
          <a:p>
            <a:pPr marL="228600" indent="-228600">
              <a:buSzPct val="100000"/>
              <a:buChar char="▪"/>
            </a:pPr>
            <a:r>
              <a:rPr lang="en-US" sz="2000" b="1" dirty="0">
                <a:solidFill>
                  <a:srgbClr val="0B1E3D"/>
                </a:solidFill>
                <a:latin typeface="Calibri" pitchFamily="34" charset="0"/>
                <a:ea typeface="Calibri" pitchFamily="34" charset="-122"/>
                <a:cs typeface="Calibri" pitchFamily="34" charset="-120"/>
              </a:rPr>
              <a:t>Action — </a:t>
            </a:r>
            <a:r>
              <a:rPr lang="en-US" sz="2000" dirty="0">
                <a:solidFill>
                  <a:srgbClr val="1A1F2B"/>
                </a:solidFill>
                <a:latin typeface="Calibri" pitchFamily="34" charset="0"/>
                <a:ea typeface="Calibri" pitchFamily="34" charset="-122"/>
                <a:cs typeface="Calibri" pitchFamily="34" charset="-120"/>
              </a:rPr>
              <a:t>what the agent does in response.</a:t>
            </a:r>
            <a:endParaRPr lang="en-US" sz="2000" dirty="0"/>
          </a:p>
          <a:p>
            <a:pPr marL="228600" indent="-228600">
              <a:buSzPct val="100000"/>
              <a:buChar char="▪"/>
            </a:pPr>
            <a:r>
              <a:rPr lang="en-US" sz="2000" b="1" dirty="0">
                <a:solidFill>
                  <a:srgbClr val="0B1E3D"/>
                </a:solidFill>
                <a:latin typeface="Calibri" pitchFamily="34" charset="0"/>
                <a:ea typeface="Calibri" pitchFamily="34" charset="-122"/>
                <a:cs typeface="Calibri" pitchFamily="34" charset="-120"/>
              </a:rPr>
              <a:t>Environment — </a:t>
            </a:r>
            <a:r>
              <a:rPr lang="en-US" sz="2000" dirty="0">
                <a:solidFill>
                  <a:srgbClr val="1A1F2B"/>
                </a:solidFill>
                <a:latin typeface="Calibri" pitchFamily="34" charset="0"/>
                <a:ea typeface="Calibri" pitchFamily="34" charset="-122"/>
                <a:cs typeface="Calibri" pitchFamily="34" charset="-120"/>
              </a:rPr>
              <a:t>everything external the agent interacts with.</a:t>
            </a:r>
            <a:endParaRPr lang="en-US" sz="2000" dirty="0"/>
          </a:p>
        </p:txBody>
      </p:sp>
      <p:sp>
        <p:nvSpPr>
          <p:cNvPr id="17" name="Text 15"/>
          <p:cNvSpPr/>
          <p:nvPr/>
        </p:nvSpPr>
        <p:spPr>
          <a:xfrm>
            <a:off x="502920" y="5349240"/>
            <a:ext cx="11185855" cy="777240"/>
          </a:xfrm>
          <a:prstGeom prst="rect">
            <a:avLst/>
          </a:prstGeom>
          <a:noFill/>
          <a:ln/>
        </p:spPr>
        <p:txBody>
          <a:bodyPr wrap="square" rtlCol="0" anchor="ctr"/>
          <a:lstStyle/>
          <a:p>
            <a:pPr marL="0" indent="0">
              <a:lnSpc>
                <a:spcPts val="2375"/>
              </a:lnSpc>
              <a:buNone/>
            </a:pPr>
            <a:r>
              <a:rPr lang="en-US" sz="1900" b="1" dirty="0">
                <a:solidFill>
                  <a:srgbClr val="0B1E3D"/>
                </a:solidFill>
                <a:latin typeface="Calibri" pitchFamily="34" charset="0"/>
                <a:ea typeface="Calibri" pitchFamily="34" charset="-122"/>
                <a:cs typeface="Calibri" pitchFamily="34" charset="-120"/>
              </a:rPr>
              <a:t>Example:  </a:t>
            </a:r>
            <a:r>
              <a:rPr lang="en-US" sz="1900" dirty="0">
                <a:solidFill>
                  <a:srgbClr val="1A1F2B"/>
                </a:solidFill>
                <a:latin typeface="Calibri" pitchFamily="34" charset="0"/>
                <a:ea typeface="Calibri" pitchFamily="34" charset="-122"/>
                <a:cs typeface="Calibri" pitchFamily="34" charset="-120"/>
              </a:rPr>
              <a:t>an autonomous vehicle continuously perceives the road, decides, and acts — then perceives the newly-changed road ahead, over and over, many times per second.</a:t>
            </a:r>
            <a:endParaRPr lang="en-US" sz="1900" dirty="0"/>
          </a:p>
        </p:txBody>
      </p:sp>
      <p:sp>
        <p:nvSpPr>
          <p:cNvPr id="18" name="Text 16"/>
          <p:cNvSpPr/>
          <p:nvPr/>
        </p:nvSpPr>
        <p:spPr>
          <a:xfrm>
            <a:off x="502920" y="6446520"/>
            <a:ext cx="8229600" cy="320040"/>
          </a:xfrm>
          <a:prstGeom prst="rect">
            <a:avLst/>
          </a:prstGeom>
          <a:noFill/>
          <a:ln/>
        </p:spPr>
        <p:txBody>
          <a:bodyPr wrap="square" rtlCol="0" anchor="ctr"/>
          <a:lstStyle/>
          <a:p>
            <a:pPr marL="0" indent="0">
              <a:buNone/>
            </a:pPr>
            <a:r>
              <a:rPr lang="en-US" sz="1400" i="1" dirty="0">
                <a:solidFill>
                  <a:srgbClr val="5A6478"/>
                </a:solidFill>
                <a:latin typeface="Calibri" pitchFamily="34" charset="0"/>
                <a:ea typeface="Calibri" pitchFamily="34" charset="-122"/>
                <a:cs typeface="Calibri" pitchFamily="34" charset="-120"/>
              </a:rPr>
              <a:t>AI — Intelligent Agents  |  B. Intelligent Agents</a:t>
            </a:r>
            <a:endParaRPr lang="en-US" sz="1400" dirty="0"/>
          </a:p>
        </p:txBody>
      </p:sp>
      <p:sp>
        <p:nvSpPr>
          <p:cNvPr id="19" name="Text 17"/>
          <p:cNvSpPr/>
          <p:nvPr/>
        </p:nvSpPr>
        <p:spPr>
          <a:xfrm>
            <a:off x="10500055" y="6446520"/>
            <a:ext cx="1188720" cy="320040"/>
          </a:xfrm>
          <a:prstGeom prst="rect">
            <a:avLst/>
          </a:prstGeom>
          <a:noFill/>
          <a:ln/>
        </p:spPr>
        <p:txBody>
          <a:bodyPr wrap="square" rtlCol="0" anchor="ctr"/>
          <a:lstStyle/>
          <a:p>
            <a:pPr marL="0" indent="0" algn="r">
              <a:buNone/>
            </a:pPr>
            <a:r>
              <a:rPr lang="en-US" sz="1400" dirty="0">
                <a:solidFill>
                  <a:srgbClr val="5A6478"/>
                </a:solidFill>
                <a:latin typeface="Calibri" pitchFamily="34" charset="0"/>
                <a:ea typeface="Calibri" pitchFamily="34" charset="-122"/>
                <a:cs typeface="Calibri" pitchFamily="34" charset="-120"/>
              </a:rPr>
              <a:t>5 / 40</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85855" cy="347472"/>
          </a:xfrm>
          <a:prstGeom prst="rect">
            <a:avLst/>
          </a:prstGeom>
          <a:noFill/>
          <a:ln/>
        </p:spPr>
        <p:txBody>
          <a:bodyPr wrap="square" rtlCol="0" anchor="ctr"/>
          <a:lstStyle/>
          <a:p>
            <a:pPr marL="0" indent="0">
              <a:buNone/>
            </a:pPr>
            <a:r>
              <a:rPr lang="en-US" sz="1500" b="1" kern="0" spc="150" dirty="0">
                <a:solidFill>
                  <a:srgbClr val="B08D57"/>
                </a:solidFill>
                <a:latin typeface="Calibri" pitchFamily="34" charset="0"/>
                <a:ea typeface="Calibri" pitchFamily="34" charset="-122"/>
                <a:cs typeface="Calibri" pitchFamily="34" charset="-120"/>
              </a:rPr>
              <a:t>B. INTELLIGENT AGENTS</a:t>
            </a:r>
            <a:endParaRPr lang="en-US" sz="1500" dirty="0"/>
          </a:p>
        </p:txBody>
      </p:sp>
      <p:sp>
        <p:nvSpPr>
          <p:cNvPr id="3" name="Text 1"/>
          <p:cNvSpPr txBox="1"/>
          <p:nvPr/>
        </p:nvSpPr>
        <p:spPr>
          <a:xfrm>
            <a:off x="502920" y="676656"/>
            <a:ext cx="11185855" cy="1417320"/>
          </a:xfrm>
          <a:prstGeom prst="rect">
            <a:avLst/>
          </a:prstGeom>
          <a:noFill/>
          <a:ln/>
        </p:spPr>
        <p:txBody>
          <a:bodyPr wrap="square" rtlCol="0" anchor="t"/>
          <a:lstStyle/>
          <a:p>
            <a:pPr marL="0" indent="0">
              <a:lnSpc>
                <a:spcPts val="3584"/>
              </a:lnSpc>
              <a:buNone/>
            </a:pPr>
            <a:r>
              <a:rPr lang="en-US" sz="3200" b="1" dirty="0">
                <a:solidFill>
                  <a:srgbClr val="0B1E3D"/>
                </a:solidFill>
                <a:latin typeface="Cambria" pitchFamily="34" charset="0"/>
                <a:ea typeface="Cambria" pitchFamily="34" charset="-122"/>
                <a:cs typeface="Cambria" pitchFamily="34" charset="-120"/>
              </a:rPr>
              <a:t>Percepts and Percept Sequences</a:t>
            </a:r>
            <a:endParaRPr lang="en-US" sz="3200" dirty="0"/>
          </a:p>
        </p:txBody>
      </p:sp>
      <p:sp>
        <p:nvSpPr>
          <p:cNvPr id="4" name="Text 2"/>
          <p:cNvSpPr/>
          <p:nvPr/>
        </p:nvSpPr>
        <p:spPr>
          <a:xfrm>
            <a:off x="502920" y="1828800"/>
            <a:ext cx="11185855" cy="685800"/>
          </a:xfrm>
          <a:prstGeom prst="rect">
            <a:avLst/>
          </a:prstGeom>
          <a:noFill/>
          <a:ln/>
        </p:spPr>
        <p:txBody>
          <a:bodyPr wrap="square" lIns="0" tIns="0" rIns="0" bIns="0" rtlCol="0" anchor="t"/>
          <a:lstStyle/>
          <a:p>
            <a:pPr marL="228600" indent="-228600">
              <a:buSzPct val="100000"/>
              <a:buChar char="▪"/>
            </a:pPr>
            <a:r>
              <a:rPr lang="en-US" sz="2000" dirty="0">
                <a:solidFill>
                  <a:srgbClr val="1A1F2B"/>
                </a:solidFill>
                <a:latin typeface="Calibri" pitchFamily="34" charset="0"/>
                <a:ea typeface="Calibri" pitchFamily="34" charset="-122"/>
                <a:cs typeface="Calibri" pitchFamily="34" charset="-120"/>
              </a:rPr>
              <a:t>An agent does not simply receive one isolated input and stop — it receives a stream of percepts over time.</a:t>
            </a:r>
            <a:endParaRPr lang="en-US" sz="2000" dirty="0"/>
          </a:p>
        </p:txBody>
      </p:sp>
      <p:sp>
        <p:nvSpPr>
          <p:cNvPr id="5" name="Shape 3"/>
          <p:cNvSpPr/>
          <p:nvPr/>
        </p:nvSpPr>
        <p:spPr>
          <a:xfrm>
            <a:off x="502920" y="2606040"/>
            <a:ext cx="5303520" cy="1417320"/>
          </a:xfrm>
          <a:prstGeom prst="roundRect">
            <a:avLst>
              <a:gd name="adj" fmla="val 4516"/>
            </a:avLst>
          </a:prstGeom>
          <a:solidFill>
            <a:srgbClr val="0B1E3D"/>
          </a:solidFill>
          <a:ln/>
        </p:spPr>
      </p:sp>
      <p:sp>
        <p:nvSpPr>
          <p:cNvPr id="6" name="Text 4"/>
          <p:cNvSpPr/>
          <p:nvPr/>
        </p:nvSpPr>
        <p:spPr>
          <a:xfrm>
            <a:off x="777240" y="2743200"/>
            <a:ext cx="4754880" cy="411480"/>
          </a:xfrm>
          <a:prstGeom prst="rect">
            <a:avLst/>
          </a:prstGeom>
          <a:noFill/>
          <a:ln/>
        </p:spPr>
        <p:txBody>
          <a:bodyPr wrap="square" rtlCol="0" anchor="ctr"/>
          <a:lstStyle/>
          <a:p>
            <a:pPr marL="0" indent="0">
              <a:buNone/>
            </a:pPr>
            <a:r>
              <a:rPr lang="en-US" sz="1900" b="1" dirty="0">
                <a:solidFill>
                  <a:srgbClr val="B08D57"/>
                </a:solidFill>
                <a:latin typeface="Cambria" pitchFamily="34" charset="0"/>
                <a:ea typeface="Cambria" pitchFamily="34" charset="-122"/>
                <a:cs typeface="Cambria" pitchFamily="34" charset="-120"/>
              </a:rPr>
              <a:t>Percept</a:t>
            </a:r>
            <a:endParaRPr lang="en-US" sz="1900" dirty="0"/>
          </a:p>
        </p:txBody>
      </p:sp>
      <p:sp>
        <p:nvSpPr>
          <p:cNvPr id="7" name="Text 5"/>
          <p:cNvSpPr/>
          <p:nvPr/>
        </p:nvSpPr>
        <p:spPr>
          <a:xfrm>
            <a:off x="777240" y="3227832"/>
            <a:ext cx="4754880" cy="731520"/>
          </a:xfrm>
          <a:prstGeom prst="rect">
            <a:avLst/>
          </a:prstGeom>
          <a:noFill/>
          <a:ln/>
        </p:spPr>
        <p:txBody>
          <a:bodyPr wrap="square" rtlCol="0" anchor="ctr"/>
          <a:lstStyle/>
          <a:p>
            <a:pPr marL="0" indent="0">
              <a:lnSpc>
                <a:spcPts val="2340"/>
              </a:lnSpc>
              <a:buNone/>
            </a:pPr>
            <a:r>
              <a:rPr lang="en-US" sz="1800" i="1" dirty="0">
                <a:solidFill>
                  <a:srgbClr val="E7EBF3"/>
                </a:solidFill>
                <a:latin typeface="Calibri" pitchFamily="34" charset="0"/>
                <a:ea typeface="Calibri" pitchFamily="34" charset="-122"/>
                <a:cs typeface="Calibri" pitchFamily="34" charset="-120"/>
              </a:rPr>
              <a:t>The agent's current sensory input — a single snapshot.</a:t>
            </a:r>
            <a:endParaRPr lang="en-US" sz="1800" dirty="0"/>
          </a:p>
        </p:txBody>
      </p:sp>
      <p:sp>
        <p:nvSpPr>
          <p:cNvPr id="8" name="Shape 6"/>
          <p:cNvSpPr/>
          <p:nvPr/>
        </p:nvSpPr>
        <p:spPr>
          <a:xfrm>
            <a:off x="6400800" y="2606040"/>
            <a:ext cx="5303520" cy="1417320"/>
          </a:xfrm>
          <a:prstGeom prst="roundRect">
            <a:avLst>
              <a:gd name="adj" fmla="val 4516"/>
            </a:avLst>
          </a:prstGeom>
          <a:solidFill>
            <a:srgbClr val="F3F5F8"/>
          </a:solidFill>
          <a:ln w="12700">
            <a:solidFill>
              <a:srgbClr val="D8DCE3"/>
            </a:solidFill>
            <a:prstDash val="solid"/>
          </a:ln>
        </p:spPr>
      </p:sp>
      <p:sp>
        <p:nvSpPr>
          <p:cNvPr id="9" name="Text 7"/>
          <p:cNvSpPr/>
          <p:nvPr/>
        </p:nvSpPr>
        <p:spPr>
          <a:xfrm>
            <a:off x="6675120" y="2743200"/>
            <a:ext cx="4754880" cy="411480"/>
          </a:xfrm>
          <a:prstGeom prst="rect">
            <a:avLst/>
          </a:prstGeom>
          <a:noFill/>
          <a:ln/>
        </p:spPr>
        <p:txBody>
          <a:bodyPr wrap="square" rtlCol="0" anchor="ctr"/>
          <a:lstStyle/>
          <a:p>
            <a:pPr marL="0" indent="0">
              <a:buNone/>
            </a:pPr>
            <a:r>
              <a:rPr lang="en-US" sz="1900" b="1" dirty="0">
                <a:solidFill>
                  <a:srgbClr val="0B1E3D"/>
                </a:solidFill>
                <a:latin typeface="Cambria" pitchFamily="34" charset="0"/>
                <a:ea typeface="Cambria" pitchFamily="34" charset="-122"/>
                <a:cs typeface="Cambria" pitchFamily="34" charset="-120"/>
              </a:rPr>
              <a:t>Percept Sequence</a:t>
            </a:r>
            <a:endParaRPr lang="en-US" sz="1900" dirty="0"/>
          </a:p>
        </p:txBody>
      </p:sp>
      <p:sp>
        <p:nvSpPr>
          <p:cNvPr id="10" name="Text 8"/>
          <p:cNvSpPr/>
          <p:nvPr/>
        </p:nvSpPr>
        <p:spPr>
          <a:xfrm>
            <a:off x="6675120" y="3227832"/>
            <a:ext cx="4754880" cy="731520"/>
          </a:xfrm>
          <a:prstGeom prst="rect">
            <a:avLst/>
          </a:prstGeom>
          <a:noFill/>
          <a:ln/>
        </p:spPr>
        <p:txBody>
          <a:bodyPr wrap="square" rtlCol="0" anchor="ctr"/>
          <a:lstStyle/>
          <a:p>
            <a:pPr marL="0" indent="0">
              <a:lnSpc>
                <a:spcPts val="2340"/>
              </a:lnSpc>
              <a:buNone/>
            </a:pPr>
            <a:r>
              <a:rPr lang="en-US" sz="1800" i="1" dirty="0">
                <a:solidFill>
                  <a:srgbClr val="1A1F2B"/>
                </a:solidFill>
                <a:latin typeface="Calibri" pitchFamily="34" charset="0"/>
                <a:ea typeface="Calibri" pitchFamily="34" charset="-122"/>
                <a:cs typeface="Calibri" pitchFamily="34" charset="-120"/>
              </a:rPr>
              <a:t>The complete history of every percept the agent has received so far.</a:t>
            </a:r>
            <a:endParaRPr lang="en-US" sz="1800" dirty="0"/>
          </a:p>
        </p:txBody>
      </p:sp>
      <p:sp>
        <p:nvSpPr>
          <p:cNvPr id="11" name="Text 9"/>
          <p:cNvSpPr/>
          <p:nvPr/>
        </p:nvSpPr>
        <p:spPr>
          <a:xfrm>
            <a:off x="502920" y="4206240"/>
            <a:ext cx="7315200" cy="365760"/>
          </a:xfrm>
          <a:prstGeom prst="rect">
            <a:avLst/>
          </a:prstGeom>
          <a:noFill/>
          <a:ln/>
        </p:spPr>
        <p:txBody>
          <a:bodyPr wrap="square" rtlCol="0" anchor="ctr"/>
          <a:lstStyle/>
          <a:p>
            <a:pPr marL="0" indent="0">
              <a:buNone/>
            </a:pPr>
            <a:r>
              <a:rPr lang="en-US" sz="1800" b="1" dirty="0">
                <a:solidFill>
                  <a:srgbClr val="0B1E3D"/>
                </a:solidFill>
                <a:latin typeface="Calibri" pitchFamily="34" charset="0"/>
                <a:ea typeface="Calibri" pitchFamily="34" charset="-122"/>
                <a:cs typeface="Calibri" pitchFamily="34" charset="-120"/>
              </a:rPr>
              <a:t>Example — a robot vacuum's percept sequence:</a:t>
            </a:r>
            <a:endParaRPr lang="en-US" sz="1800" dirty="0"/>
          </a:p>
        </p:txBody>
      </p:sp>
      <p:sp>
        <p:nvSpPr>
          <p:cNvPr id="12" name="Shape 10"/>
          <p:cNvSpPr/>
          <p:nvPr/>
        </p:nvSpPr>
        <p:spPr>
          <a:xfrm>
            <a:off x="502920" y="4617720"/>
            <a:ext cx="3423818" cy="868680"/>
          </a:xfrm>
          <a:prstGeom prst="roundRect">
            <a:avLst>
              <a:gd name="adj" fmla="val 8421"/>
            </a:avLst>
          </a:prstGeom>
          <a:solidFill>
            <a:srgbClr val="F3F5F8"/>
          </a:solidFill>
          <a:ln/>
        </p:spPr>
      </p:sp>
      <p:sp>
        <p:nvSpPr>
          <p:cNvPr id="13" name="Text 11"/>
          <p:cNvSpPr/>
          <p:nvPr/>
        </p:nvSpPr>
        <p:spPr>
          <a:xfrm>
            <a:off x="576072" y="4617720"/>
            <a:ext cx="3277514" cy="868680"/>
          </a:xfrm>
          <a:prstGeom prst="rect">
            <a:avLst/>
          </a:prstGeom>
          <a:noFill/>
          <a:ln/>
        </p:spPr>
        <p:txBody>
          <a:bodyPr wrap="square" rtlCol="0" anchor="ctr"/>
          <a:lstStyle/>
          <a:p>
            <a:pPr marL="0" indent="0" algn="ctr">
              <a:lnSpc>
                <a:spcPts val="2070"/>
              </a:lnSpc>
              <a:buNone/>
            </a:pPr>
            <a:r>
              <a:rPr lang="en-US" sz="1800" b="1" dirty="0">
                <a:solidFill>
                  <a:srgbClr val="0B1E3D"/>
                </a:solidFill>
                <a:latin typeface="Calibri" pitchFamily="34" charset="0"/>
                <a:ea typeface="Calibri" pitchFamily="34" charset="-122"/>
                <a:cs typeface="Calibri" pitchFamily="34" charset="-120"/>
              </a:rPr>
              <a:t>Obstacle detected</a:t>
            </a:r>
            <a:endParaRPr lang="en-US" sz="1800" dirty="0"/>
          </a:p>
          <a:p>
            <a:pPr marL="0" indent="0" algn="ctr">
              <a:lnSpc>
                <a:spcPts val="2070"/>
              </a:lnSpc>
              <a:buNone/>
            </a:pPr>
            <a:r>
              <a:rPr lang="en-US" sz="1500" i="1" dirty="0">
                <a:solidFill>
                  <a:srgbClr val="5A6478"/>
                </a:solidFill>
                <a:latin typeface="Calibri" pitchFamily="34" charset="0"/>
                <a:ea typeface="Calibri" pitchFamily="34" charset="-122"/>
                <a:cs typeface="Calibri" pitchFamily="34" charset="-120"/>
              </a:rPr>
              <a:t>percept 1</a:t>
            </a:r>
            <a:endParaRPr lang="en-US" sz="1800" dirty="0"/>
          </a:p>
        </p:txBody>
      </p:sp>
      <p:sp>
        <p:nvSpPr>
          <p:cNvPr id="14" name="Text 12"/>
          <p:cNvSpPr/>
          <p:nvPr/>
        </p:nvSpPr>
        <p:spPr>
          <a:xfrm>
            <a:off x="3926738" y="4617720"/>
            <a:ext cx="457200" cy="868680"/>
          </a:xfrm>
          <a:prstGeom prst="rect">
            <a:avLst/>
          </a:prstGeom>
          <a:noFill/>
          <a:ln/>
        </p:spPr>
        <p:txBody>
          <a:bodyPr wrap="square" rtlCol="0" anchor="ctr"/>
          <a:lstStyle/>
          <a:p>
            <a:pPr marL="0" indent="0" algn="ctr">
              <a:buNone/>
            </a:pPr>
            <a:r>
              <a:rPr lang="en-US" sz="2400" b="1" dirty="0">
                <a:solidFill>
                  <a:srgbClr val="0B1E3D"/>
                </a:solidFill>
                <a:latin typeface="Calibri" pitchFamily="34" charset="0"/>
                <a:ea typeface="Calibri" pitchFamily="34" charset="-122"/>
                <a:cs typeface="Calibri" pitchFamily="34" charset="-120"/>
              </a:rPr>
              <a:t>→</a:t>
            </a:r>
            <a:endParaRPr lang="en-US" sz="2400" dirty="0"/>
          </a:p>
        </p:txBody>
      </p:sp>
      <p:sp>
        <p:nvSpPr>
          <p:cNvPr id="15" name="Shape 13"/>
          <p:cNvSpPr/>
          <p:nvPr/>
        </p:nvSpPr>
        <p:spPr>
          <a:xfrm>
            <a:off x="4383938" y="4617720"/>
            <a:ext cx="3423818" cy="868680"/>
          </a:xfrm>
          <a:prstGeom prst="roundRect">
            <a:avLst>
              <a:gd name="adj" fmla="val 8421"/>
            </a:avLst>
          </a:prstGeom>
          <a:solidFill>
            <a:srgbClr val="F3F5F8"/>
          </a:solidFill>
          <a:ln/>
        </p:spPr>
      </p:sp>
      <p:sp>
        <p:nvSpPr>
          <p:cNvPr id="16" name="Text 14"/>
          <p:cNvSpPr/>
          <p:nvPr/>
        </p:nvSpPr>
        <p:spPr>
          <a:xfrm>
            <a:off x="4457090" y="4617720"/>
            <a:ext cx="3277514" cy="868680"/>
          </a:xfrm>
          <a:prstGeom prst="rect">
            <a:avLst/>
          </a:prstGeom>
          <a:noFill/>
          <a:ln/>
        </p:spPr>
        <p:txBody>
          <a:bodyPr wrap="square" rtlCol="0" anchor="ctr"/>
          <a:lstStyle/>
          <a:p>
            <a:pPr marL="0" indent="0" algn="ctr">
              <a:lnSpc>
                <a:spcPts val="2070"/>
              </a:lnSpc>
              <a:buNone/>
            </a:pPr>
            <a:r>
              <a:rPr lang="en-US" sz="1800" b="1" dirty="0">
                <a:solidFill>
                  <a:srgbClr val="0B1E3D"/>
                </a:solidFill>
                <a:latin typeface="Calibri" pitchFamily="34" charset="0"/>
                <a:ea typeface="Calibri" pitchFamily="34" charset="-122"/>
                <a:cs typeface="Calibri" pitchFamily="34" charset="-120"/>
              </a:rPr>
              <a:t>Dirty floor</a:t>
            </a:r>
            <a:endParaRPr lang="en-US" sz="1800" dirty="0"/>
          </a:p>
          <a:p>
            <a:pPr marL="0" indent="0" algn="ctr">
              <a:lnSpc>
                <a:spcPts val="2070"/>
              </a:lnSpc>
              <a:buNone/>
            </a:pPr>
            <a:r>
              <a:rPr lang="en-US" sz="1500" i="1" dirty="0">
                <a:solidFill>
                  <a:srgbClr val="5A6478"/>
                </a:solidFill>
                <a:latin typeface="Calibri" pitchFamily="34" charset="0"/>
                <a:ea typeface="Calibri" pitchFamily="34" charset="-122"/>
                <a:cs typeface="Calibri" pitchFamily="34" charset="-120"/>
              </a:rPr>
              <a:t>percept 2</a:t>
            </a:r>
            <a:endParaRPr lang="en-US" sz="1800" dirty="0"/>
          </a:p>
        </p:txBody>
      </p:sp>
      <p:sp>
        <p:nvSpPr>
          <p:cNvPr id="17" name="Text 15"/>
          <p:cNvSpPr/>
          <p:nvPr/>
        </p:nvSpPr>
        <p:spPr>
          <a:xfrm>
            <a:off x="7807757" y="4617720"/>
            <a:ext cx="457200" cy="868680"/>
          </a:xfrm>
          <a:prstGeom prst="rect">
            <a:avLst/>
          </a:prstGeom>
          <a:noFill/>
          <a:ln/>
        </p:spPr>
        <p:txBody>
          <a:bodyPr wrap="square" rtlCol="0" anchor="ctr"/>
          <a:lstStyle/>
          <a:p>
            <a:pPr marL="0" indent="0" algn="ctr">
              <a:buNone/>
            </a:pPr>
            <a:r>
              <a:rPr lang="en-US" sz="2400" b="1" dirty="0">
                <a:solidFill>
                  <a:srgbClr val="0B1E3D"/>
                </a:solidFill>
                <a:latin typeface="Calibri" pitchFamily="34" charset="0"/>
                <a:ea typeface="Calibri" pitchFamily="34" charset="-122"/>
                <a:cs typeface="Calibri" pitchFamily="34" charset="-120"/>
              </a:rPr>
              <a:t>→</a:t>
            </a:r>
            <a:endParaRPr lang="en-US" sz="2400" dirty="0"/>
          </a:p>
        </p:txBody>
      </p:sp>
      <p:sp>
        <p:nvSpPr>
          <p:cNvPr id="18" name="Shape 16"/>
          <p:cNvSpPr/>
          <p:nvPr/>
        </p:nvSpPr>
        <p:spPr>
          <a:xfrm>
            <a:off x="8264957" y="4617720"/>
            <a:ext cx="3423818" cy="868680"/>
          </a:xfrm>
          <a:prstGeom prst="roundRect">
            <a:avLst>
              <a:gd name="adj" fmla="val 8421"/>
            </a:avLst>
          </a:prstGeom>
          <a:solidFill>
            <a:srgbClr val="F3F5F8"/>
          </a:solidFill>
          <a:ln/>
        </p:spPr>
      </p:sp>
      <p:sp>
        <p:nvSpPr>
          <p:cNvPr id="19" name="Text 17"/>
          <p:cNvSpPr/>
          <p:nvPr/>
        </p:nvSpPr>
        <p:spPr>
          <a:xfrm>
            <a:off x="8338109" y="4617720"/>
            <a:ext cx="3277514" cy="868680"/>
          </a:xfrm>
          <a:prstGeom prst="rect">
            <a:avLst/>
          </a:prstGeom>
          <a:noFill/>
          <a:ln/>
        </p:spPr>
        <p:txBody>
          <a:bodyPr wrap="square" rtlCol="0" anchor="ctr"/>
          <a:lstStyle/>
          <a:p>
            <a:pPr marL="0" indent="0" algn="ctr">
              <a:lnSpc>
                <a:spcPts val="2070"/>
              </a:lnSpc>
              <a:buNone/>
            </a:pPr>
            <a:r>
              <a:rPr lang="en-US" sz="1800" b="1" dirty="0">
                <a:solidFill>
                  <a:srgbClr val="0B1E3D"/>
                </a:solidFill>
                <a:latin typeface="Calibri" pitchFamily="34" charset="0"/>
                <a:ea typeface="Calibri" pitchFamily="34" charset="-122"/>
                <a:cs typeface="Calibri" pitchFamily="34" charset="-120"/>
              </a:rPr>
              <a:t>Wall detected</a:t>
            </a:r>
            <a:endParaRPr lang="en-US" sz="1800" dirty="0"/>
          </a:p>
          <a:p>
            <a:pPr marL="0" indent="0" algn="ctr">
              <a:lnSpc>
                <a:spcPts val="2070"/>
              </a:lnSpc>
              <a:buNone/>
            </a:pPr>
            <a:r>
              <a:rPr lang="en-US" sz="1500" i="1" dirty="0">
                <a:solidFill>
                  <a:srgbClr val="5A6478"/>
                </a:solidFill>
                <a:latin typeface="Calibri" pitchFamily="34" charset="0"/>
                <a:ea typeface="Calibri" pitchFamily="34" charset="-122"/>
                <a:cs typeface="Calibri" pitchFamily="34" charset="-120"/>
              </a:rPr>
              <a:t>percept 3</a:t>
            </a:r>
            <a:endParaRPr lang="en-US" sz="1800" dirty="0"/>
          </a:p>
        </p:txBody>
      </p:sp>
      <p:sp>
        <p:nvSpPr>
          <p:cNvPr id="20" name="Text 18"/>
          <p:cNvSpPr/>
          <p:nvPr/>
        </p:nvSpPr>
        <p:spPr>
          <a:xfrm>
            <a:off x="502920" y="5623560"/>
            <a:ext cx="11185855" cy="777240"/>
          </a:xfrm>
          <a:prstGeom prst="rect">
            <a:avLst/>
          </a:prstGeom>
          <a:noFill/>
          <a:ln/>
        </p:spPr>
        <p:txBody>
          <a:bodyPr wrap="square" rtlCol="0" anchor="ctr"/>
          <a:lstStyle/>
          <a:p>
            <a:pPr marL="0" indent="0">
              <a:lnSpc>
                <a:spcPts val="2375"/>
              </a:lnSpc>
              <a:buNone/>
            </a:pPr>
            <a:r>
              <a:rPr lang="en-US" sz="1900" b="1" dirty="0">
                <a:solidFill>
                  <a:srgbClr val="0B1E3D"/>
                </a:solidFill>
                <a:latin typeface="Calibri" pitchFamily="34" charset="0"/>
                <a:ea typeface="Calibri" pitchFamily="34" charset="-122"/>
                <a:cs typeface="Calibri" pitchFamily="34" charset="-120"/>
              </a:rPr>
              <a:t>Why the past matters:  </a:t>
            </a:r>
            <a:r>
              <a:rPr lang="en-US" sz="1900" dirty="0">
                <a:solidFill>
                  <a:srgbClr val="1A1F2B"/>
                </a:solidFill>
                <a:latin typeface="Calibri" pitchFamily="34" charset="0"/>
                <a:ea typeface="Calibri" pitchFamily="34" charset="-122"/>
                <a:cs typeface="Calibri" pitchFamily="34" charset="-120"/>
              </a:rPr>
              <a:t>remembering earlier percepts lets an agent infer things the current percept alone cannot reveal — the basis for model-based and learning agents later in this lecture.</a:t>
            </a:r>
            <a:endParaRPr lang="en-US" sz="1900" dirty="0"/>
          </a:p>
        </p:txBody>
      </p:sp>
      <p:sp>
        <p:nvSpPr>
          <p:cNvPr id="21" name="Text 19"/>
          <p:cNvSpPr/>
          <p:nvPr/>
        </p:nvSpPr>
        <p:spPr>
          <a:xfrm>
            <a:off x="502920" y="6446520"/>
            <a:ext cx="8229600" cy="320040"/>
          </a:xfrm>
          <a:prstGeom prst="rect">
            <a:avLst/>
          </a:prstGeom>
          <a:noFill/>
          <a:ln/>
        </p:spPr>
        <p:txBody>
          <a:bodyPr wrap="square" rtlCol="0" anchor="ctr"/>
          <a:lstStyle/>
          <a:p>
            <a:pPr marL="0" indent="0">
              <a:buNone/>
            </a:pPr>
            <a:r>
              <a:rPr lang="en-US" sz="1400" i="1" dirty="0">
                <a:solidFill>
                  <a:srgbClr val="5A6478"/>
                </a:solidFill>
                <a:latin typeface="Calibri" pitchFamily="34" charset="0"/>
                <a:ea typeface="Calibri" pitchFamily="34" charset="-122"/>
                <a:cs typeface="Calibri" pitchFamily="34" charset="-120"/>
              </a:rPr>
              <a:t>AI — Intelligent Agents  |  B. Intelligent Agents</a:t>
            </a:r>
            <a:endParaRPr lang="en-US" sz="1400" dirty="0"/>
          </a:p>
        </p:txBody>
      </p:sp>
      <p:sp>
        <p:nvSpPr>
          <p:cNvPr id="22" name="Text 20"/>
          <p:cNvSpPr/>
          <p:nvPr/>
        </p:nvSpPr>
        <p:spPr>
          <a:xfrm>
            <a:off x="10500055" y="6446520"/>
            <a:ext cx="1188720" cy="320040"/>
          </a:xfrm>
          <a:prstGeom prst="rect">
            <a:avLst/>
          </a:prstGeom>
          <a:noFill/>
          <a:ln/>
        </p:spPr>
        <p:txBody>
          <a:bodyPr wrap="square" rtlCol="0" anchor="ctr"/>
          <a:lstStyle/>
          <a:p>
            <a:pPr marL="0" indent="0" algn="r">
              <a:buNone/>
            </a:pPr>
            <a:r>
              <a:rPr lang="en-US" sz="1400" dirty="0">
                <a:solidFill>
                  <a:srgbClr val="5A6478"/>
                </a:solidFill>
                <a:latin typeface="Calibri" pitchFamily="34" charset="0"/>
                <a:ea typeface="Calibri" pitchFamily="34" charset="-122"/>
                <a:cs typeface="Calibri" pitchFamily="34" charset="-120"/>
              </a:rPr>
              <a:t>6 / 40</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E3D"/>
        </a:solidFill>
        <a:effectLst/>
      </p:bgPr>
    </p:bg>
    <p:spTree>
      <p:nvGrpSpPr>
        <p:cNvPr id="1" name=""/>
        <p:cNvGrpSpPr/>
        <p:nvPr/>
      </p:nvGrpSpPr>
      <p:grpSpPr>
        <a:xfrm>
          <a:off x="0" y="0"/>
          <a:ext cx="0" cy="0"/>
          <a:chOff x="0" y="0"/>
          <a:chExt cx="0" cy="0"/>
        </a:xfrm>
      </p:grpSpPr>
      <p:sp>
        <p:nvSpPr>
          <p:cNvPr id="2" name="Text 0"/>
          <p:cNvSpPr/>
          <p:nvPr/>
        </p:nvSpPr>
        <p:spPr>
          <a:xfrm>
            <a:off x="502920" y="292608"/>
            <a:ext cx="11185855" cy="347472"/>
          </a:xfrm>
          <a:prstGeom prst="rect">
            <a:avLst/>
          </a:prstGeom>
          <a:noFill/>
          <a:ln/>
        </p:spPr>
        <p:txBody>
          <a:bodyPr wrap="square" rtlCol="0" anchor="ctr"/>
          <a:lstStyle/>
          <a:p>
            <a:pPr marL="0" indent="0">
              <a:buNone/>
            </a:pPr>
            <a:r>
              <a:rPr lang="en-US" sz="1500" b="1" kern="0" spc="150" dirty="0">
                <a:solidFill>
                  <a:srgbClr val="B08D57"/>
                </a:solidFill>
                <a:latin typeface="Calibri" pitchFamily="34" charset="0"/>
                <a:ea typeface="Calibri" pitchFamily="34" charset="-122"/>
                <a:cs typeface="Calibri" pitchFamily="34" charset="-120"/>
              </a:rPr>
              <a:t>B. INTELLIGENT AGENTS</a:t>
            </a:r>
            <a:endParaRPr lang="en-US" sz="1500" dirty="0"/>
          </a:p>
        </p:txBody>
      </p:sp>
      <p:sp>
        <p:nvSpPr>
          <p:cNvPr id="3" name="Text 1"/>
          <p:cNvSpPr txBox="1"/>
          <p:nvPr/>
        </p:nvSpPr>
        <p:spPr>
          <a:xfrm>
            <a:off x="502920" y="676656"/>
            <a:ext cx="11185855" cy="1417320"/>
          </a:xfrm>
          <a:prstGeom prst="rect">
            <a:avLst/>
          </a:prstGeom>
          <a:noFill/>
          <a:ln/>
        </p:spPr>
        <p:txBody>
          <a:bodyPr wrap="square" rtlCol="0" anchor="t"/>
          <a:lstStyle/>
          <a:p>
            <a:pPr marL="0" indent="0">
              <a:lnSpc>
                <a:spcPts val="3584"/>
              </a:lnSpc>
              <a:buNone/>
            </a:pPr>
            <a:r>
              <a:rPr lang="en-US" sz="3200" b="1" dirty="0">
                <a:solidFill>
                  <a:srgbClr val="FFFFFF"/>
                </a:solidFill>
                <a:latin typeface="Cambria" pitchFamily="34" charset="0"/>
                <a:ea typeface="Cambria" pitchFamily="34" charset="-122"/>
                <a:cs typeface="Cambria" pitchFamily="34" charset="-120"/>
              </a:rPr>
              <a:t>Agent Function vs. Agent Program</a:t>
            </a:r>
            <a:endParaRPr lang="en-US" sz="3200" dirty="0"/>
          </a:p>
        </p:txBody>
      </p:sp>
      <p:sp>
        <p:nvSpPr>
          <p:cNvPr id="4" name="Shape 2"/>
          <p:cNvSpPr/>
          <p:nvPr/>
        </p:nvSpPr>
        <p:spPr>
          <a:xfrm>
            <a:off x="502920" y="1828800"/>
            <a:ext cx="11185855" cy="868680"/>
          </a:xfrm>
          <a:prstGeom prst="roundRect">
            <a:avLst>
              <a:gd name="adj" fmla="val 8421"/>
            </a:avLst>
          </a:prstGeom>
          <a:solidFill>
            <a:srgbClr val="13294B"/>
          </a:solidFill>
          <a:ln/>
        </p:spPr>
      </p:sp>
      <p:sp>
        <p:nvSpPr>
          <p:cNvPr id="5" name="Text 3"/>
          <p:cNvSpPr/>
          <p:nvPr/>
        </p:nvSpPr>
        <p:spPr>
          <a:xfrm>
            <a:off x="502920" y="1828800"/>
            <a:ext cx="11185855" cy="868680"/>
          </a:xfrm>
          <a:prstGeom prst="rect">
            <a:avLst/>
          </a:prstGeom>
          <a:noFill/>
          <a:ln/>
        </p:spPr>
        <p:txBody>
          <a:bodyPr wrap="square" rtlCol="0" anchor="ctr"/>
          <a:lstStyle/>
          <a:p>
            <a:pPr marL="0" indent="0" algn="ctr">
              <a:buNone/>
            </a:pPr>
            <a:r>
              <a:rPr lang="en-US" sz="2600" b="1" dirty="0">
                <a:solidFill>
                  <a:srgbClr val="B08D57"/>
                </a:solidFill>
                <a:latin typeface="Courier New" pitchFamily="34" charset="0"/>
                <a:ea typeface="Courier New" pitchFamily="34" charset="-122"/>
                <a:cs typeface="Courier New" pitchFamily="34" charset="-120"/>
              </a:rPr>
              <a:t>f :  Percept Sequences  →  Actions</a:t>
            </a:r>
            <a:endParaRPr lang="en-US" sz="2600" dirty="0"/>
          </a:p>
        </p:txBody>
      </p:sp>
      <p:sp>
        <p:nvSpPr>
          <p:cNvPr id="6" name="Text 4"/>
          <p:cNvSpPr/>
          <p:nvPr/>
        </p:nvSpPr>
        <p:spPr>
          <a:xfrm>
            <a:off x="502920" y="2834640"/>
            <a:ext cx="11185855" cy="1417320"/>
          </a:xfrm>
          <a:prstGeom prst="rect">
            <a:avLst/>
          </a:prstGeom>
          <a:noFill/>
          <a:ln/>
        </p:spPr>
        <p:txBody>
          <a:bodyPr wrap="square" lIns="0" tIns="0" rIns="0" bIns="0" rtlCol="0" anchor="t"/>
          <a:lstStyle/>
          <a:p>
            <a:pPr marL="228600" indent="-228600">
              <a:buSzPct val="100000"/>
              <a:buChar char="▪"/>
            </a:pPr>
            <a:r>
              <a:rPr lang="en-US" sz="2000" b="1" dirty="0">
                <a:solidFill>
                  <a:srgbClr val="FFFFFF"/>
                </a:solidFill>
                <a:latin typeface="Calibri" pitchFamily="34" charset="0"/>
                <a:ea typeface="Calibri" pitchFamily="34" charset="-122"/>
                <a:cs typeface="Calibri" pitchFamily="34" charset="-120"/>
              </a:rPr>
              <a:t>Agent function — </a:t>
            </a:r>
            <a:r>
              <a:rPr lang="en-US" sz="2000" dirty="0">
                <a:solidFill>
                  <a:srgbClr val="E7EBF3"/>
                </a:solidFill>
                <a:latin typeface="Calibri" pitchFamily="34" charset="0"/>
                <a:ea typeface="Calibri" pitchFamily="34" charset="-122"/>
                <a:cs typeface="Calibri" pitchFamily="34" charset="-120"/>
              </a:rPr>
              <a:t>the abstract mapping from percept sequences to actions (what SHOULD be done).</a:t>
            </a:r>
            <a:endParaRPr lang="en-US" sz="2000" dirty="0"/>
          </a:p>
          <a:p>
            <a:pPr marL="228600" indent="-228600">
              <a:buSzPct val="100000"/>
              <a:buChar char="▪"/>
            </a:pPr>
            <a:r>
              <a:rPr lang="en-US" sz="2000" b="1" dirty="0">
                <a:solidFill>
                  <a:srgbClr val="FFFFFF"/>
                </a:solidFill>
                <a:latin typeface="Calibri" pitchFamily="34" charset="0"/>
                <a:ea typeface="Calibri" pitchFamily="34" charset="-122"/>
                <a:cs typeface="Calibri" pitchFamily="34" charset="-120"/>
              </a:rPr>
              <a:t>Agent program — </a:t>
            </a:r>
            <a:r>
              <a:rPr lang="en-US" sz="2000" dirty="0">
                <a:solidFill>
                  <a:srgbClr val="E7EBF3"/>
                </a:solidFill>
                <a:latin typeface="Calibri" pitchFamily="34" charset="0"/>
                <a:ea typeface="Calibri" pitchFamily="34" charset="-122"/>
                <a:cs typeface="Calibri" pitchFamily="34" charset="-120"/>
              </a:rPr>
              <a:t>the actual code or circuit that computes that mapping (HOW it is done).</a:t>
            </a:r>
            <a:endParaRPr lang="en-US" sz="2000" dirty="0"/>
          </a:p>
        </p:txBody>
      </p:sp>
      <p:sp>
        <p:nvSpPr>
          <p:cNvPr id="7" name="Shape 5"/>
          <p:cNvSpPr/>
          <p:nvPr/>
        </p:nvSpPr>
        <p:spPr>
          <a:xfrm>
            <a:off x="502920" y="4389120"/>
            <a:ext cx="3423818" cy="777240"/>
          </a:xfrm>
          <a:prstGeom prst="roundRect">
            <a:avLst>
              <a:gd name="adj" fmla="val 9412"/>
            </a:avLst>
          </a:prstGeom>
          <a:solidFill>
            <a:srgbClr val="13294B"/>
          </a:solidFill>
          <a:ln/>
        </p:spPr>
      </p:sp>
      <p:sp>
        <p:nvSpPr>
          <p:cNvPr id="8" name="Text 6"/>
          <p:cNvSpPr/>
          <p:nvPr/>
        </p:nvSpPr>
        <p:spPr>
          <a:xfrm>
            <a:off x="576072" y="4389120"/>
            <a:ext cx="3277514" cy="777240"/>
          </a:xfrm>
          <a:prstGeom prst="rect">
            <a:avLst/>
          </a:prstGeom>
          <a:noFill/>
          <a:ln/>
        </p:spPr>
        <p:txBody>
          <a:bodyPr wrap="square" rtlCol="0" anchor="ctr"/>
          <a:lstStyle/>
          <a:p>
            <a:pPr marL="0" indent="0" algn="ctr">
              <a:lnSpc>
                <a:spcPts val="2070"/>
              </a:lnSpc>
              <a:buNone/>
            </a:pPr>
            <a:r>
              <a:rPr lang="en-US" sz="1800" b="1" dirty="0">
                <a:solidFill>
                  <a:srgbClr val="FFFFFF"/>
                </a:solidFill>
                <a:latin typeface="Calibri" pitchFamily="34" charset="0"/>
                <a:ea typeface="Calibri" pitchFamily="34" charset="-122"/>
                <a:cs typeface="Calibri" pitchFamily="34" charset="-120"/>
              </a:rPr>
              <a:t>Percept Sequence</a:t>
            </a:r>
            <a:endParaRPr lang="en-US" sz="1800" dirty="0"/>
          </a:p>
        </p:txBody>
      </p:sp>
      <p:sp>
        <p:nvSpPr>
          <p:cNvPr id="9" name="Text 7"/>
          <p:cNvSpPr/>
          <p:nvPr/>
        </p:nvSpPr>
        <p:spPr>
          <a:xfrm>
            <a:off x="3926738" y="4389120"/>
            <a:ext cx="457200" cy="777240"/>
          </a:xfrm>
          <a:prstGeom prst="rect">
            <a:avLst/>
          </a:prstGeom>
          <a:noFill/>
          <a:ln/>
        </p:spPr>
        <p:txBody>
          <a:bodyPr wrap="square" rtlCol="0" anchor="ctr"/>
          <a:lstStyle/>
          <a:p>
            <a:pPr marL="0" indent="0" algn="ctr">
              <a:buNone/>
            </a:pPr>
            <a:r>
              <a:rPr lang="en-US" sz="2400" b="1" dirty="0">
                <a:solidFill>
                  <a:srgbClr val="B08D57"/>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4383938" y="4389120"/>
            <a:ext cx="3423818" cy="777240"/>
          </a:xfrm>
          <a:prstGeom prst="roundRect">
            <a:avLst>
              <a:gd name="adj" fmla="val 9412"/>
            </a:avLst>
          </a:prstGeom>
          <a:solidFill>
            <a:srgbClr val="13294B"/>
          </a:solidFill>
          <a:ln/>
        </p:spPr>
      </p:sp>
      <p:sp>
        <p:nvSpPr>
          <p:cNvPr id="11" name="Text 9"/>
          <p:cNvSpPr/>
          <p:nvPr/>
        </p:nvSpPr>
        <p:spPr>
          <a:xfrm>
            <a:off x="4457090" y="4389120"/>
            <a:ext cx="3277514" cy="777240"/>
          </a:xfrm>
          <a:prstGeom prst="rect">
            <a:avLst/>
          </a:prstGeom>
          <a:noFill/>
          <a:ln/>
        </p:spPr>
        <p:txBody>
          <a:bodyPr wrap="square" rtlCol="0" anchor="ctr"/>
          <a:lstStyle/>
          <a:p>
            <a:pPr marL="0" indent="0" algn="ctr">
              <a:lnSpc>
                <a:spcPts val="2070"/>
              </a:lnSpc>
              <a:buNone/>
            </a:pPr>
            <a:r>
              <a:rPr lang="en-US" sz="1800" b="1" dirty="0">
                <a:solidFill>
                  <a:srgbClr val="FFFFFF"/>
                </a:solidFill>
                <a:latin typeface="Calibri" pitchFamily="34" charset="0"/>
                <a:ea typeface="Calibri" pitchFamily="34" charset="-122"/>
                <a:cs typeface="Calibri" pitchFamily="34" charset="-120"/>
              </a:rPr>
              <a:t>Agent Function</a:t>
            </a:r>
            <a:endParaRPr lang="en-US" sz="1800" dirty="0"/>
          </a:p>
        </p:txBody>
      </p:sp>
      <p:sp>
        <p:nvSpPr>
          <p:cNvPr id="12" name="Text 10"/>
          <p:cNvSpPr/>
          <p:nvPr/>
        </p:nvSpPr>
        <p:spPr>
          <a:xfrm>
            <a:off x="7807757" y="4389120"/>
            <a:ext cx="457200" cy="777240"/>
          </a:xfrm>
          <a:prstGeom prst="rect">
            <a:avLst/>
          </a:prstGeom>
          <a:noFill/>
          <a:ln/>
        </p:spPr>
        <p:txBody>
          <a:bodyPr wrap="square" rtlCol="0" anchor="ctr"/>
          <a:lstStyle/>
          <a:p>
            <a:pPr marL="0" indent="0" algn="ctr">
              <a:buNone/>
            </a:pPr>
            <a:r>
              <a:rPr lang="en-US" sz="2400" b="1" dirty="0">
                <a:solidFill>
                  <a:srgbClr val="B08D57"/>
                </a:solidFill>
                <a:latin typeface="Calibri" pitchFamily="34" charset="0"/>
                <a:ea typeface="Calibri" pitchFamily="34" charset="-122"/>
                <a:cs typeface="Calibri" pitchFamily="34" charset="-120"/>
              </a:rPr>
              <a:t>→</a:t>
            </a:r>
            <a:endParaRPr lang="en-US" sz="2400" dirty="0"/>
          </a:p>
        </p:txBody>
      </p:sp>
      <p:sp>
        <p:nvSpPr>
          <p:cNvPr id="13" name="Shape 11"/>
          <p:cNvSpPr/>
          <p:nvPr/>
        </p:nvSpPr>
        <p:spPr>
          <a:xfrm>
            <a:off x="8264957" y="4389120"/>
            <a:ext cx="3423818" cy="777240"/>
          </a:xfrm>
          <a:prstGeom prst="roundRect">
            <a:avLst>
              <a:gd name="adj" fmla="val 9412"/>
            </a:avLst>
          </a:prstGeom>
          <a:solidFill>
            <a:srgbClr val="13294B"/>
          </a:solidFill>
          <a:ln/>
        </p:spPr>
      </p:sp>
      <p:sp>
        <p:nvSpPr>
          <p:cNvPr id="14" name="Text 12"/>
          <p:cNvSpPr/>
          <p:nvPr/>
        </p:nvSpPr>
        <p:spPr>
          <a:xfrm>
            <a:off x="8338109" y="4389120"/>
            <a:ext cx="3277514" cy="777240"/>
          </a:xfrm>
          <a:prstGeom prst="rect">
            <a:avLst/>
          </a:prstGeom>
          <a:noFill/>
          <a:ln/>
        </p:spPr>
        <p:txBody>
          <a:bodyPr wrap="square" rtlCol="0" anchor="ctr"/>
          <a:lstStyle/>
          <a:p>
            <a:pPr marL="0" indent="0" algn="ctr">
              <a:lnSpc>
                <a:spcPts val="2070"/>
              </a:lnSpc>
              <a:buNone/>
            </a:pPr>
            <a:r>
              <a:rPr lang="en-US" sz="1800" b="1" dirty="0">
                <a:solidFill>
                  <a:srgbClr val="FFFFFF"/>
                </a:solidFill>
                <a:latin typeface="Calibri" pitchFamily="34" charset="0"/>
                <a:ea typeface="Calibri" pitchFamily="34" charset="-122"/>
                <a:cs typeface="Calibri" pitchFamily="34" charset="-120"/>
              </a:rPr>
              <a:t>Action</a:t>
            </a:r>
            <a:endParaRPr lang="en-US" sz="1800" dirty="0"/>
          </a:p>
        </p:txBody>
      </p:sp>
      <p:sp>
        <p:nvSpPr>
          <p:cNvPr id="15" name="Text 13"/>
          <p:cNvSpPr/>
          <p:nvPr/>
        </p:nvSpPr>
        <p:spPr>
          <a:xfrm>
            <a:off x="502920" y="5349240"/>
            <a:ext cx="11185855" cy="777240"/>
          </a:xfrm>
          <a:prstGeom prst="rect">
            <a:avLst/>
          </a:prstGeom>
          <a:noFill/>
          <a:ln/>
        </p:spPr>
        <p:txBody>
          <a:bodyPr wrap="square" rtlCol="0" anchor="ctr"/>
          <a:lstStyle/>
          <a:p>
            <a:pPr marL="0" indent="0">
              <a:lnSpc>
                <a:spcPts val="2375"/>
              </a:lnSpc>
              <a:buNone/>
            </a:pPr>
            <a:r>
              <a:rPr lang="en-US" sz="1900" b="1" dirty="0">
                <a:solidFill>
                  <a:srgbClr val="B08D57"/>
                </a:solidFill>
                <a:latin typeface="Calibri" pitchFamily="34" charset="0"/>
                <a:ea typeface="Calibri" pitchFamily="34" charset="-122"/>
                <a:cs typeface="Calibri" pitchFamily="34" charset="-120"/>
              </a:rPr>
              <a:t>Example:  </a:t>
            </a:r>
            <a:r>
              <a:rPr lang="en-US" sz="1900" dirty="0">
                <a:solidFill>
                  <a:srgbClr val="E7EBF3"/>
                </a:solidFill>
                <a:latin typeface="Calibri" pitchFamily="34" charset="0"/>
                <a:ea typeface="Calibri" pitchFamily="34" charset="-122"/>
                <a:cs typeface="Calibri" pitchFamily="34" charset="-120"/>
              </a:rPr>
              <a:t>a thermostat's agent FUNCTION says "below 20°C → heat ON"; its agent PROGRAM is the specific circuit or code that implements that rule.</a:t>
            </a:r>
            <a:endParaRPr lang="en-US" sz="1900" dirty="0"/>
          </a:p>
        </p:txBody>
      </p:sp>
      <p:sp>
        <p:nvSpPr>
          <p:cNvPr id="16" name="Text 14"/>
          <p:cNvSpPr/>
          <p:nvPr/>
        </p:nvSpPr>
        <p:spPr>
          <a:xfrm>
            <a:off x="502920" y="6446520"/>
            <a:ext cx="8229600" cy="320040"/>
          </a:xfrm>
          <a:prstGeom prst="rect">
            <a:avLst/>
          </a:prstGeom>
          <a:noFill/>
          <a:ln/>
        </p:spPr>
        <p:txBody>
          <a:bodyPr wrap="square" rtlCol="0" anchor="ctr"/>
          <a:lstStyle/>
          <a:p>
            <a:pPr marL="0" indent="0">
              <a:buNone/>
            </a:pPr>
            <a:r>
              <a:rPr lang="en-US" sz="1400" i="1" dirty="0">
                <a:solidFill>
                  <a:srgbClr val="8B96AC"/>
                </a:solidFill>
                <a:latin typeface="Calibri" pitchFamily="34" charset="0"/>
                <a:ea typeface="Calibri" pitchFamily="34" charset="-122"/>
                <a:cs typeface="Calibri" pitchFamily="34" charset="-120"/>
              </a:rPr>
              <a:t>AI — Intelligent Agents  |  B. Intelligent Agents</a:t>
            </a:r>
            <a:endParaRPr lang="en-US" sz="1400" dirty="0"/>
          </a:p>
        </p:txBody>
      </p:sp>
      <p:sp>
        <p:nvSpPr>
          <p:cNvPr id="17" name="Text 15"/>
          <p:cNvSpPr/>
          <p:nvPr/>
        </p:nvSpPr>
        <p:spPr>
          <a:xfrm>
            <a:off x="10500055" y="6446520"/>
            <a:ext cx="1188720" cy="320040"/>
          </a:xfrm>
          <a:prstGeom prst="rect">
            <a:avLst/>
          </a:prstGeom>
          <a:noFill/>
          <a:ln/>
        </p:spPr>
        <p:txBody>
          <a:bodyPr wrap="square" rtlCol="0" anchor="ctr"/>
          <a:lstStyle/>
          <a:p>
            <a:pPr marL="0" indent="0" algn="r">
              <a:buNone/>
            </a:pPr>
            <a:r>
              <a:rPr lang="en-US" sz="1400" dirty="0">
                <a:solidFill>
                  <a:srgbClr val="8B96AC"/>
                </a:solidFill>
                <a:latin typeface="Calibri" pitchFamily="34" charset="0"/>
                <a:ea typeface="Calibri" pitchFamily="34" charset="-122"/>
                <a:cs typeface="Calibri" pitchFamily="34" charset="-120"/>
              </a:rPr>
              <a:t>7 / 40</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85855" cy="347472"/>
          </a:xfrm>
          <a:prstGeom prst="rect">
            <a:avLst/>
          </a:prstGeom>
          <a:noFill/>
          <a:ln/>
        </p:spPr>
        <p:txBody>
          <a:bodyPr wrap="square" rtlCol="0" anchor="ctr"/>
          <a:lstStyle/>
          <a:p>
            <a:pPr marL="0" indent="0">
              <a:buNone/>
            </a:pPr>
            <a:r>
              <a:rPr lang="en-US" sz="1500" b="1" kern="0" spc="150" dirty="0">
                <a:solidFill>
                  <a:srgbClr val="B08D57"/>
                </a:solidFill>
                <a:latin typeface="Calibri" pitchFamily="34" charset="0"/>
                <a:ea typeface="Calibri" pitchFamily="34" charset="-122"/>
                <a:cs typeface="Calibri" pitchFamily="34" charset="-120"/>
              </a:rPr>
              <a:t>B. INTELLIGENT AGENTS</a:t>
            </a:r>
            <a:endParaRPr lang="en-US" sz="1500" dirty="0"/>
          </a:p>
        </p:txBody>
      </p:sp>
      <p:sp>
        <p:nvSpPr>
          <p:cNvPr id="3" name="Text 1"/>
          <p:cNvSpPr txBox="1"/>
          <p:nvPr/>
        </p:nvSpPr>
        <p:spPr>
          <a:xfrm>
            <a:off x="502920" y="676656"/>
            <a:ext cx="11185855" cy="1417320"/>
          </a:xfrm>
          <a:prstGeom prst="rect">
            <a:avLst/>
          </a:prstGeom>
          <a:noFill/>
          <a:ln/>
        </p:spPr>
        <p:txBody>
          <a:bodyPr wrap="square" rtlCol="0" anchor="t"/>
          <a:lstStyle/>
          <a:p>
            <a:pPr marL="0" indent="0">
              <a:lnSpc>
                <a:spcPts val="3136"/>
              </a:lnSpc>
              <a:buNone/>
            </a:pPr>
            <a:r>
              <a:rPr lang="en-US" sz="2800" b="1" dirty="0">
                <a:solidFill>
                  <a:srgbClr val="0B1E3D"/>
                </a:solidFill>
                <a:latin typeface="Cambria" pitchFamily="34" charset="0"/>
                <a:ea typeface="Cambria" pitchFamily="34" charset="-122"/>
                <a:cs typeface="Cambria" pitchFamily="34" charset="-120"/>
              </a:rPr>
              <a:t>What Makes an Agent “Intelligent”?</a:t>
            </a:r>
            <a:endParaRPr lang="en-US" sz="2800" dirty="0"/>
          </a:p>
        </p:txBody>
      </p:sp>
      <p:sp>
        <p:nvSpPr>
          <p:cNvPr id="4" name="Shape 2"/>
          <p:cNvSpPr/>
          <p:nvPr/>
        </p:nvSpPr>
        <p:spPr>
          <a:xfrm>
            <a:off x="502920" y="1828800"/>
            <a:ext cx="11185855" cy="1645920"/>
          </a:xfrm>
          <a:prstGeom prst="roundRect">
            <a:avLst>
              <a:gd name="adj" fmla="val 3889"/>
            </a:avLst>
          </a:prstGeom>
          <a:solidFill>
            <a:srgbClr val="0B1E3D"/>
          </a:solidFill>
          <a:ln/>
        </p:spPr>
      </p:sp>
      <p:sp>
        <p:nvSpPr>
          <p:cNvPr id="5" name="Text 3"/>
          <p:cNvSpPr/>
          <p:nvPr/>
        </p:nvSpPr>
        <p:spPr>
          <a:xfrm>
            <a:off x="777240" y="1965960"/>
            <a:ext cx="10637215" cy="411480"/>
          </a:xfrm>
          <a:prstGeom prst="rect">
            <a:avLst/>
          </a:prstGeom>
          <a:noFill/>
          <a:ln/>
        </p:spPr>
        <p:txBody>
          <a:bodyPr wrap="square" rtlCol="0" anchor="ctr"/>
          <a:lstStyle/>
          <a:p>
            <a:pPr marL="0" indent="0">
              <a:buNone/>
            </a:pPr>
            <a:r>
              <a:rPr lang="en-US" sz="1900" b="1" dirty="0">
                <a:solidFill>
                  <a:srgbClr val="B08D57"/>
                </a:solidFill>
                <a:latin typeface="Cambria" pitchFamily="34" charset="0"/>
                <a:ea typeface="Cambria" pitchFamily="34" charset="-122"/>
                <a:cs typeface="Cambria" pitchFamily="34" charset="-120"/>
              </a:rPr>
              <a:t>Characteristics often associated with intelligence</a:t>
            </a:r>
            <a:endParaRPr lang="en-US" sz="1900" dirty="0"/>
          </a:p>
        </p:txBody>
      </p:sp>
      <p:sp>
        <p:nvSpPr>
          <p:cNvPr id="6" name="Text 4"/>
          <p:cNvSpPr/>
          <p:nvPr/>
        </p:nvSpPr>
        <p:spPr>
          <a:xfrm>
            <a:off x="777240" y="2450592"/>
            <a:ext cx="2567864" cy="411480"/>
          </a:xfrm>
          <a:prstGeom prst="rect">
            <a:avLst/>
          </a:prstGeom>
          <a:noFill/>
          <a:ln/>
        </p:spPr>
        <p:txBody>
          <a:bodyPr wrap="square" rtlCol="0" anchor="ctr"/>
          <a:lstStyle/>
          <a:p>
            <a:pPr marL="0" indent="0">
              <a:buNone/>
            </a:pPr>
            <a:r>
              <a:rPr lang="en-US" sz="1800" dirty="0">
                <a:solidFill>
                  <a:srgbClr val="E7EBF3"/>
                </a:solidFill>
                <a:latin typeface="Calibri" pitchFamily="34" charset="0"/>
                <a:ea typeface="Calibri" pitchFamily="34" charset="-122"/>
                <a:cs typeface="Calibri" pitchFamily="34" charset="-120"/>
              </a:rPr>
              <a:t>•  Perception</a:t>
            </a:r>
            <a:endParaRPr lang="en-US" sz="1800" dirty="0"/>
          </a:p>
        </p:txBody>
      </p:sp>
      <p:sp>
        <p:nvSpPr>
          <p:cNvPr id="7" name="Text 5"/>
          <p:cNvSpPr/>
          <p:nvPr/>
        </p:nvSpPr>
        <p:spPr>
          <a:xfrm>
            <a:off x="3436544" y="2450592"/>
            <a:ext cx="2567864" cy="411480"/>
          </a:xfrm>
          <a:prstGeom prst="rect">
            <a:avLst/>
          </a:prstGeom>
          <a:noFill/>
          <a:ln/>
        </p:spPr>
        <p:txBody>
          <a:bodyPr wrap="square" rtlCol="0" anchor="ctr"/>
          <a:lstStyle/>
          <a:p>
            <a:pPr marL="0" indent="0">
              <a:buNone/>
            </a:pPr>
            <a:r>
              <a:rPr lang="en-US" sz="1800" dirty="0">
                <a:solidFill>
                  <a:srgbClr val="E7EBF3"/>
                </a:solidFill>
                <a:latin typeface="Calibri" pitchFamily="34" charset="0"/>
                <a:ea typeface="Calibri" pitchFamily="34" charset="-122"/>
                <a:cs typeface="Calibri" pitchFamily="34" charset="-120"/>
              </a:rPr>
              <a:t>•  Decision making</a:t>
            </a:r>
            <a:endParaRPr lang="en-US" sz="1800" dirty="0"/>
          </a:p>
        </p:txBody>
      </p:sp>
      <p:sp>
        <p:nvSpPr>
          <p:cNvPr id="8" name="Text 6"/>
          <p:cNvSpPr/>
          <p:nvPr/>
        </p:nvSpPr>
        <p:spPr>
          <a:xfrm>
            <a:off x="6095848" y="2450592"/>
            <a:ext cx="2567864" cy="411480"/>
          </a:xfrm>
          <a:prstGeom prst="rect">
            <a:avLst/>
          </a:prstGeom>
          <a:noFill/>
          <a:ln/>
        </p:spPr>
        <p:txBody>
          <a:bodyPr wrap="square" rtlCol="0" anchor="ctr"/>
          <a:lstStyle/>
          <a:p>
            <a:pPr marL="0" indent="0">
              <a:buNone/>
            </a:pPr>
            <a:r>
              <a:rPr lang="en-US" sz="1800" dirty="0">
                <a:solidFill>
                  <a:srgbClr val="E7EBF3"/>
                </a:solidFill>
                <a:latin typeface="Calibri" pitchFamily="34" charset="0"/>
                <a:ea typeface="Calibri" pitchFamily="34" charset="-122"/>
                <a:cs typeface="Calibri" pitchFamily="34" charset="-120"/>
              </a:rPr>
              <a:t>•  Goal-directed behavior</a:t>
            </a:r>
            <a:endParaRPr lang="en-US" sz="1800" dirty="0"/>
          </a:p>
        </p:txBody>
      </p:sp>
      <p:sp>
        <p:nvSpPr>
          <p:cNvPr id="9" name="Text 7"/>
          <p:cNvSpPr/>
          <p:nvPr/>
        </p:nvSpPr>
        <p:spPr>
          <a:xfrm>
            <a:off x="8755151" y="2450592"/>
            <a:ext cx="2567864" cy="411480"/>
          </a:xfrm>
          <a:prstGeom prst="rect">
            <a:avLst/>
          </a:prstGeom>
          <a:noFill/>
          <a:ln/>
        </p:spPr>
        <p:txBody>
          <a:bodyPr wrap="square" rtlCol="0" anchor="ctr"/>
          <a:lstStyle/>
          <a:p>
            <a:pPr marL="0" indent="0">
              <a:buNone/>
            </a:pPr>
            <a:r>
              <a:rPr lang="en-US" sz="1800" dirty="0">
                <a:solidFill>
                  <a:srgbClr val="E7EBF3"/>
                </a:solidFill>
                <a:latin typeface="Calibri" pitchFamily="34" charset="0"/>
                <a:ea typeface="Calibri" pitchFamily="34" charset="-122"/>
                <a:cs typeface="Calibri" pitchFamily="34" charset="-120"/>
              </a:rPr>
              <a:t>•  Adaptation</a:t>
            </a:r>
            <a:endParaRPr lang="en-US" sz="1800" dirty="0"/>
          </a:p>
        </p:txBody>
      </p:sp>
      <p:sp>
        <p:nvSpPr>
          <p:cNvPr id="10" name="Text 8"/>
          <p:cNvSpPr/>
          <p:nvPr/>
        </p:nvSpPr>
        <p:spPr>
          <a:xfrm>
            <a:off x="777240" y="2907792"/>
            <a:ext cx="2567864" cy="411480"/>
          </a:xfrm>
          <a:prstGeom prst="rect">
            <a:avLst/>
          </a:prstGeom>
          <a:noFill/>
          <a:ln/>
        </p:spPr>
        <p:txBody>
          <a:bodyPr wrap="square" rtlCol="0" anchor="ctr"/>
          <a:lstStyle/>
          <a:p>
            <a:pPr marL="0" indent="0">
              <a:buNone/>
            </a:pPr>
            <a:r>
              <a:rPr lang="en-US" sz="1800" dirty="0">
                <a:solidFill>
                  <a:srgbClr val="E7EBF3"/>
                </a:solidFill>
                <a:latin typeface="Calibri" pitchFamily="34" charset="0"/>
                <a:ea typeface="Calibri" pitchFamily="34" charset="-122"/>
                <a:cs typeface="Calibri" pitchFamily="34" charset="-120"/>
              </a:rPr>
              <a:t>•  Learning</a:t>
            </a:r>
            <a:endParaRPr lang="en-US" sz="1800" dirty="0"/>
          </a:p>
        </p:txBody>
      </p:sp>
      <p:sp>
        <p:nvSpPr>
          <p:cNvPr id="11" name="Text 9"/>
          <p:cNvSpPr/>
          <p:nvPr/>
        </p:nvSpPr>
        <p:spPr>
          <a:xfrm>
            <a:off x="3436544" y="2907792"/>
            <a:ext cx="2567864" cy="411480"/>
          </a:xfrm>
          <a:prstGeom prst="rect">
            <a:avLst/>
          </a:prstGeom>
          <a:noFill/>
          <a:ln/>
        </p:spPr>
        <p:txBody>
          <a:bodyPr wrap="square" rtlCol="0" anchor="ctr"/>
          <a:lstStyle/>
          <a:p>
            <a:pPr marL="0" indent="0">
              <a:buNone/>
            </a:pPr>
            <a:r>
              <a:rPr lang="en-US" sz="1800" dirty="0">
                <a:solidFill>
                  <a:srgbClr val="E7EBF3"/>
                </a:solidFill>
                <a:latin typeface="Calibri" pitchFamily="34" charset="0"/>
                <a:ea typeface="Calibri" pitchFamily="34" charset="-122"/>
                <a:cs typeface="Calibri" pitchFamily="34" charset="-120"/>
              </a:rPr>
              <a:t>•  Autonomy</a:t>
            </a:r>
            <a:endParaRPr lang="en-US" sz="1800" dirty="0"/>
          </a:p>
        </p:txBody>
      </p:sp>
      <p:sp>
        <p:nvSpPr>
          <p:cNvPr id="12" name="Text 10"/>
          <p:cNvSpPr/>
          <p:nvPr/>
        </p:nvSpPr>
        <p:spPr>
          <a:xfrm>
            <a:off x="6095848" y="2907792"/>
            <a:ext cx="2567864" cy="411480"/>
          </a:xfrm>
          <a:prstGeom prst="rect">
            <a:avLst/>
          </a:prstGeom>
          <a:noFill/>
          <a:ln/>
        </p:spPr>
        <p:txBody>
          <a:bodyPr wrap="square" rtlCol="0" anchor="ctr"/>
          <a:lstStyle/>
          <a:p>
            <a:pPr marL="0" indent="0">
              <a:buNone/>
            </a:pPr>
            <a:r>
              <a:rPr lang="en-US" sz="1800" dirty="0">
                <a:solidFill>
                  <a:srgbClr val="E7EBF3"/>
                </a:solidFill>
                <a:latin typeface="Calibri" pitchFamily="34" charset="0"/>
                <a:ea typeface="Calibri" pitchFamily="34" charset="-122"/>
                <a:cs typeface="Calibri" pitchFamily="34" charset="-120"/>
              </a:rPr>
              <a:t>•  Responsiveness</a:t>
            </a:r>
            <a:endParaRPr lang="en-US" sz="1800" dirty="0"/>
          </a:p>
        </p:txBody>
      </p:sp>
      <p:sp>
        <p:nvSpPr>
          <p:cNvPr id="13" name="Shape 11"/>
          <p:cNvSpPr/>
          <p:nvPr/>
        </p:nvSpPr>
        <p:spPr>
          <a:xfrm>
            <a:off x="502920" y="3611880"/>
            <a:ext cx="11185855" cy="777240"/>
          </a:xfrm>
          <a:prstGeom prst="roundRect">
            <a:avLst>
              <a:gd name="adj" fmla="val 9412"/>
            </a:avLst>
          </a:prstGeom>
          <a:solidFill>
            <a:srgbClr val="F3F5F8"/>
          </a:solidFill>
          <a:ln w="12700">
            <a:solidFill>
              <a:srgbClr val="D8DCE3"/>
            </a:solidFill>
            <a:prstDash val="solid"/>
          </a:ln>
        </p:spPr>
      </p:sp>
      <p:sp>
        <p:nvSpPr>
          <p:cNvPr id="14" name="Text 12"/>
          <p:cNvSpPr/>
          <p:nvPr/>
        </p:nvSpPr>
        <p:spPr>
          <a:xfrm>
            <a:off x="777240" y="3611880"/>
            <a:ext cx="10637215" cy="777240"/>
          </a:xfrm>
          <a:prstGeom prst="rect">
            <a:avLst/>
          </a:prstGeom>
          <a:noFill/>
          <a:ln/>
        </p:spPr>
        <p:txBody>
          <a:bodyPr wrap="square" rtlCol="0" anchor="ctr"/>
          <a:lstStyle/>
          <a:p>
            <a:pPr marL="0" indent="0">
              <a:lnSpc>
                <a:spcPts val="2760"/>
              </a:lnSpc>
              <a:buNone/>
            </a:pPr>
            <a:r>
              <a:rPr lang="en-US" sz="2300" b="1" dirty="0">
                <a:solidFill>
                  <a:srgbClr val="9B3A3A"/>
                </a:solidFill>
                <a:latin typeface="Calibri" pitchFamily="34" charset="0"/>
                <a:ea typeface="Calibri" pitchFamily="34" charset="-122"/>
                <a:cs typeface="Calibri" pitchFamily="34" charset="-120"/>
              </a:rPr>
              <a:t>Important:  </a:t>
            </a:r>
            <a:r>
              <a:rPr lang="en-US" sz="2300" dirty="0">
                <a:solidFill>
                  <a:srgbClr val="1A1F2B"/>
                </a:solidFill>
                <a:latin typeface="Calibri" pitchFamily="34" charset="0"/>
                <a:ea typeface="Calibri" pitchFamily="34" charset="-122"/>
                <a:cs typeface="Calibri" pitchFamily="34" charset="-120"/>
              </a:rPr>
              <a:t>an agent need NOT possess every trait above. What counts as "intelligent" depends on the task and the agent's design.</a:t>
            </a:r>
            <a:endParaRPr lang="en-US" sz="2300" dirty="0"/>
          </a:p>
        </p:txBody>
      </p:sp>
      <p:sp>
        <p:nvSpPr>
          <p:cNvPr id="15" name="Text 13"/>
          <p:cNvSpPr/>
          <p:nvPr/>
        </p:nvSpPr>
        <p:spPr>
          <a:xfrm>
            <a:off x="502920" y="4617720"/>
            <a:ext cx="11185855" cy="914400"/>
          </a:xfrm>
          <a:prstGeom prst="rect">
            <a:avLst/>
          </a:prstGeom>
          <a:noFill/>
          <a:ln/>
        </p:spPr>
        <p:txBody>
          <a:bodyPr wrap="square" rtlCol="0" anchor="ctr"/>
          <a:lstStyle/>
          <a:p>
            <a:pPr marL="0" indent="0">
              <a:lnSpc>
                <a:spcPts val="2470"/>
              </a:lnSpc>
              <a:buNone/>
            </a:pPr>
            <a:r>
              <a:rPr lang="en-US" sz="1900" b="1" dirty="0">
                <a:solidFill>
                  <a:srgbClr val="0B1E3D"/>
                </a:solidFill>
                <a:latin typeface="Calibri" pitchFamily="34" charset="0"/>
                <a:ea typeface="Calibri" pitchFamily="34" charset="-122"/>
                <a:cs typeface="Calibri" pitchFamily="34" charset="-120"/>
              </a:rPr>
              <a:t>Example:  </a:t>
            </a:r>
            <a:r>
              <a:rPr lang="en-US" sz="1900" dirty="0">
                <a:solidFill>
                  <a:srgbClr val="1A1F2B"/>
                </a:solidFill>
                <a:latin typeface="Calibri" pitchFamily="34" charset="0"/>
                <a:ea typeface="Calibri" pitchFamily="34" charset="-122"/>
                <a:cs typeface="Calibri" pitchFamily="34" charset="-120"/>
              </a:rPr>
              <a:t>a thermostat has very limited intelligence compared with an autonomous vehicle, yet both are legitimately agents — they simply sit at different points on a spectrum of capability.</a:t>
            </a:r>
            <a:endParaRPr lang="en-US" sz="1900" dirty="0"/>
          </a:p>
        </p:txBody>
      </p:sp>
      <p:sp>
        <p:nvSpPr>
          <p:cNvPr id="16" name="Text 14"/>
          <p:cNvSpPr/>
          <p:nvPr/>
        </p:nvSpPr>
        <p:spPr>
          <a:xfrm>
            <a:off x="502920" y="6446520"/>
            <a:ext cx="8229600" cy="320040"/>
          </a:xfrm>
          <a:prstGeom prst="rect">
            <a:avLst/>
          </a:prstGeom>
          <a:noFill/>
          <a:ln/>
        </p:spPr>
        <p:txBody>
          <a:bodyPr wrap="square" rtlCol="0" anchor="ctr"/>
          <a:lstStyle/>
          <a:p>
            <a:pPr marL="0" indent="0">
              <a:buNone/>
            </a:pPr>
            <a:r>
              <a:rPr lang="en-US" sz="1400" i="1" dirty="0">
                <a:solidFill>
                  <a:srgbClr val="5A6478"/>
                </a:solidFill>
                <a:latin typeface="Calibri" pitchFamily="34" charset="0"/>
                <a:ea typeface="Calibri" pitchFamily="34" charset="-122"/>
                <a:cs typeface="Calibri" pitchFamily="34" charset="-120"/>
              </a:rPr>
              <a:t>AI — Intelligent Agents  |  B. Intelligent Agents</a:t>
            </a:r>
            <a:endParaRPr lang="en-US" sz="1400" dirty="0"/>
          </a:p>
        </p:txBody>
      </p:sp>
      <p:sp>
        <p:nvSpPr>
          <p:cNvPr id="17" name="Text 15"/>
          <p:cNvSpPr/>
          <p:nvPr/>
        </p:nvSpPr>
        <p:spPr>
          <a:xfrm>
            <a:off x="10500055" y="6446520"/>
            <a:ext cx="1188720" cy="320040"/>
          </a:xfrm>
          <a:prstGeom prst="rect">
            <a:avLst/>
          </a:prstGeom>
          <a:noFill/>
          <a:ln/>
        </p:spPr>
        <p:txBody>
          <a:bodyPr wrap="square" rtlCol="0" anchor="ctr"/>
          <a:lstStyle/>
          <a:p>
            <a:pPr marL="0" indent="0" algn="r">
              <a:buNone/>
            </a:pPr>
            <a:r>
              <a:rPr lang="en-US" sz="1400" dirty="0">
                <a:solidFill>
                  <a:srgbClr val="5A6478"/>
                </a:solidFill>
                <a:latin typeface="Calibri" pitchFamily="34" charset="0"/>
                <a:ea typeface="Calibri" pitchFamily="34" charset="-122"/>
                <a:cs typeface="Calibri" pitchFamily="34" charset="-120"/>
              </a:rPr>
              <a:t>8 / 40</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85855" cy="347472"/>
          </a:xfrm>
          <a:prstGeom prst="rect">
            <a:avLst/>
          </a:prstGeom>
          <a:noFill/>
          <a:ln/>
        </p:spPr>
        <p:txBody>
          <a:bodyPr wrap="square" rtlCol="0" anchor="ctr"/>
          <a:lstStyle/>
          <a:p>
            <a:pPr marL="0" indent="0">
              <a:buNone/>
            </a:pPr>
            <a:r>
              <a:rPr lang="en-US" sz="1500" b="1" kern="0" spc="150" dirty="0">
                <a:solidFill>
                  <a:srgbClr val="B08D57"/>
                </a:solidFill>
                <a:latin typeface="Calibri" pitchFamily="34" charset="0"/>
                <a:ea typeface="Calibri" pitchFamily="34" charset="-122"/>
                <a:cs typeface="Calibri" pitchFamily="34" charset="-120"/>
              </a:rPr>
              <a:t>C. RATIONAL AGENTS</a:t>
            </a:r>
            <a:endParaRPr lang="en-US" sz="1500" dirty="0"/>
          </a:p>
        </p:txBody>
      </p:sp>
      <p:sp>
        <p:nvSpPr>
          <p:cNvPr id="3" name="Text 1"/>
          <p:cNvSpPr txBox="1"/>
          <p:nvPr/>
        </p:nvSpPr>
        <p:spPr>
          <a:xfrm>
            <a:off x="502920" y="676656"/>
            <a:ext cx="11185855" cy="1417320"/>
          </a:xfrm>
          <a:prstGeom prst="rect">
            <a:avLst/>
          </a:prstGeom>
          <a:noFill/>
          <a:ln/>
        </p:spPr>
        <p:txBody>
          <a:bodyPr wrap="square" rtlCol="0" anchor="t"/>
          <a:lstStyle/>
          <a:p>
            <a:pPr marL="0" indent="0">
              <a:lnSpc>
                <a:spcPts val="3584"/>
              </a:lnSpc>
              <a:buNone/>
            </a:pPr>
            <a:r>
              <a:rPr lang="en-US" sz="3200" b="1" dirty="0">
                <a:solidFill>
                  <a:srgbClr val="0B1E3D"/>
                </a:solidFill>
                <a:latin typeface="Cambria" pitchFamily="34" charset="0"/>
                <a:ea typeface="Cambria" pitchFamily="34" charset="-122"/>
                <a:cs typeface="Cambria" pitchFamily="34" charset="-120"/>
              </a:rPr>
              <a:t>What Is a Rational Agent?</a:t>
            </a:r>
            <a:endParaRPr lang="en-US" sz="3200" dirty="0"/>
          </a:p>
        </p:txBody>
      </p:sp>
      <p:sp>
        <p:nvSpPr>
          <p:cNvPr id="4" name="Shape 2"/>
          <p:cNvSpPr/>
          <p:nvPr/>
        </p:nvSpPr>
        <p:spPr>
          <a:xfrm>
            <a:off x="502920" y="1828800"/>
            <a:ext cx="11185855" cy="1051560"/>
          </a:xfrm>
          <a:prstGeom prst="roundRect">
            <a:avLst>
              <a:gd name="adj" fmla="val 6957"/>
            </a:avLst>
          </a:prstGeom>
          <a:solidFill>
            <a:srgbClr val="0B1E3D"/>
          </a:solidFill>
          <a:ln/>
        </p:spPr>
      </p:sp>
      <p:sp>
        <p:nvSpPr>
          <p:cNvPr id="5" name="Text 3"/>
          <p:cNvSpPr/>
          <p:nvPr/>
        </p:nvSpPr>
        <p:spPr>
          <a:xfrm>
            <a:off x="777240" y="1828800"/>
            <a:ext cx="10637215" cy="1051560"/>
          </a:xfrm>
          <a:prstGeom prst="rect">
            <a:avLst/>
          </a:prstGeom>
          <a:noFill/>
          <a:ln/>
        </p:spPr>
        <p:txBody>
          <a:bodyPr wrap="square" rtlCol="0" anchor="ctr"/>
          <a:lstStyle/>
          <a:p>
            <a:pPr marL="0" indent="0">
              <a:lnSpc>
                <a:spcPts val="2760"/>
              </a:lnSpc>
              <a:buNone/>
            </a:pPr>
            <a:r>
              <a:rPr lang="en-US" sz="2300" b="1" dirty="0">
                <a:solidFill>
                  <a:srgbClr val="B08D57"/>
                </a:solidFill>
                <a:latin typeface="Calibri" pitchFamily="34" charset="0"/>
                <a:ea typeface="Calibri" pitchFamily="34" charset="-122"/>
                <a:cs typeface="Calibri" pitchFamily="34" charset="-120"/>
              </a:rPr>
              <a:t>Formal definition:  </a:t>
            </a:r>
            <a:r>
              <a:rPr lang="en-US" sz="2300" dirty="0">
                <a:solidFill>
                  <a:srgbClr val="E7EBF3"/>
                </a:solidFill>
                <a:latin typeface="Calibri" pitchFamily="34" charset="0"/>
                <a:ea typeface="Calibri" pitchFamily="34" charset="-122"/>
                <a:cs typeface="Calibri" pitchFamily="34" charset="-120"/>
              </a:rPr>
              <a:t>a rational agent chooses the action expected to maximize its performance measure, given the percept sequence and available knowledge.</a:t>
            </a:r>
            <a:endParaRPr lang="en-US" sz="2300" dirty="0"/>
          </a:p>
        </p:txBody>
      </p:sp>
      <p:sp>
        <p:nvSpPr>
          <p:cNvPr id="6" name="Shape 4"/>
          <p:cNvSpPr/>
          <p:nvPr/>
        </p:nvSpPr>
        <p:spPr>
          <a:xfrm>
            <a:off x="502920" y="3063240"/>
            <a:ext cx="3545738" cy="822960"/>
          </a:xfrm>
          <a:prstGeom prst="roundRect">
            <a:avLst>
              <a:gd name="adj" fmla="val 8889"/>
            </a:avLst>
          </a:prstGeom>
          <a:solidFill>
            <a:srgbClr val="F3F5F8"/>
          </a:solidFill>
          <a:ln w="12700">
            <a:solidFill>
              <a:srgbClr val="D8DCE3"/>
            </a:solidFill>
            <a:prstDash val="solid"/>
          </a:ln>
        </p:spPr>
      </p:sp>
      <p:sp>
        <p:nvSpPr>
          <p:cNvPr id="7" name="Text 5"/>
          <p:cNvSpPr/>
          <p:nvPr/>
        </p:nvSpPr>
        <p:spPr>
          <a:xfrm>
            <a:off x="502920" y="3063240"/>
            <a:ext cx="3545738" cy="822960"/>
          </a:xfrm>
          <a:prstGeom prst="rect">
            <a:avLst/>
          </a:prstGeom>
          <a:noFill/>
          <a:ln/>
        </p:spPr>
        <p:txBody>
          <a:bodyPr wrap="square" rtlCol="0" anchor="ctr"/>
          <a:lstStyle/>
          <a:p>
            <a:pPr marL="0" indent="0" algn="ctr">
              <a:buNone/>
            </a:pPr>
            <a:r>
              <a:rPr lang="en-US" sz="2000" b="1" dirty="0">
                <a:solidFill>
                  <a:srgbClr val="0B1E3D"/>
                </a:solidFill>
                <a:latin typeface="Cambria" pitchFamily="34" charset="0"/>
                <a:ea typeface="Cambria" pitchFamily="34" charset="-122"/>
                <a:cs typeface="Cambria" pitchFamily="34" charset="-120"/>
              </a:rPr>
              <a:t>Rational  </a:t>
            </a:r>
            <a:r>
              <a:rPr lang="en-US" sz="2000" b="1" dirty="0">
                <a:solidFill>
                  <a:srgbClr val="9B3A3A"/>
                </a:solidFill>
                <a:latin typeface="Calibri" pitchFamily="34" charset="0"/>
                <a:ea typeface="Calibri" pitchFamily="34" charset="-122"/>
                <a:cs typeface="Calibri" pitchFamily="34" charset="-120"/>
              </a:rPr>
              <a:t>≠  always successful</a:t>
            </a:r>
            <a:endParaRPr lang="en-US" sz="2000" dirty="0"/>
          </a:p>
        </p:txBody>
      </p:sp>
      <p:sp>
        <p:nvSpPr>
          <p:cNvPr id="8" name="Shape 6"/>
          <p:cNvSpPr/>
          <p:nvPr/>
        </p:nvSpPr>
        <p:spPr>
          <a:xfrm>
            <a:off x="4322978" y="3063240"/>
            <a:ext cx="3545738" cy="822960"/>
          </a:xfrm>
          <a:prstGeom prst="roundRect">
            <a:avLst>
              <a:gd name="adj" fmla="val 8889"/>
            </a:avLst>
          </a:prstGeom>
          <a:solidFill>
            <a:srgbClr val="F3F5F8"/>
          </a:solidFill>
          <a:ln w="12700">
            <a:solidFill>
              <a:srgbClr val="D8DCE3"/>
            </a:solidFill>
            <a:prstDash val="solid"/>
          </a:ln>
        </p:spPr>
      </p:sp>
      <p:sp>
        <p:nvSpPr>
          <p:cNvPr id="9" name="Text 7"/>
          <p:cNvSpPr/>
          <p:nvPr/>
        </p:nvSpPr>
        <p:spPr>
          <a:xfrm>
            <a:off x="4322978" y="3063240"/>
            <a:ext cx="3545738" cy="822960"/>
          </a:xfrm>
          <a:prstGeom prst="rect">
            <a:avLst/>
          </a:prstGeom>
          <a:noFill/>
          <a:ln/>
        </p:spPr>
        <p:txBody>
          <a:bodyPr wrap="square" rtlCol="0" anchor="ctr"/>
          <a:lstStyle/>
          <a:p>
            <a:pPr marL="0" indent="0" algn="ctr">
              <a:buNone/>
            </a:pPr>
            <a:r>
              <a:rPr lang="en-US" sz="2000" b="1" dirty="0">
                <a:solidFill>
                  <a:srgbClr val="0B1E3D"/>
                </a:solidFill>
                <a:latin typeface="Cambria" pitchFamily="34" charset="0"/>
                <a:ea typeface="Cambria" pitchFamily="34" charset="-122"/>
                <a:cs typeface="Cambria" pitchFamily="34" charset="-120"/>
              </a:rPr>
              <a:t>Rational  </a:t>
            </a:r>
            <a:r>
              <a:rPr lang="en-US" sz="2000" b="1" dirty="0">
                <a:solidFill>
                  <a:srgbClr val="9B3A3A"/>
                </a:solidFill>
                <a:latin typeface="Calibri" pitchFamily="34" charset="0"/>
                <a:ea typeface="Calibri" pitchFamily="34" charset="-122"/>
                <a:cs typeface="Calibri" pitchFamily="34" charset="-120"/>
              </a:rPr>
              <a:t>≠  omniscient</a:t>
            </a:r>
            <a:endParaRPr lang="en-US" sz="2000" dirty="0"/>
          </a:p>
        </p:txBody>
      </p:sp>
      <p:sp>
        <p:nvSpPr>
          <p:cNvPr id="10" name="Shape 8"/>
          <p:cNvSpPr/>
          <p:nvPr/>
        </p:nvSpPr>
        <p:spPr>
          <a:xfrm>
            <a:off x="8143037" y="3063240"/>
            <a:ext cx="3545738" cy="822960"/>
          </a:xfrm>
          <a:prstGeom prst="roundRect">
            <a:avLst>
              <a:gd name="adj" fmla="val 8889"/>
            </a:avLst>
          </a:prstGeom>
          <a:solidFill>
            <a:srgbClr val="F3F5F8"/>
          </a:solidFill>
          <a:ln w="12700">
            <a:solidFill>
              <a:srgbClr val="D8DCE3"/>
            </a:solidFill>
            <a:prstDash val="solid"/>
          </a:ln>
        </p:spPr>
      </p:sp>
      <p:sp>
        <p:nvSpPr>
          <p:cNvPr id="11" name="Text 9"/>
          <p:cNvSpPr/>
          <p:nvPr/>
        </p:nvSpPr>
        <p:spPr>
          <a:xfrm>
            <a:off x="8143037" y="3063240"/>
            <a:ext cx="3545738" cy="822960"/>
          </a:xfrm>
          <a:prstGeom prst="rect">
            <a:avLst/>
          </a:prstGeom>
          <a:noFill/>
          <a:ln/>
        </p:spPr>
        <p:txBody>
          <a:bodyPr wrap="square" rtlCol="0" anchor="ctr"/>
          <a:lstStyle/>
          <a:p>
            <a:pPr marL="0" indent="0" algn="ctr">
              <a:buNone/>
            </a:pPr>
            <a:r>
              <a:rPr lang="en-US" sz="2000" b="1" dirty="0">
                <a:solidFill>
                  <a:srgbClr val="0B1E3D"/>
                </a:solidFill>
                <a:latin typeface="Cambria" pitchFamily="34" charset="0"/>
                <a:ea typeface="Cambria" pitchFamily="34" charset="-122"/>
                <a:cs typeface="Cambria" pitchFamily="34" charset="-120"/>
              </a:rPr>
              <a:t>Rational  </a:t>
            </a:r>
            <a:r>
              <a:rPr lang="en-US" sz="2000" b="1" dirty="0">
                <a:solidFill>
                  <a:srgbClr val="9B3A3A"/>
                </a:solidFill>
                <a:latin typeface="Calibri" pitchFamily="34" charset="0"/>
                <a:ea typeface="Calibri" pitchFamily="34" charset="-122"/>
                <a:cs typeface="Calibri" pitchFamily="34" charset="-120"/>
              </a:rPr>
              <a:t>≠  perfect</a:t>
            </a:r>
            <a:endParaRPr lang="en-US" sz="2000" dirty="0"/>
          </a:p>
        </p:txBody>
      </p:sp>
      <p:sp>
        <p:nvSpPr>
          <p:cNvPr id="12" name="Text 10"/>
          <p:cNvSpPr/>
          <p:nvPr/>
        </p:nvSpPr>
        <p:spPr>
          <a:xfrm>
            <a:off x="502920" y="4160520"/>
            <a:ext cx="11185855" cy="1005840"/>
          </a:xfrm>
          <a:prstGeom prst="rect">
            <a:avLst/>
          </a:prstGeom>
          <a:noFill/>
          <a:ln/>
        </p:spPr>
        <p:txBody>
          <a:bodyPr wrap="square" rtlCol="0" anchor="ctr"/>
          <a:lstStyle/>
          <a:p>
            <a:pPr marL="0" indent="0">
              <a:lnSpc>
                <a:spcPts val="2470"/>
              </a:lnSpc>
              <a:buNone/>
            </a:pPr>
            <a:r>
              <a:rPr lang="en-US" sz="1900" b="1" dirty="0">
                <a:solidFill>
                  <a:srgbClr val="0B1E3D"/>
                </a:solidFill>
                <a:latin typeface="Calibri" pitchFamily="34" charset="0"/>
                <a:ea typeface="Calibri" pitchFamily="34" charset="-122"/>
                <a:cs typeface="Calibri" pitchFamily="34" charset="-120"/>
              </a:rPr>
              <a:t>Real-life example:  </a:t>
            </a:r>
            <a:r>
              <a:rPr lang="en-US" sz="1900" dirty="0">
                <a:solidFill>
                  <a:srgbClr val="1A1F2B"/>
                </a:solidFill>
                <a:latin typeface="Calibri" pitchFamily="34" charset="0"/>
                <a:ea typeface="Calibri" pitchFamily="34" charset="-122"/>
                <a:cs typeface="Calibri" pitchFamily="34" charset="-120"/>
              </a:rPr>
              <a:t>a self-driving car chooses to brake because current sensor information indicates a pedestrian ahead — that is the rational choice given what it currently knows.</a:t>
            </a:r>
            <a:endParaRPr lang="en-US" sz="1900" dirty="0"/>
          </a:p>
        </p:txBody>
      </p:sp>
      <p:sp>
        <p:nvSpPr>
          <p:cNvPr id="13" name="Shape 11"/>
          <p:cNvSpPr/>
          <p:nvPr/>
        </p:nvSpPr>
        <p:spPr>
          <a:xfrm>
            <a:off x="502920" y="5349240"/>
            <a:ext cx="11185855" cy="640080"/>
          </a:xfrm>
          <a:prstGeom prst="roundRect">
            <a:avLst>
              <a:gd name="adj" fmla="val 11429"/>
            </a:avLst>
          </a:prstGeom>
          <a:solidFill>
            <a:srgbClr val="FBF3E6"/>
          </a:solidFill>
          <a:ln w="12700">
            <a:solidFill>
              <a:srgbClr val="B08D57"/>
            </a:solidFill>
            <a:prstDash val="solid"/>
          </a:ln>
        </p:spPr>
      </p:sp>
      <p:sp>
        <p:nvSpPr>
          <p:cNvPr id="14" name="Text 12"/>
          <p:cNvSpPr/>
          <p:nvPr/>
        </p:nvSpPr>
        <p:spPr>
          <a:xfrm>
            <a:off x="777240" y="5349240"/>
            <a:ext cx="10637215" cy="640080"/>
          </a:xfrm>
          <a:prstGeom prst="rect">
            <a:avLst/>
          </a:prstGeom>
          <a:noFill/>
          <a:ln/>
        </p:spPr>
        <p:txBody>
          <a:bodyPr wrap="square" rtlCol="0" anchor="ctr"/>
          <a:lstStyle/>
          <a:p>
            <a:pPr marL="0" indent="0" algn="ctr">
              <a:buNone/>
            </a:pPr>
            <a:r>
              <a:rPr lang="en-US" sz="1700" b="1" i="1" dirty="0">
                <a:solidFill>
                  <a:srgbClr val="0B1E3D"/>
                </a:solidFill>
                <a:latin typeface="Cambria" pitchFamily="34" charset="0"/>
                <a:ea typeface="Cambria" pitchFamily="34" charset="-122"/>
                <a:cs typeface="Cambria" pitchFamily="34" charset="-120"/>
              </a:rPr>
              <a:t>Rationality is about making the best decision with the information available — not about guaranteeing a good outcome.</a:t>
            </a:r>
            <a:endParaRPr lang="en-US" sz="1700" dirty="0"/>
          </a:p>
        </p:txBody>
      </p:sp>
      <p:sp>
        <p:nvSpPr>
          <p:cNvPr id="15" name="Text 13"/>
          <p:cNvSpPr/>
          <p:nvPr/>
        </p:nvSpPr>
        <p:spPr>
          <a:xfrm>
            <a:off x="502920" y="6446520"/>
            <a:ext cx="8229600" cy="320040"/>
          </a:xfrm>
          <a:prstGeom prst="rect">
            <a:avLst/>
          </a:prstGeom>
          <a:noFill/>
          <a:ln/>
        </p:spPr>
        <p:txBody>
          <a:bodyPr wrap="square" rtlCol="0" anchor="ctr"/>
          <a:lstStyle/>
          <a:p>
            <a:pPr marL="0" indent="0">
              <a:buNone/>
            </a:pPr>
            <a:r>
              <a:rPr lang="en-US" sz="1400" i="1" dirty="0">
                <a:solidFill>
                  <a:srgbClr val="5A6478"/>
                </a:solidFill>
                <a:latin typeface="Calibri" pitchFamily="34" charset="0"/>
                <a:ea typeface="Calibri" pitchFamily="34" charset="-122"/>
                <a:cs typeface="Calibri" pitchFamily="34" charset="-120"/>
              </a:rPr>
              <a:t>AI — Intelligent Agents  |  C. Rational Agents</a:t>
            </a:r>
            <a:endParaRPr lang="en-US" sz="1400" dirty="0"/>
          </a:p>
        </p:txBody>
      </p:sp>
      <p:sp>
        <p:nvSpPr>
          <p:cNvPr id="16" name="Text 14"/>
          <p:cNvSpPr/>
          <p:nvPr/>
        </p:nvSpPr>
        <p:spPr>
          <a:xfrm>
            <a:off x="10500055" y="6446520"/>
            <a:ext cx="1188720" cy="320040"/>
          </a:xfrm>
          <a:prstGeom prst="rect">
            <a:avLst/>
          </a:prstGeom>
          <a:noFill/>
          <a:ln/>
        </p:spPr>
        <p:txBody>
          <a:bodyPr wrap="square" rtlCol="0" anchor="ctr"/>
          <a:lstStyle/>
          <a:p>
            <a:pPr marL="0" indent="0" algn="r">
              <a:buNone/>
            </a:pPr>
            <a:r>
              <a:rPr lang="en-US" sz="1400" dirty="0">
                <a:solidFill>
                  <a:srgbClr val="5A6478"/>
                </a:solidFill>
                <a:latin typeface="Calibri" pitchFamily="34" charset="0"/>
                <a:ea typeface="Calibri" pitchFamily="34" charset="-122"/>
                <a:cs typeface="Calibri" pitchFamily="34" charset="-120"/>
              </a:rPr>
              <a:t>9 / 40</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E3D"/>
        </a:solidFill>
        <a:effectLst/>
      </p:bgPr>
    </p:bg>
    <p:spTree>
      <p:nvGrpSpPr>
        <p:cNvPr id="1" name=""/>
        <p:cNvGrpSpPr/>
        <p:nvPr/>
      </p:nvGrpSpPr>
      <p:grpSpPr>
        <a:xfrm>
          <a:off x="0" y="0"/>
          <a:ext cx="0" cy="0"/>
          <a:chOff x="0" y="0"/>
          <a:chExt cx="0" cy="0"/>
        </a:xfrm>
      </p:grpSpPr>
      <p:sp>
        <p:nvSpPr>
          <p:cNvPr id="2" name="Text 0"/>
          <p:cNvSpPr/>
          <p:nvPr/>
        </p:nvSpPr>
        <p:spPr>
          <a:xfrm>
            <a:off x="502920" y="292608"/>
            <a:ext cx="11185855" cy="347472"/>
          </a:xfrm>
          <a:prstGeom prst="rect">
            <a:avLst/>
          </a:prstGeom>
          <a:noFill/>
          <a:ln/>
        </p:spPr>
        <p:txBody>
          <a:bodyPr wrap="square" rtlCol="0" anchor="ctr"/>
          <a:lstStyle/>
          <a:p>
            <a:pPr marL="0" indent="0">
              <a:buNone/>
            </a:pPr>
            <a:r>
              <a:rPr lang="en-US" sz="1500" b="1" kern="0" spc="150" dirty="0">
                <a:solidFill>
                  <a:srgbClr val="B08D57"/>
                </a:solidFill>
                <a:latin typeface="Calibri" pitchFamily="34" charset="0"/>
                <a:ea typeface="Calibri" pitchFamily="34" charset="-122"/>
                <a:cs typeface="Calibri" pitchFamily="34" charset="-120"/>
              </a:rPr>
              <a:t>C. RATIONAL AGENTS</a:t>
            </a:r>
            <a:endParaRPr lang="en-US" sz="1500" dirty="0"/>
          </a:p>
        </p:txBody>
      </p:sp>
      <p:sp>
        <p:nvSpPr>
          <p:cNvPr id="3" name="Text 1"/>
          <p:cNvSpPr txBox="1"/>
          <p:nvPr/>
        </p:nvSpPr>
        <p:spPr>
          <a:xfrm>
            <a:off x="502920" y="676656"/>
            <a:ext cx="11185855" cy="1417320"/>
          </a:xfrm>
          <a:prstGeom prst="rect">
            <a:avLst/>
          </a:prstGeom>
          <a:noFill/>
          <a:ln/>
        </p:spPr>
        <p:txBody>
          <a:bodyPr wrap="square" rtlCol="0" anchor="t"/>
          <a:lstStyle/>
          <a:p>
            <a:pPr marL="0" indent="0">
              <a:lnSpc>
                <a:spcPts val="3584"/>
              </a:lnSpc>
              <a:buNone/>
            </a:pPr>
            <a:r>
              <a:rPr lang="en-US" sz="3200" b="1" dirty="0">
                <a:solidFill>
                  <a:srgbClr val="FFFFFF"/>
                </a:solidFill>
                <a:latin typeface="Cambria" pitchFamily="34" charset="0"/>
                <a:ea typeface="Cambria" pitchFamily="34" charset="-122"/>
                <a:cs typeface="Cambria" pitchFamily="34" charset="-120"/>
              </a:rPr>
              <a:t>Rationality Depends on Four Factors</a:t>
            </a:r>
            <a:endParaRPr lang="en-US" sz="3200" dirty="0"/>
          </a:p>
        </p:txBody>
      </p:sp>
      <p:sp>
        <p:nvSpPr>
          <p:cNvPr id="4" name="Shape 2"/>
          <p:cNvSpPr/>
          <p:nvPr/>
        </p:nvSpPr>
        <p:spPr>
          <a:xfrm>
            <a:off x="502920" y="1828800"/>
            <a:ext cx="11185855" cy="777240"/>
          </a:xfrm>
          <a:prstGeom prst="roundRect">
            <a:avLst>
              <a:gd name="adj" fmla="val 9412"/>
            </a:avLst>
          </a:prstGeom>
          <a:solidFill>
            <a:srgbClr val="13294B"/>
          </a:solidFill>
          <a:ln/>
        </p:spPr>
      </p:sp>
      <p:sp>
        <p:nvSpPr>
          <p:cNvPr id="5" name="Text 3"/>
          <p:cNvSpPr/>
          <p:nvPr/>
        </p:nvSpPr>
        <p:spPr>
          <a:xfrm>
            <a:off x="685800" y="1828800"/>
            <a:ext cx="10820095" cy="777240"/>
          </a:xfrm>
          <a:prstGeom prst="rect">
            <a:avLst/>
          </a:prstGeom>
          <a:noFill/>
          <a:ln/>
        </p:spPr>
        <p:txBody>
          <a:bodyPr wrap="square" rtlCol="0" anchor="ctr"/>
          <a:lstStyle/>
          <a:p>
            <a:pPr marL="0" indent="0" algn="ctr">
              <a:buNone/>
            </a:pPr>
            <a:r>
              <a:rPr lang="en-US" sz="1550" b="1" dirty="0">
                <a:solidFill>
                  <a:srgbClr val="B08D57"/>
                </a:solidFill>
                <a:latin typeface="Courier New" pitchFamily="34" charset="0"/>
                <a:ea typeface="Courier New" pitchFamily="34" charset="-122"/>
                <a:cs typeface="Courier New" pitchFamily="34" charset="-120"/>
              </a:rPr>
              <a:t>Rational Action  =  f ( Performance Measure, Prior Knowledge, Available Actions, Percept History )</a:t>
            </a:r>
            <a:endParaRPr lang="en-US" sz="1550" dirty="0"/>
          </a:p>
        </p:txBody>
      </p:sp>
      <p:sp>
        <p:nvSpPr>
          <p:cNvPr id="6" name="Shape 4"/>
          <p:cNvSpPr/>
          <p:nvPr/>
        </p:nvSpPr>
        <p:spPr>
          <a:xfrm>
            <a:off x="502920" y="2788920"/>
            <a:ext cx="5455768" cy="1097280"/>
          </a:xfrm>
          <a:prstGeom prst="roundRect">
            <a:avLst>
              <a:gd name="adj" fmla="val 6667"/>
            </a:avLst>
          </a:prstGeom>
          <a:solidFill>
            <a:srgbClr val="13294B"/>
          </a:solidFill>
          <a:ln/>
        </p:spPr>
      </p:sp>
      <p:sp>
        <p:nvSpPr>
          <p:cNvPr id="7" name="Text 5"/>
          <p:cNvSpPr/>
          <p:nvPr/>
        </p:nvSpPr>
        <p:spPr>
          <a:xfrm>
            <a:off x="731520" y="2880360"/>
            <a:ext cx="4998568" cy="914400"/>
          </a:xfrm>
          <a:prstGeom prst="rect">
            <a:avLst/>
          </a:prstGeom>
          <a:noFill/>
          <a:ln/>
        </p:spPr>
        <p:txBody>
          <a:bodyPr wrap="square" rtlCol="0" anchor="ctr"/>
          <a:lstStyle/>
          <a:p>
            <a:pPr marL="0" indent="0">
              <a:lnSpc>
                <a:spcPts val="2200"/>
              </a:lnSpc>
              <a:buNone/>
            </a:pPr>
            <a:r>
              <a:rPr lang="en-US" sz="1800" b="1" dirty="0">
                <a:solidFill>
                  <a:srgbClr val="B08D57"/>
                </a:solidFill>
                <a:latin typeface="Calibri" pitchFamily="34" charset="0"/>
                <a:ea typeface="Calibri" pitchFamily="34" charset="-122"/>
                <a:cs typeface="Calibri" pitchFamily="34" charset="-120"/>
              </a:rPr>
              <a:t>1. Performance measure</a:t>
            </a:r>
            <a:endParaRPr lang="en-US" sz="1800" dirty="0"/>
          </a:p>
          <a:p>
            <a:pPr marL="0" indent="0">
              <a:lnSpc>
                <a:spcPts val="2200"/>
              </a:lnSpc>
              <a:buNone/>
            </a:pPr>
            <a:r>
              <a:rPr lang="en-US" sz="1800" dirty="0">
                <a:solidFill>
                  <a:srgbClr val="E7EBF3"/>
                </a:solidFill>
                <a:latin typeface="Calibri" pitchFamily="34" charset="0"/>
                <a:ea typeface="Calibri" pitchFamily="34" charset="-122"/>
                <a:cs typeface="Calibri" pitchFamily="34" charset="-120"/>
              </a:rPr>
              <a:t>What counts as success? — e.g. safety and travel time.</a:t>
            </a:r>
            <a:endParaRPr lang="en-US" sz="1800" dirty="0"/>
          </a:p>
        </p:txBody>
      </p:sp>
      <p:sp>
        <p:nvSpPr>
          <p:cNvPr id="8" name="Shape 6"/>
          <p:cNvSpPr/>
          <p:nvPr/>
        </p:nvSpPr>
        <p:spPr>
          <a:xfrm>
            <a:off x="6233008" y="2788920"/>
            <a:ext cx="5455768" cy="1097280"/>
          </a:xfrm>
          <a:prstGeom prst="roundRect">
            <a:avLst>
              <a:gd name="adj" fmla="val 6667"/>
            </a:avLst>
          </a:prstGeom>
          <a:solidFill>
            <a:srgbClr val="13294B"/>
          </a:solidFill>
          <a:ln/>
        </p:spPr>
      </p:sp>
      <p:sp>
        <p:nvSpPr>
          <p:cNvPr id="9" name="Text 7"/>
          <p:cNvSpPr/>
          <p:nvPr/>
        </p:nvSpPr>
        <p:spPr>
          <a:xfrm>
            <a:off x="6461608" y="2880360"/>
            <a:ext cx="4998568" cy="914400"/>
          </a:xfrm>
          <a:prstGeom prst="rect">
            <a:avLst/>
          </a:prstGeom>
          <a:noFill/>
          <a:ln/>
        </p:spPr>
        <p:txBody>
          <a:bodyPr wrap="square" rtlCol="0" anchor="ctr"/>
          <a:lstStyle/>
          <a:p>
            <a:pPr marL="0" indent="0">
              <a:lnSpc>
                <a:spcPts val="2200"/>
              </a:lnSpc>
              <a:buNone/>
            </a:pPr>
            <a:r>
              <a:rPr lang="en-US" sz="1800" b="1" dirty="0">
                <a:solidFill>
                  <a:srgbClr val="B08D57"/>
                </a:solidFill>
                <a:latin typeface="Calibri" pitchFamily="34" charset="0"/>
                <a:ea typeface="Calibri" pitchFamily="34" charset="-122"/>
                <a:cs typeface="Calibri" pitchFamily="34" charset="-120"/>
              </a:rPr>
              <a:t>2. Prior knowledge</a:t>
            </a:r>
            <a:endParaRPr lang="en-US" sz="1800" dirty="0"/>
          </a:p>
          <a:p>
            <a:pPr marL="0" indent="0">
              <a:lnSpc>
                <a:spcPts val="2200"/>
              </a:lnSpc>
              <a:buNone/>
            </a:pPr>
            <a:r>
              <a:rPr lang="en-US" sz="1800" dirty="0">
                <a:solidFill>
                  <a:srgbClr val="E7EBF3"/>
                </a:solidFill>
                <a:latin typeface="Calibri" pitchFamily="34" charset="0"/>
                <a:ea typeface="Calibri" pitchFamily="34" charset="-122"/>
                <a:cs typeface="Calibri" pitchFamily="34" charset="-120"/>
              </a:rPr>
              <a:t>What the agent already knows about the world.</a:t>
            </a:r>
            <a:endParaRPr lang="en-US" sz="1800" dirty="0"/>
          </a:p>
        </p:txBody>
      </p:sp>
      <p:sp>
        <p:nvSpPr>
          <p:cNvPr id="10" name="Shape 8"/>
          <p:cNvSpPr/>
          <p:nvPr/>
        </p:nvSpPr>
        <p:spPr>
          <a:xfrm>
            <a:off x="502920" y="4023360"/>
            <a:ext cx="5455768" cy="1097280"/>
          </a:xfrm>
          <a:prstGeom prst="roundRect">
            <a:avLst>
              <a:gd name="adj" fmla="val 6667"/>
            </a:avLst>
          </a:prstGeom>
          <a:solidFill>
            <a:srgbClr val="13294B"/>
          </a:solidFill>
          <a:ln/>
        </p:spPr>
      </p:sp>
      <p:sp>
        <p:nvSpPr>
          <p:cNvPr id="11" name="Text 9"/>
          <p:cNvSpPr/>
          <p:nvPr/>
        </p:nvSpPr>
        <p:spPr>
          <a:xfrm>
            <a:off x="731520" y="4114800"/>
            <a:ext cx="4998568" cy="914400"/>
          </a:xfrm>
          <a:prstGeom prst="rect">
            <a:avLst/>
          </a:prstGeom>
          <a:noFill/>
          <a:ln/>
        </p:spPr>
        <p:txBody>
          <a:bodyPr wrap="square" rtlCol="0" anchor="ctr"/>
          <a:lstStyle/>
          <a:p>
            <a:pPr marL="0" indent="0">
              <a:lnSpc>
                <a:spcPts val="2200"/>
              </a:lnSpc>
              <a:buNone/>
            </a:pPr>
            <a:r>
              <a:rPr lang="en-US" sz="1800" b="1" dirty="0">
                <a:solidFill>
                  <a:srgbClr val="B08D57"/>
                </a:solidFill>
                <a:latin typeface="Calibri" pitchFamily="34" charset="0"/>
                <a:ea typeface="Calibri" pitchFamily="34" charset="-122"/>
                <a:cs typeface="Calibri" pitchFamily="34" charset="-120"/>
              </a:rPr>
              <a:t>3. Available actions</a:t>
            </a:r>
            <a:endParaRPr lang="en-US" sz="1800" dirty="0"/>
          </a:p>
          <a:p>
            <a:pPr marL="0" indent="0">
              <a:lnSpc>
                <a:spcPts val="2200"/>
              </a:lnSpc>
              <a:buNone/>
            </a:pPr>
            <a:r>
              <a:rPr lang="en-US" sz="1800" dirty="0">
                <a:solidFill>
                  <a:srgbClr val="E7EBF3"/>
                </a:solidFill>
                <a:latin typeface="Calibri" pitchFamily="34" charset="0"/>
                <a:ea typeface="Calibri" pitchFamily="34" charset="-122"/>
                <a:cs typeface="Calibri" pitchFamily="34" charset="-120"/>
              </a:rPr>
              <a:t>What the agent is physically able to do.</a:t>
            </a:r>
            <a:endParaRPr lang="en-US" sz="1800" dirty="0"/>
          </a:p>
        </p:txBody>
      </p:sp>
      <p:sp>
        <p:nvSpPr>
          <p:cNvPr id="12" name="Shape 10"/>
          <p:cNvSpPr/>
          <p:nvPr/>
        </p:nvSpPr>
        <p:spPr>
          <a:xfrm>
            <a:off x="6233008" y="4023360"/>
            <a:ext cx="5455768" cy="1097280"/>
          </a:xfrm>
          <a:prstGeom prst="roundRect">
            <a:avLst>
              <a:gd name="adj" fmla="val 6667"/>
            </a:avLst>
          </a:prstGeom>
          <a:solidFill>
            <a:srgbClr val="13294B"/>
          </a:solidFill>
          <a:ln/>
        </p:spPr>
      </p:sp>
      <p:sp>
        <p:nvSpPr>
          <p:cNvPr id="13" name="Text 11"/>
          <p:cNvSpPr/>
          <p:nvPr/>
        </p:nvSpPr>
        <p:spPr>
          <a:xfrm>
            <a:off x="6461608" y="4114800"/>
            <a:ext cx="4998568" cy="914400"/>
          </a:xfrm>
          <a:prstGeom prst="rect">
            <a:avLst/>
          </a:prstGeom>
          <a:noFill/>
          <a:ln/>
        </p:spPr>
        <p:txBody>
          <a:bodyPr wrap="square" rtlCol="0" anchor="ctr"/>
          <a:lstStyle/>
          <a:p>
            <a:pPr marL="0" indent="0">
              <a:lnSpc>
                <a:spcPts val="2200"/>
              </a:lnSpc>
              <a:buNone/>
            </a:pPr>
            <a:r>
              <a:rPr lang="en-US" sz="1800" b="1" dirty="0">
                <a:solidFill>
                  <a:srgbClr val="B08D57"/>
                </a:solidFill>
                <a:latin typeface="Calibri" pitchFamily="34" charset="0"/>
                <a:ea typeface="Calibri" pitchFamily="34" charset="-122"/>
                <a:cs typeface="Calibri" pitchFamily="34" charset="-120"/>
              </a:rPr>
              <a:t>4. Percept sequence</a:t>
            </a:r>
            <a:endParaRPr lang="en-US" sz="1800" dirty="0"/>
          </a:p>
          <a:p>
            <a:pPr marL="0" indent="0">
              <a:lnSpc>
                <a:spcPts val="2200"/>
              </a:lnSpc>
              <a:buNone/>
            </a:pPr>
            <a:r>
              <a:rPr lang="en-US" sz="1800" dirty="0">
                <a:solidFill>
                  <a:srgbClr val="E7EBF3"/>
                </a:solidFill>
                <a:latin typeface="Calibri" pitchFamily="34" charset="0"/>
                <a:ea typeface="Calibri" pitchFamily="34" charset="-122"/>
                <a:cs typeface="Calibri" pitchFamily="34" charset="-120"/>
              </a:rPr>
              <a:t>Everything the agent has sensed up to now.</a:t>
            </a:r>
            <a:endParaRPr lang="en-US" sz="1800" dirty="0"/>
          </a:p>
        </p:txBody>
      </p:sp>
      <p:sp>
        <p:nvSpPr>
          <p:cNvPr id="14" name="Text 12"/>
          <p:cNvSpPr/>
          <p:nvPr/>
        </p:nvSpPr>
        <p:spPr>
          <a:xfrm>
            <a:off x="502920" y="5349240"/>
            <a:ext cx="11185855" cy="640080"/>
          </a:xfrm>
          <a:prstGeom prst="rect">
            <a:avLst/>
          </a:prstGeom>
          <a:noFill/>
          <a:ln/>
        </p:spPr>
        <p:txBody>
          <a:bodyPr wrap="square" rtlCol="0" anchor="ctr"/>
          <a:lstStyle/>
          <a:p>
            <a:pPr marL="0" indent="0">
              <a:lnSpc>
                <a:spcPts val="2000"/>
              </a:lnSpc>
              <a:buNone/>
            </a:pPr>
            <a:r>
              <a:rPr lang="en-US" sz="1600" b="1" dirty="0">
                <a:solidFill>
                  <a:srgbClr val="B08D57"/>
                </a:solidFill>
                <a:latin typeface="Calibri" pitchFamily="34" charset="0"/>
                <a:ea typeface="Calibri" pitchFamily="34" charset="-122"/>
                <a:cs typeface="Calibri" pitchFamily="34" charset="-120"/>
              </a:rPr>
              <a:t>Self-driving car:  </a:t>
            </a:r>
            <a:r>
              <a:rPr lang="en-US" sz="1600" dirty="0">
                <a:solidFill>
                  <a:srgbClr val="E7EBF3"/>
                </a:solidFill>
                <a:latin typeface="Calibri" pitchFamily="34" charset="0"/>
                <a:ea typeface="Calibri" pitchFamily="34" charset="-122"/>
                <a:cs typeface="Calibri" pitchFamily="34" charset="-120"/>
              </a:rPr>
              <a:t>safety+comfort (measure), knows traffic rules (knowledge), can steer/brake/accelerate (actions), just saw a pedestrian (percepts) — together these determine the rational action.</a:t>
            </a:r>
            <a:endParaRPr lang="en-US" sz="1600" dirty="0"/>
          </a:p>
        </p:txBody>
      </p:sp>
      <p:sp>
        <p:nvSpPr>
          <p:cNvPr id="15" name="Text 13"/>
          <p:cNvSpPr/>
          <p:nvPr/>
        </p:nvSpPr>
        <p:spPr>
          <a:xfrm>
            <a:off x="502920" y="6446520"/>
            <a:ext cx="8229600" cy="320040"/>
          </a:xfrm>
          <a:prstGeom prst="rect">
            <a:avLst/>
          </a:prstGeom>
          <a:noFill/>
          <a:ln/>
        </p:spPr>
        <p:txBody>
          <a:bodyPr wrap="square" rtlCol="0" anchor="ctr"/>
          <a:lstStyle/>
          <a:p>
            <a:pPr marL="0" indent="0">
              <a:buNone/>
            </a:pPr>
            <a:r>
              <a:rPr lang="en-US" sz="1400" i="1" dirty="0">
                <a:solidFill>
                  <a:srgbClr val="8B96AC"/>
                </a:solidFill>
                <a:latin typeface="Calibri" pitchFamily="34" charset="0"/>
                <a:ea typeface="Calibri" pitchFamily="34" charset="-122"/>
                <a:cs typeface="Calibri" pitchFamily="34" charset="-120"/>
              </a:rPr>
              <a:t>AI — Intelligent Agents  |  C. Rational Agents</a:t>
            </a:r>
            <a:endParaRPr lang="en-US" sz="1400" dirty="0"/>
          </a:p>
        </p:txBody>
      </p:sp>
      <p:sp>
        <p:nvSpPr>
          <p:cNvPr id="16" name="Text 14"/>
          <p:cNvSpPr/>
          <p:nvPr/>
        </p:nvSpPr>
        <p:spPr>
          <a:xfrm>
            <a:off x="10500055" y="6446520"/>
            <a:ext cx="1188720" cy="320040"/>
          </a:xfrm>
          <a:prstGeom prst="rect">
            <a:avLst/>
          </a:prstGeom>
          <a:noFill/>
          <a:ln/>
        </p:spPr>
        <p:txBody>
          <a:bodyPr wrap="square" rtlCol="0" anchor="ctr"/>
          <a:lstStyle/>
          <a:p>
            <a:pPr marL="0" indent="0" algn="r">
              <a:buNone/>
            </a:pPr>
            <a:r>
              <a:rPr lang="en-US" sz="1400" dirty="0">
                <a:solidFill>
                  <a:srgbClr val="8B96AC"/>
                </a:solidFill>
                <a:latin typeface="Calibri" pitchFamily="34" charset="0"/>
                <a:ea typeface="Calibri" pitchFamily="34" charset="-122"/>
                <a:cs typeface="Calibri" pitchFamily="34" charset="-120"/>
              </a:rPr>
              <a:t>10 / 40</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85855" cy="347472"/>
          </a:xfrm>
          <a:prstGeom prst="rect">
            <a:avLst/>
          </a:prstGeom>
          <a:noFill/>
          <a:ln/>
        </p:spPr>
        <p:txBody>
          <a:bodyPr wrap="square" rtlCol="0" anchor="ctr"/>
          <a:lstStyle/>
          <a:p>
            <a:pPr marL="0" indent="0">
              <a:buNone/>
            </a:pPr>
            <a:r>
              <a:rPr lang="en-US" sz="1500" b="1" kern="0" spc="150" dirty="0">
                <a:solidFill>
                  <a:srgbClr val="B08D57"/>
                </a:solidFill>
                <a:latin typeface="Calibri" pitchFamily="34" charset="0"/>
                <a:ea typeface="Calibri" pitchFamily="34" charset="-122"/>
                <a:cs typeface="Calibri" pitchFamily="34" charset="-120"/>
              </a:rPr>
              <a:t>C. RATIONAL AGENTS</a:t>
            </a:r>
            <a:endParaRPr lang="en-US" sz="1500" dirty="0"/>
          </a:p>
        </p:txBody>
      </p:sp>
      <p:sp>
        <p:nvSpPr>
          <p:cNvPr id="3" name="Text 1"/>
          <p:cNvSpPr txBox="1"/>
          <p:nvPr/>
        </p:nvSpPr>
        <p:spPr>
          <a:xfrm>
            <a:off x="502920" y="676656"/>
            <a:ext cx="11185855" cy="1417320"/>
          </a:xfrm>
          <a:prstGeom prst="rect">
            <a:avLst/>
          </a:prstGeom>
          <a:noFill/>
          <a:ln/>
        </p:spPr>
        <p:txBody>
          <a:bodyPr wrap="square" rtlCol="0" anchor="t"/>
          <a:lstStyle/>
          <a:p>
            <a:pPr marL="0" indent="0">
              <a:lnSpc>
                <a:spcPts val="3584"/>
              </a:lnSpc>
              <a:buNone/>
            </a:pPr>
            <a:r>
              <a:rPr lang="en-US" sz="3200" b="1" dirty="0">
                <a:solidFill>
                  <a:srgbClr val="0B1E3D"/>
                </a:solidFill>
                <a:latin typeface="Cambria" pitchFamily="34" charset="0"/>
                <a:ea typeface="Cambria" pitchFamily="34" charset="-122"/>
                <a:cs typeface="Cambria" pitchFamily="34" charset="-120"/>
              </a:rPr>
              <a:t>Rationality vs. Omniscience</a:t>
            </a:r>
            <a:endParaRPr lang="en-US" sz="3200" dirty="0"/>
          </a:p>
        </p:txBody>
      </p:sp>
      <p:sp>
        <p:nvSpPr>
          <p:cNvPr id="4" name="Shape 2"/>
          <p:cNvSpPr/>
          <p:nvPr/>
        </p:nvSpPr>
        <p:spPr>
          <a:xfrm>
            <a:off x="502920" y="1828800"/>
            <a:ext cx="5432908" cy="2606040"/>
          </a:xfrm>
          <a:prstGeom prst="roundRect">
            <a:avLst>
              <a:gd name="adj" fmla="val 2807"/>
            </a:avLst>
          </a:prstGeom>
          <a:solidFill>
            <a:srgbClr val="0B1E3D"/>
          </a:solidFill>
          <a:ln/>
        </p:spPr>
      </p:sp>
      <p:sp>
        <p:nvSpPr>
          <p:cNvPr id="5" name="Text 3"/>
          <p:cNvSpPr/>
          <p:nvPr/>
        </p:nvSpPr>
        <p:spPr>
          <a:xfrm>
            <a:off x="758952" y="1993392"/>
            <a:ext cx="4920844" cy="502920"/>
          </a:xfrm>
          <a:prstGeom prst="rect">
            <a:avLst/>
          </a:prstGeom>
          <a:noFill/>
          <a:ln/>
        </p:spPr>
        <p:txBody>
          <a:bodyPr wrap="square" rtlCol="0" anchor="ctr"/>
          <a:lstStyle/>
          <a:p>
            <a:pPr marL="0" indent="0">
              <a:buNone/>
            </a:pPr>
            <a:r>
              <a:rPr lang="en-US" sz="2100" b="1" dirty="0">
                <a:solidFill>
                  <a:srgbClr val="B08D57"/>
                </a:solidFill>
                <a:latin typeface="Cambria" pitchFamily="34" charset="0"/>
                <a:ea typeface="Cambria" pitchFamily="34" charset="-122"/>
                <a:cs typeface="Cambria" pitchFamily="34" charset="-120"/>
              </a:rPr>
              <a:t>Rational Agent</a:t>
            </a:r>
            <a:endParaRPr lang="en-US" sz="2100" dirty="0"/>
          </a:p>
        </p:txBody>
      </p:sp>
      <p:sp>
        <p:nvSpPr>
          <p:cNvPr id="6" name="Text 4"/>
          <p:cNvSpPr/>
          <p:nvPr/>
        </p:nvSpPr>
        <p:spPr>
          <a:xfrm>
            <a:off x="758952" y="2542032"/>
            <a:ext cx="4920844" cy="822960"/>
          </a:xfrm>
          <a:prstGeom prst="rect">
            <a:avLst/>
          </a:prstGeom>
          <a:noFill/>
          <a:ln/>
        </p:spPr>
        <p:txBody>
          <a:bodyPr wrap="square" rtlCol="0" anchor="ctr"/>
          <a:lstStyle/>
          <a:p>
            <a:pPr marL="0" indent="0">
              <a:lnSpc>
                <a:spcPts val="2250"/>
              </a:lnSpc>
              <a:buNone/>
            </a:pPr>
            <a:r>
              <a:rPr lang="en-US" sz="1800" i="1" dirty="0">
                <a:solidFill>
                  <a:srgbClr val="E7EBF3"/>
                </a:solidFill>
                <a:latin typeface="Calibri" pitchFamily="34" charset="0"/>
                <a:ea typeface="Calibri" pitchFamily="34" charset="-122"/>
                <a:cs typeface="Calibri" pitchFamily="34" charset="-120"/>
              </a:rPr>
              <a:t>Makes the best decision based on available information.</a:t>
            </a:r>
            <a:endParaRPr lang="en-US" sz="1800" dirty="0"/>
          </a:p>
        </p:txBody>
      </p:sp>
      <p:sp>
        <p:nvSpPr>
          <p:cNvPr id="7" name="Text 5"/>
          <p:cNvSpPr/>
          <p:nvPr/>
        </p:nvSpPr>
        <p:spPr>
          <a:xfrm>
            <a:off x="758952" y="3429000"/>
            <a:ext cx="4920844" cy="86868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E7EBF3"/>
                </a:solidFill>
                <a:latin typeface="Calibri" pitchFamily="34" charset="0"/>
                <a:ea typeface="Calibri" pitchFamily="34" charset="-122"/>
                <a:cs typeface="Calibri" pitchFamily="34" charset="-120"/>
              </a:rPr>
              <a:t>Judged at the moment of the decision</a:t>
            </a:r>
            <a:endParaRPr lang="en-US" sz="1800" dirty="0"/>
          </a:p>
          <a:p>
            <a:pPr marL="228600" indent="-228600">
              <a:spcAft>
                <a:spcPts val="800"/>
              </a:spcAft>
              <a:buSzPct val="100000"/>
              <a:buChar char="▪"/>
            </a:pPr>
            <a:r>
              <a:rPr lang="en-US" sz="1800" dirty="0">
                <a:solidFill>
                  <a:srgbClr val="E7EBF3"/>
                </a:solidFill>
                <a:latin typeface="Calibri" pitchFamily="34" charset="0"/>
                <a:ea typeface="Calibri" pitchFamily="34" charset="-122"/>
                <a:cs typeface="Calibri" pitchFamily="34" charset="-120"/>
              </a:rPr>
              <a:t>Can still turn out unlucky</a:t>
            </a:r>
            <a:endParaRPr lang="en-US" sz="1800" dirty="0"/>
          </a:p>
        </p:txBody>
      </p:sp>
      <p:sp>
        <p:nvSpPr>
          <p:cNvPr id="8" name="Shape 6"/>
          <p:cNvSpPr/>
          <p:nvPr/>
        </p:nvSpPr>
        <p:spPr>
          <a:xfrm>
            <a:off x="6255868" y="1828800"/>
            <a:ext cx="5432908" cy="2606040"/>
          </a:xfrm>
          <a:prstGeom prst="roundRect">
            <a:avLst>
              <a:gd name="adj" fmla="val 2807"/>
            </a:avLst>
          </a:prstGeom>
          <a:solidFill>
            <a:srgbClr val="F3F5F8"/>
          </a:solidFill>
          <a:ln w="12700">
            <a:solidFill>
              <a:srgbClr val="D8DCE3"/>
            </a:solidFill>
            <a:prstDash val="solid"/>
          </a:ln>
        </p:spPr>
      </p:sp>
      <p:sp>
        <p:nvSpPr>
          <p:cNvPr id="9" name="Text 7"/>
          <p:cNvSpPr/>
          <p:nvPr/>
        </p:nvSpPr>
        <p:spPr>
          <a:xfrm>
            <a:off x="6511900" y="1993392"/>
            <a:ext cx="4920844" cy="502920"/>
          </a:xfrm>
          <a:prstGeom prst="rect">
            <a:avLst/>
          </a:prstGeom>
          <a:noFill/>
          <a:ln/>
        </p:spPr>
        <p:txBody>
          <a:bodyPr wrap="square" rtlCol="0" anchor="ctr"/>
          <a:lstStyle/>
          <a:p>
            <a:pPr marL="0" indent="0">
              <a:buNone/>
            </a:pPr>
            <a:r>
              <a:rPr lang="en-US" sz="2100" b="1" dirty="0">
                <a:solidFill>
                  <a:srgbClr val="0B1E3D"/>
                </a:solidFill>
                <a:latin typeface="Cambria" pitchFamily="34" charset="0"/>
                <a:ea typeface="Cambria" pitchFamily="34" charset="-122"/>
                <a:cs typeface="Cambria" pitchFamily="34" charset="-120"/>
              </a:rPr>
              <a:t>Omniscient Agent</a:t>
            </a:r>
            <a:endParaRPr lang="en-US" sz="2100" dirty="0"/>
          </a:p>
        </p:txBody>
      </p:sp>
      <p:sp>
        <p:nvSpPr>
          <p:cNvPr id="10" name="Text 8"/>
          <p:cNvSpPr/>
          <p:nvPr/>
        </p:nvSpPr>
        <p:spPr>
          <a:xfrm>
            <a:off x="6511900" y="2542032"/>
            <a:ext cx="4920844" cy="822960"/>
          </a:xfrm>
          <a:prstGeom prst="rect">
            <a:avLst/>
          </a:prstGeom>
          <a:noFill/>
          <a:ln/>
        </p:spPr>
        <p:txBody>
          <a:bodyPr wrap="square" rtlCol="0" anchor="ctr"/>
          <a:lstStyle/>
          <a:p>
            <a:pPr marL="0" indent="0">
              <a:lnSpc>
                <a:spcPts val="2250"/>
              </a:lnSpc>
              <a:buNone/>
            </a:pPr>
            <a:r>
              <a:rPr lang="en-US" sz="1800" i="1" dirty="0">
                <a:solidFill>
                  <a:srgbClr val="1A1F2B"/>
                </a:solidFill>
                <a:latin typeface="Calibri" pitchFamily="34" charset="0"/>
                <a:ea typeface="Calibri" pitchFamily="34" charset="-122"/>
                <a:cs typeface="Calibri" pitchFamily="34" charset="-120"/>
              </a:rPr>
              <a:t>Would already know the actual future outcome.</a:t>
            </a:r>
            <a:endParaRPr lang="en-US" sz="1800" dirty="0"/>
          </a:p>
        </p:txBody>
      </p:sp>
      <p:sp>
        <p:nvSpPr>
          <p:cNvPr id="11" name="Text 9"/>
          <p:cNvSpPr/>
          <p:nvPr/>
        </p:nvSpPr>
        <p:spPr>
          <a:xfrm>
            <a:off x="6511900" y="3429000"/>
            <a:ext cx="4920844" cy="86868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A1F2B"/>
                </a:solidFill>
                <a:latin typeface="Calibri" pitchFamily="34" charset="0"/>
                <a:ea typeface="Calibri" pitchFamily="34" charset="-122"/>
                <a:cs typeface="Calibri" pitchFamily="34" charset="-120"/>
              </a:rPr>
              <a:t>An idealization — impossible in reality</a:t>
            </a:r>
            <a:endParaRPr lang="en-US" sz="1800" dirty="0"/>
          </a:p>
          <a:p>
            <a:pPr marL="228600" indent="-228600">
              <a:spcAft>
                <a:spcPts val="800"/>
              </a:spcAft>
              <a:buSzPct val="100000"/>
              <a:buChar char="▪"/>
            </a:pPr>
            <a:r>
              <a:rPr lang="en-US" sz="1800" dirty="0">
                <a:solidFill>
                  <a:srgbClr val="1A1F2B"/>
                </a:solidFill>
                <a:latin typeface="Calibri" pitchFamily="34" charset="0"/>
                <a:ea typeface="Calibri" pitchFamily="34" charset="-122"/>
                <a:cs typeface="Calibri" pitchFamily="34" charset="-120"/>
              </a:rPr>
              <a:t>Never wrong, by definition</a:t>
            </a:r>
            <a:endParaRPr lang="en-US" sz="1800" dirty="0"/>
          </a:p>
        </p:txBody>
      </p:sp>
      <p:sp>
        <p:nvSpPr>
          <p:cNvPr id="12" name="Text 10"/>
          <p:cNvSpPr/>
          <p:nvPr/>
        </p:nvSpPr>
        <p:spPr>
          <a:xfrm>
            <a:off x="502920" y="4617720"/>
            <a:ext cx="11185855" cy="960120"/>
          </a:xfrm>
          <a:prstGeom prst="rect">
            <a:avLst/>
          </a:prstGeom>
          <a:noFill/>
          <a:ln/>
        </p:spPr>
        <p:txBody>
          <a:bodyPr wrap="square" rtlCol="0" anchor="ctr"/>
          <a:lstStyle/>
          <a:p>
            <a:pPr marL="0" indent="0">
              <a:lnSpc>
                <a:spcPts val="2470"/>
              </a:lnSpc>
              <a:buNone/>
            </a:pPr>
            <a:r>
              <a:rPr lang="en-US" sz="1900" b="1" dirty="0">
                <a:solidFill>
                  <a:srgbClr val="0B1E3D"/>
                </a:solidFill>
                <a:latin typeface="Calibri" pitchFamily="34" charset="0"/>
                <a:ea typeface="Calibri" pitchFamily="34" charset="-122"/>
                <a:cs typeface="Calibri" pitchFamily="34" charset="-120"/>
              </a:rPr>
              <a:t>Example:  </a:t>
            </a:r>
            <a:r>
              <a:rPr lang="en-US" sz="1900" dirty="0">
                <a:solidFill>
                  <a:srgbClr val="1A1F2B"/>
                </a:solidFill>
                <a:latin typeface="Calibri" pitchFamily="34" charset="0"/>
                <a:ea typeface="Calibri" pitchFamily="34" charset="-122"/>
                <a:cs typeface="Calibri" pitchFamily="34" charset="-120"/>
              </a:rPr>
              <a:t>a self-driving car slows down because a hidden obstacle MAY be ahead. If the obstacle turns out not to exist, the decision to slow down can still have been rational.</a:t>
            </a:r>
            <a:endParaRPr lang="en-US" sz="1900" dirty="0"/>
          </a:p>
        </p:txBody>
      </p:sp>
      <p:sp>
        <p:nvSpPr>
          <p:cNvPr id="13" name="Shape 11"/>
          <p:cNvSpPr/>
          <p:nvPr/>
        </p:nvSpPr>
        <p:spPr>
          <a:xfrm>
            <a:off x="502920" y="5669280"/>
            <a:ext cx="11185855" cy="594360"/>
          </a:xfrm>
          <a:prstGeom prst="roundRect">
            <a:avLst>
              <a:gd name="adj" fmla="val 12308"/>
            </a:avLst>
          </a:prstGeom>
          <a:solidFill>
            <a:srgbClr val="FBF3E6"/>
          </a:solidFill>
          <a:ln w="12700">
            <a:solidFill>
              <a:srgbClr val="B08D57"/>
            </a:solidFill>
            <a:prstDash val="solid"/>
          </a:ln>
        </p:spPr>
      </p:sp>
      <p:sp>
        <p:nvSpPr>
          <p:cNvPr id="14" name="Text 12"/>
          <p:cNvSpPr/>
          <p:nvPr/>
        </p:nvSpPr>
        <p:spPr>
          <a:xfrm>
            <a:off x="502920" y="5669280"/>
            <a:ext cx="11185855" cy="594360"/>
          </a:xfrm>
          <a:prstGeom prst="rect">
            <a:avLst/>
          </a:prstGeom>
          <a:noFill/>
          <a:ln/>
        </p:spPr>
        <p:txBody>
          <a:bodyPr wrap="square" rtlCol="0" anchor="ctr"/>
          <a:lstStyle/>
          <a:p>
            <a:pPr marL="0" indent="0" algn="ctr">
              <a:buNone/>
            </a:pPr>
            <a:r>
              <a:rPr lang="en-US" sz="1800" b="1" i="1" dirty="0">
                <a:solidFill>
                  <a:srgbClr val="0B1E3D"/>
                </a:solidFill>
                <a:latin typeface="Cambria" pitchFamily="34" charset="0"/>
                <a:ea typeface="Cambria" pitchFamily="34" charset="-122"/>
                <a:cs typeface="Cambria" pitchFamily="34" charset="-120"/>
              </a:rPr>
              <a:t>Rationality is based on available information, not hindsight.</a:t>
            </a:r>
            <a:endParaRPr lang="en-US" sz="1800" dirty="0"/>
          </a:p>
        </p:txBody>
      </p:sp>
      <p:sp>
        <p:nvSpPr>
          <p:cNvPr id="15" name="Text 13"/>
          <p:cNvSpPr/>
          <p:nvPr/>
        </p:nvSpPr>
        <p:spPr>
          <a:xfrm>
            <a:off x="502920" y="6446520"/>
            <a:ext cx="8229600" cy="320040"/>
          </a:xfrm>
          <a:prstGeom prst="rect">
            <a:avLst/>
          </a:prstGeom>
          <a:noFill/>
          <a:ln/>
        </p:spPr>
        <p:txBody>
          <a:bodyPr wrap="square" rtlCol="0" anchor="ctr"/>
          <a:lstStyle/>
          <a:p>
            <a:pPr marL="0" indent="0">
              <a:buNone/>
            </a:pPr>
            <a:r>
              <a:rPr lang="en-US" sz="1400" i="1" dirty="0">
                <a:solidFill>
                  <a:srgbClr val="5A6478"/>
                </a:solidFill>
                <a:latin typeface="Calibri" pitchFamily="34" charset="0"/>
                <a:ea typeface="Calibri" pitchFamily="34" charset="-122"/>
                <a:cs typeface="Calibri" pitchFamily="34" charset="-120"/>
              </a:rPr>
              <a:t>AI — Intelligent Agents  |  C. Rational Agents</a:t>
            </a:r>
            <a:endParaRPr lang="en-US" sz="1400" dirty="0"/>
          </a:p>
        </p:txBody>
      </p:sp>
      <p:sp>
        <p:nvSpPr>
          <p:cNvPr id="16" name="Text 14"/>
          <p:cNvSpPr/>
          <p:nvPr/>
        </p:nvSpPr>
        <p:spPr>
          <a:xfrm>
            <a:off x="10500055" y="6446520"/>
            <a:ext cx="1188720" cy="320040"/>
          </a:xfrm>
          <a:prstGeom prst="rect">
            <a:avLst/>
          </a:prstGeom>
          <a:noFill/>
          <a:ln/>
        </p:spPr>
        <p:txBody>
          <a:bodyPr wrap="square" rtlCol="0" anchor="ctr"/>
          <a:lstStyle/>
          <a:p>
            <a:pPr marL="0" indent="0" algn="r">
              <a:buNone/>
            </a:pPr>
            <a:r>
              <a:rPr lang="en-US" sz="1400" dirty="0">
                <a:solidFill>
                  <a:srgbClr val="5A6478"/>
                </a:solidFill>
                <a:latin typeface="Calibri" pitchFamily="34" charset="0"/>
                <a:ea typeface="Calibri" pitchFamily="34" charset="-122"/>
                <a:cs typeface="Calibri" pitchFamily="34" charset="-120"/>
              </a:rPr>
              <a:t>11 / 40</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85855" cy="347472"/>
          </a:xfrm>
          <a:prstGeom prst="rect">
            <a:avLst/>
          </a:prstGeom>
          <a:noFill/>
          <a:ln/>
        </p:spPr>
        <p:txBody>
          <a:bodyPr wrap="square" rtlCol="0" anchor="ctr"/>
          <a:lstStyle/>
          <a:p>
            <a:pPr marL="0" indent="0">
              <a:buNone/>
            </a:pPr>
            <a:r>
              <a:rPr lang="en-US" sz="1500" b="1" kern="0" spc="150" dirty="0">
                <a:solidFill>
                  <a:srgbClr val="B08D57"/>
                </a:solidFill>
                <a:latin typeface="Calibri" pitchFamily="34" charset="0"/>
                <a:ea typeface="Calibri" pitchFamily="34" charset="-122"/>
                <a:cs typeface="Calibri" pitchFamily="34" charset="-120"/>
              </a:rPr>
              <a:t>C. RATIONAL AGENTS</a:t>
            </a:r>
            <a:endParaRPr lang="en-US" sz="1500" dirty="0"/>
          </a:p>
        </p:txBody>
      </p:sp>
      <p:sp>
        <p:nvSpPr>
          <p:cNvPr id="3" name="Text 1"/>
          <p:cNvSpPr txBox="1"/>
          <p:nvPr/>
        </p:nvSpPr>
        <p:spPr>
          <a:xfrm>
            <a:off x="502920" y="676656"/>
            <a:ext cx="11185855" cy="1417320"/>
          </a:xfrm>
          <a:prstGeom prst="rect">
            <a:avLst/>
          </a:prstGeom>
          <a:noFill/>
          <a:ln/>
        </p:spPr>
        <p:txBody>
          <a:bodyPr wrap="square" rtlCol="0" anchor="t"/>
          <a:lstStyle/>
          <a:p>
            <a:pPr marL="0" indent="0">
              <a:lnSpc>
                <a:spcPts val="3584"/>
              </a:lnSpc>
              <a:buNone/>
            </a:pPr>
            <a:r>
              <a:rPr lang="en-US" sz="3200" b="1" dirty="0">
                <a:solidFill>
                  <a:srgbClr val="0B1E3D"/>
                </a:solidFill>
                <a:latin typeface="Cambria" pitchFamily="34" charset="0"/>
                <a:ea typeface="Cambria" pitchFamily="34" charset="-122"/>
                <a:cs typeface="Cambria" pitchFamily="34" charset="-120"/>
              </a:rPr>
              <a:t>Performance Measure</a:t>
            </a:r>
            <a:endParaRPr lang="en-US" sz="3200" dirty="0"/>
          </a:p>
        </p:txBody>
      </p:sp>
      <p:sp>
        <p:nvSpPr>
          <p:cNvPr id="4" name="Text 2"/>
          <p:cNvSpPr/>
          <p:nvPr/>
        </p:nvSpPr>
        <p:spPr>
          <a:xfrm>
            <a:off x="502920" y="1828800"/>
            <a:ext cx="11185855" cy="594360"/>
          </a:xfrm>
          <a:prstGeom prst="rect">
            <a:avLst/>
          </a:prstGeom>
          <a:noFill/>
          <a:ln/>
        </p:spPr>
        <p:txBody>
          <a:bodyPr wrap="square" lIns="0" tIns="0" rIns="0" bIns="0" rtlCol="0" anchor="t"/>
          <a:lstStyle/>
          <a:p>
            <a:pPr marL="228600" indent="-228600">
              <a:spcAft>
                <a:spcPts val="1200"/>
              </a:spcAft>
              <a:buSzPct val="100000"/>
              <a:buChar char="▪"/>
            </a:pPr>
            <a:r>
              <a:rPr lang="en-US" sz="2000" dirty="0">
                <a:solidFill>
                  <a:srgbClr val="1A1F2B"/>
                </a:solidFill>
                <a:latin typeface="Calibri" pitchFamily="34" charset="0"/>
                <a:ea typeface="Calibri" pitchFamily="34" charset="-122"/>
                <a:cs typeface="Calibri" pitchFamily="34" charset="-120"/>
              </a:rPr>
              <a:t>Agents need an explicit criterion for evaluating success — without one, "rational" has no meaning.</a:t>
            </a:r>
            <a:endParaRPr lang="en-US" sz="2000" dirty="0"/>
          </a:p>
        </p:txBody>
      </p:sp>
      <p:sp>
        <p:nvSpPr>
          <p:cNvPr id="5" name="Shape 3"/>
          <p:cNvSpPr/>
          <p:nvPr/>
        </p:nvSpPr>
        <p:spPr>
          <a:xfrm>
            <a:off x="502920" y="2560320"/>
            <a:ext cx="3545738" cy="2743200"/>
          </a:xfrm>
          <a:prstGeom prst="roundRect">
            <a:avLst>
              <a:gd name="adj" fmla="val 2333"/>
            </a:avLst>
          </a:prstGeom>
          <a:solidFill>
            <a:srgbClr val="0B1E3D"/>
          </a:solidFill>
          <a:ln/>
        </p:spPr>
      </p:sp>
      <p:sp>
        <p:nvSpPr>
          <p:cNvPr id="6" name="Text 4"/>
          <p:cNvSpPr/>
          <p:nvPr/>
        </p:nvSpPr>
        <p:spPr>
          <a:xfrm>
            <a:off x="777240" y="2697480"/>
            <a:ext cx="2997098" cy="411480"/>
          </a:xfrm>
          <a:prstGeom prst="rect">
            <a:avLst/>
          </a:prstGeom>
          <a:noFill/>
          <a:ln/>
        </p:spPr>
        <p:txBody>
          <a:bodyPr wrap="square" rtlCol="0" anchor="ctr"/>
          <a:lstStyle/>
          <a:p>
            <a:pPr marL="0" indent="0">
              <a:buNone/>
            </a:pPr>
            <a:r>
              <a:rPr lang="en-US" sz="1600" b="1" dirty="0">
                <a:solidFill>
                  <a:srgbClr val="B08D57"/>
                </a:solidFill>
                <a:latin typeface="Cambria" pitchFamily="34" charset="0"/>
                <a:ea typeface="Cambria" pitchFamily="34" charset="-122"/>
                <a:cs typeface="Cambria" pitchFamily="34" charset="-120"/>
              </a:rPr>
              <a:t>Autonomous Vehicle</a:t>
            </a:r>
            <a:endParaRPr lang="en-US" sz="1600" dirty="0"/>
          </a:p>
        </p:txBody>
      </p:sp>
      <p:sp>
        <p:nvSpPr>
          <p:cNvPr id="7" name="Text 5"/>
          <p:cNvSpPr/>
          <p:nvPr/>
        </p:nvSpPr>
        <p:spPr>
          <a:xfrm>
            <a:off x="731520" y="3182112"/>
            <a:ext cx="3088538" cy="1965960"/>
          </a:xfrm>
          <a:prstGeom prst="rect">
            <a:avLst/>
          </a:prstGeom>
          <a:noFill/>
          <a:ln/>
        </p:spPr>
        <p:txBody>
          <a:bodyPr wrap="square" lIns="0" tIns="0" rIns="0" bIns="0" rtlCol="0" anchor="t"/>
          <a:lstStyle/>
          <a:p>
            <a:pPr marL="228600" indent="-228600">
              <a:spcAft>
                <a:spcPts val="600"/>
              </a:spcAft>
              <a:buSzPct val="100000"/>
              <a:buChar char="▪"/>
            </a:pPr>
            <a:r>
              <a:rPr lang="en-US" sz="1650" dirty="0">
                <a:solidFill>
                  <a:srgbClr val="E7EBF3"/>
                </a:solidFill>
                <a:latin typeface="Calibri" pitchFamily="34" charset="0"/>
                <a:ea typeface="Calibri" pitchFamily="34" charset="-122"/>
                <a:cs typeface="Calibri" pitchFamily="34" charset="-120"/>
              </a:rPr>
              <a:t>Safety</a:t>
            </a:r>
            <a:endParaRPr lang="en-US" sz="1650" dirty="0"/>
          </a:p>
          <a:p>
            <a:pPr marL="228600" indent="-228600">
              <a:spcAft>
                <a:spcPts val="600"/>
              </a:spcAft>
              <a:buSzPct val="100000"/>
              <a:buChar char="▪"/>
            </a:pPr>
            <a:r>
              <a:rPr lang="en-US" sz="1650" dirty="0">
                <a:solidFill>
                  <a:srgbClr val="E7EBF3"/>
                </a:solidFill>
                <a:latin typeface="Calibri" pitchFamily="34" charset="0"/>
                <a:ea typeface="Calibri" pitchFamily="34" charset="-122"/>
                <a:cs typeface="Calibri" pitchFamily="34" charset="-120"/>
              </a:rPr>
              <a:t>Travel time</a:t>
            </a:r>
            <a:endParaRPr lang="en-US" sz="1650" dirty="0"/>
          </a:p>
          <a:p>
            <a:pPr marL="228600" indent="-228600">
              <a:spcAft>
                <a:spcPts val="600"/>
              </a:spcAft>
              <a:buSzPct val="100000"/>
              <a:buChar char="▪"/>
            </a:pPr>
            <a:r>
              <a:rPr lang="en-US" sz="1650" dirty="0">
                <a:solidFill>
                  <a:srgbClr val="E7EBF3"/>
                </a:solidFill>
                <a:latin typeface="Calibri" pitchFamily="34" charset="0"/>
                <a:ea typeface="Calibri" pitchFamily="34" charset="-122"/>
                <a:cs typeface="Calibri" pitchFamily="34" charset="-120"/>
              </a:rPr>
              <a:t>Comfort</a:t>
            </a:r>
            <a:endParaRPr lang="en-US" sz="1650" dirty="0"/>
          </a:p>
          <a:p>
            <a:pPr marL="228600" indent="-228600">
              <a:spcAft>
                <a:spcPts val="600"/>
              </a:spcAft>
              <a:buSzPct val="100000"/>
              <a:buChar char="▪"/>
            </a:pPr>
            <a:r>
              <a:rPr lang="en-US" sz="1650" dirty="0">
                <a:solidFill>
                  <a:srgbClr val="E7EBF3"/>
                </a:solidFill>
                <a:latin typeface="Calibri" pitchFamily="34" charset="0"/>
                <a:ea typeface="Calibri" pitchFamily="34" charset="-122"/>
                <a:cs typeface="Calibri" pitchFamily="34" charset="-120"/>
              </a:rPr>
              <a:t>Energy efficiency</a:t>
            </a:r>
            <a:endParaRPr lang="en-US" sz="1650" dirty="0"/>
          </a:p>
          <a:p>
            <a:pPr marL="228600" indent="-228600">
              <a:spcAft>
                <a:spcPts val="600"/>
              </a:spcAft>
              <a:buSzPct val="100000"/>
              <a:buChar char="▪"/>
            </a:pPr>
            <a:r>
              <a:rPr lang="en-US" sz="1650" dirty="0">
                <a:solidFill>
                  <a:srgbClr val="E7EBF3"/>
                </a:solidFill>
                <a:latin typeface="Calibri" pitchFamily="34" charset="0"/>
                <a:ea typeface="Calibri" pitchFamily="34" charset="-122"/>
                <a:cs typeface="Calibri" pitchFamily="34" charset="-120"/>
              </a:rPr>
              <a:t>Traffic-law compliance</a:t>
            </a:r>
            <a:endParaRPr lang="en-US" sz="1650" dirty="0"/>
          </a:p>
        </p:txBody>
      </p:sp>
      <p:sp>
        <p:nvSpPr>
          <p:cNvPr id="8" name="Shape 6"/>
          <p:cNvSpPr/>
          <p:nvPr/>
        </p:nvSpPr>
        <p:spPr>
          <a:xfrm>
            <a:off x="4322978" y="2560320"/>
            <a:ext cx="3545738" cy="2743200"/>
          </a:xfrm>
          <a:prstGeom prst="roundRect">
            <a:avLst>
              <a:gd name="adj" fmla="val 2333"/>
            </a:avLst>
          </a:prstGeom>
          <a:solidFill>
            <a:srgbClr val="F3F5F8"/>
          </a:solidFill>
          <a:ln w="12700">
            <a:solidFill>
              <a:srgbClr val="D8DCE3"/>
            </a:solidFill>
            <a:prstDash val="solid"/>
          </a:ln>
        </p:spPr>
      </p:sp>
      <p:sp>
        <p:nvSpPr>
          <p:cNvPr id="9" name="Text 7"/>
          <p:cNvSpPr/>
          <p:nvPr/>
        </p:nvSpPr>
        <p:spPr>
          <a:xfrm>
            <a:off x="4597298" y="2697480"/>
            <a:ext cx="2997098" cy="411480"/>
          </a:xfrm>
          <a:prstGeom prst="rect">
            <a:avLst/>
          </a:prstGeom>
          <a:noFill/>
          <a:ln/>
        </p:spPr>
        <p:txBody>
          <a:bodyPr wrap="square" rtlCol="0" anchor="ctr"/>
          <a:lstStyle/>
          <a:p>
            <a:pPr marL="0" indent="0">
              <a:buNone/>
            </a:pPr>
            <a:r>
              <a:rPr lang="en-US" sz="1600" b="1" dirty="0">
                <a:solidFill>
                  <a:srgbClr val="0B1E3D"/>
                </a:solidFill>
                <a:latin typeface="Cambria" pitchFamily="34" charset="0"/>
                <a:ea typeface="Cambria" pitchFamily="34" charset="-122"/>
                <a:cs typeface="Cambria" pitchFamily="34" charset="-120"/>
              </a:rPr>
              <a:t>Robot Vacuum</a:t>
            </a:r>
            <a:endParaRPr lang="en-US" sz="1600" dirty="0"/>
          </a:p>
        </p:txBody>
      </p:sp>
      <p:sp>
        <p:nvSpPr>
          <p:cNvPr id="10" name="Text 8"/>
          <p:cNvSpPr/>
          <p:nvPr/>
        </p:nvSpPr>
        <p:spPr>
          <a:xfrm>
            <a:off x="4551578" y="3182112"/>
            <a:ext cx="3088538" cy="1965960"/>
          </a:xfrm>
          <a:prstGeom prst="rect">
            <a:avLst/>
          </a:prstGeom>
          <a:noFill/>
          <a:ln/>
        </p:spPr>
        <p:txBody>
          <a:bodyPr wrap="square" lIns="0" tIns="0" rIns="0" bIns="0" rtlCol="0" anchor="t"/>
          <a:lstStyle/>
          <a:p>
            <a:pPr marL="228600" indent="-228600">
              <a:spcAft>
                <a:spcPts val="600"/>
              </a:spcAft>
              <a:buSzPct val="100000"/>
              <a:buChar char="▪"/>
            </a:pPr>
            <a:r>
              <a:rPr lang="en-US" sz="1650" dirty="0">
                <a:solidFill>
                  <a:srgbClr val="1A1F2B"/>
                </a:solidFill>
                <a:latin typeface="Calibri" pitchFamily="34" charset="0"/>
                <a:ea typeface="Calibri" pitchFamily="34" charset="-122"/>
                <a:cs typeface="Calibri" pitchFamily="34" charset="-120"/>
              </a:rPr>
              <a:t>Cleanliness</a:t>
            </a:r>
            <a:endParaRPr lang="en-US" sz="1650" dirty="0"/>
          </a:p>
          <a:p>
            <a:pPr marL="228600" indent="-228600">
              <a:spcAft>
                <a:spcPts val="600"/>
              </a:spcAft>
              <a:buSzPct val="100000"/>
              <a:buChar char="▪"/>
            </a:pPr>
            <a:r>
              <a:rPr lang="en-US" sz="1650" dirty="0">
                <a:solidFill>
                  <a:srgbClr val="1A1F2B"/>
                </a:solidFill>
                <a:latin typeface="Calibri" pitchFamily="34" charset="0"/>
                <a:ea typeface="Calibri" pitchFamily="34" charset="-122"/>
                <a:cs typeface="Calibri" pitchFamily="34" charset="-120"/>
              </a:rPr>
              <a:t>Time</a:t>
            </a:r>
            <a:endParaRPr lang="en-US" sz="1650" dirty="0"/>
          </a:p>
          <a:p>
            <a:pPr marL="228600" indent="-228600">
              <a:spcAft>
                <a:spcPts val="600"/>
              </a:spcAft>
              <a:buSzPct val="100000"/>
              <a:buChar char="▪"/>
            </a:pPr>
            <a:r>
              <a:rPr lang="en-US" sz="1650" dirty="0">
                <a:solidFill>
                  <a:srgbClr val="1A1F2B"/>
                </a:solidFill>
                <a:latin typeface="Calibri" pitchFamily="34" charset="0"/>
                <a:ea typeface="Calibri" pitchFamily="34" charset="-122"/>
                <a:cs typeface="Calibri" pitchFamily="34" charset="-120"/>
              </a:rPr>
              <a:t>Energy use</a:t>
            </a:r>
            <a:endParaRPr lang="en-US" sz="1650" dirty="0"/>
          </a:p>
          <a:p>
            <a:pPr marL="228600" indent="-228600">
              <a:spcAft>
                <a:spcPts val="600"/>
              </a:spcAft>
              <a:buSzPct val="100000"/>
              <a:buChar char="▪"/>
            </a:pPr>
            <a:r>
              <a:rPr lang="en-US" sz="1650" dirty="0">
                <a:solidFill>
                  <a:srgbClr val="1A1F2B"/>
                </a:solidFill>
                <a:latin typeface="Calibri" pitchFamily="34" charset="0"/>
                <a:ea typeface="Calibri" pitchFamily="34" charset="-122"/>
                <a:cs typeface="Calibri" pitchFamily="34" charset="-120"/>
              </a:rPr>
              <a:t>Coverage</a:t>
            </a:r>
            <a:endParaRPr lang="en-US" sz="1650" dirty="0"/>
          </a:p>
        </p:txBody>
      </p:sp>
      <p:sp>
        <p:nvSpPr>
          <p:cNvPr id="11" name="Shape 9"/>
          <p:cNvSpPr/>
          <p:nvPr/>
        </p:nvSpPr>
        <p:spPr>
          <a:xfrm>
            <a:off x="8143037" y="2560320"/>
            <a:ext cx="3545738" cy="2743200"/>
          </a:xfrm>
          <a:prstGeom prst="roundRect">
            <a:avLst>
              <a:gd name="adj" fmla="val 2333"/>
            </a:avLst>
          </a:prstGeom>
          <a:solidFill>
            <a:srgbClr val="0B1E3D"/>
          </a:solidFill>
          <a:ln/>
        </p:spPr>
      </p:sp>
      <p:sp>
        <p:nvSpPr>
          <p:cNvPr id="12" name="Text 10"/>
          <p:cNvSpPr/>
          <p:nvPr/>
        </p:nvSpPr>
        <p:spPr>
          <a:xfrm>
            <a:off x="8417357" y="2697480"/>
            <a:ext cx="2997098" cy="411480"/>
          </a:xfrm>
          <a:prstGeom prst="rect">
            <a:avLst/>
          </a:prstGeom>
          <a:noFill/>
          <a:ln/>
        </p:spPr>
        <p:txBody>
          <a:bodyPr wrap="square" rtlCol="0" anchor="ctr"/>
          <a:lstStyle/>
          <a:p>
            <a:pPr marL="0" indent="0">
              <a:buNone/>
            </a:pPr>
            <a:r>
              <a:rPr lang="en-US" sz="1600" b="1" dirty="0">
                <a:solidFill>
                  <a:srgbClr val="B08D57"/>
                </a:solidFill>
                <a:latin typeface="Cambria" pitchFamily="34" charset="0"/>
                <a:ea typeface="Cambria" pitchFamily="34" charset="-122"/>
                <a:cs typeface="Cambria" pitchFamily="34" charset="-120"/>
              </a:rPr>
              <a:t>Recommendation System</a:t>
            </a:r>
            <a:endParaRPr lang="en-US" sz="1600" dirty="0"/>
          </a:p>
        </p:txBody>
      </p:sp>
      <p:sp>
        <p:nvSpPr>
          <p:cNvPr id="13" name="Text 11"/>
          <p:cNvSpPr/>
          <p:nvPr/>
        </p:nvSpPr>
        <p:spPr>
          <a:xfrm>
            <a:off x="8371637" y="3182112"/>
            <a:ext cx="3088538" cy="1965960"/>
          </a:xfrm>
          <a:prstGeom prst="rect">
            <a:avLst/>
          </a:prstGeom>
          <a:noFill/>
          <a:ln/>
        </p:spPr>
        <p:txBody>
          <a:bodyPr wrap="square" lIns="0" tIns="0" rIns="0" bIns="0" rtlCol="0" anchor="t"/>
          <a:lstStyle/>
          <a:p>
            <a:pPr marL="228600" indent="-228600">
              <a:spcAft>
                <a:spcPts val="600"/>
              </a:spcAft>
              <a:buSzPct val="100000"/>
              <a:buChar char="▪"/>
            </a:pPr>
            <a:r>
              <a:rPr lang="en-US" sz="1650" dirty="0">
                <a:solidFill>
                  <a:srgbClr val="E7EBF3"/>
                </a:solidFill>
                <a:latin typeface="Calibri" pitchFamily="34" charset="0"/>
                <a:ea typeface="Calibri" pitchFamily="34" charset="-122"/>
                <a:cs typeface="Calibri" pitchFamily="34" charset="-120"/>
              </a:rPr>
              <a:t>User satisfaction</a:t>
            </a:r>
            <a:endParaRPr lang="en-US" sz="1650" dirty="0"/>
          </a:p>
          <a:p>
            <a:pPr marL="228600" indent="-228600">
              <a:spcAft>
                <a:spcPts val="600"/>
              </a:spcAft>
              <a:buSzPct val="100000"/>
              <a:buChar char="▪"/>
            </a:pPr>
            <a:r>
              <a:rPr lang="en-US" sz="1650" dirty="0">
                <a:solidFill>
                  <a:srgbClr val="E7EBF3"/>
                </a:solidFill>
                <a:latin typeface="Calibri" pitchFamily="34" charset="0"/>
                <a:ea typeface="Calibri" pitchFamily="34" charset="-122"/>
                <a:cs typeface="Calibri" pitchFamily="34" charset="-120"/>
              </a:rPr>
              <a:t>Relevance</a:t>
            </a:r>
            <a:endParaRPr lang="en-US" sz="1650" dirty="0"/>
          </a:p>
          <a:p>
            <a:pPr marL="228600" indent="-228600">
              <a:spcAft>
                <a:spcPts val="600"/>
              </a:spcAft>
              <a:buSzPct val="100000"/>
              <a:buChar char="▪"/>
            </a:pPr>
            <a:r>
              <a:rPr lang="en-US" sz="1650" dirty="0">
                <a:solidFill>
                  <a:srgbClr val="E7EBF3"/>
                </a:solidFill>
                <a:latin typeface="Calibri" pitchFamily="34" charset="0"/>
                <a:ea typeface="Calibri" pitchFamily="34" charset="-122"/>
                <a:cs typeface="Calibri" pitchFamily="34" charset="-120"/>
              </a:rPr>
              <a:t>Engagement</a:t>
            </a:r>
            <a:endParaRPr lang="en-US" sz="1650" dirty="0"/>
          </a:p>
          <a:p>
            <a:pPr marL="228600" indent="-228600">
              <a:spcAft>
                <a:spcPts val="600"/>
              </a:spcAft>
              <a:buSzPct val="100000"/>
              <a:buChar char="▪"/>
            </a:pPr>
            <a:r>
              <a:rPr lang="en-US" sz="1650" dirty="0">
                <a:solidFill>
                  <a:srgbClr val="E7EBF3"/>
                </a:solidFill>
                <a:latin typeface="Calibri" pitchFamily="34" charset="0"/>
                <a:ea typeface="Calibri" pitchFamily="34" charset="-122"/>
                <a:cs typeface="Calibri" pitchFamily="34" charset="-120"/>
              </a:rPr>
              <a:t>Long-term usefulness</a:t>
            </a:r>
            <a:endParaRPr lang="en-US" sz="1650" dirty="0"/>
          </a:p>
        </p:txBody>
      </p:sp>
      <p:sp>
        <p:nvSpPr>
          <p:cNvPr id="14" name="Text 12"/>
          <p:cNvSpPr/>
          <p:nvPr/>
        </p:nvSpPr>
        <p:spPr>
          <a:xfrm>
            <a:off x="502920" y="5486400"/>
            <a:ext cx="11185855" cy="777240"/>
          </a:xfrm>
          <a:prstGeom prst="rect">
            <a:avLst/>
          </a:prstGeom>
          <a:noFill/>
          <a:ln/>
        </p:spPr>
        <p:txBody>
          <a:bodyPr wrap="square" rtlCol="0" anchor="ctr"/>
          <a:lstStyle/>
          <a:p>
            <a:pPr marL="0" indent="0">
              <a:lnSpc>
                <a:spcPts val="2375"/>
              </a:lnSpc>
              <a:buNone/>
            </a:pPr>
            <a:r>
              <a:rPr lang="en-US" sz="1900" b="1" dirty="0">
                <a:solidFill>
                  <a:srgbClr val="0B1E3D"/>
                </a:solidFill>
                <a:latin typeface="Calibri" pitchFamily="34" charset="0"/>
                <a:ea typeface="Calibri" pitchFamily="34" charset="-122"/>
                <a:cs typeface="Calibri" pitchFamily="34" charset="-120"/>
              </a:rPr>
              <a:t>Key point:  </a:t>
            </a:r>
            <a:r>
              <a:rPr lang="en-US" sz="1900" dirty="0">
                <a:solidFill>
                  <a:srgbClr val="1A1F2B"/>
                </a:solidFill>
                <a:latin typeface="Calibri" pitchFamily="34" charset="0"/>
                <a:ea typeface="Calibri" pitchFamily="34" charset="-122"/>
                <a:cs typeface="Calibri" pitchFamily="34" charset="-120"/>
              </a:rPr>
              <a:t>a good agent design REQUIRES a well-defined performance measure — vague goals produce vague (or dangerously wrong) behavior.</a:t>
            </a:r>
            <a:endParaRPr lang="en-US" sz="1900" dirty="0"/>
          </a:p>
        </p:txBody>
      </p:sp>
      <p:sp>
        <p:nvSpPr>
          <p:cNvPr id="15" name="Text 13"/>
          <p:cNvSpPr/>
          <p:nvPr/>
        </p:nvSpPr>
        <p:spPr>
          <a:xfrm>
            <a:off x="502920" y="6446520"/>
            <a:ext cx="8229600" cy="320040"/>
          </a:xfrm>
          <a:prstGeom prst="rect">
            <a:avLst/>
          </a:prstGeom>
          <a:noFill/>
          <a:ln/>
        </p:spPr>
        <p:txBody>
          <a:bodyPr wrap="square" rtlCol="0" anchor="ctr"/>
          <a:lstStyle/>
          <a:p>
            <a:pPr marL="0" indent="0">
              <a:buNone/>
            </a:pPr>
            <a:r>
              <a:rPr lang="en-US" sz="1400" i="1" dirty="0">
                <a:solidFill>
                  <a:srgbClr val="5A6478"/>
                </a:solidFill>
                <a:latin typeface="Calibri" pitchFamily="34" charset="0"/>
                <a:ea typeface="Calibri" pitchFamily="34" charset="-122"/>
                <a:cs typeface="Calibri" pitchFamily="34" charset="-120"/>
              </a:rPr>
              <a:t>AI — Intelligent Agents  |  C. Rational Agents</a:t>
            </a:r>
            <a:endParaRPr lang="en-US" sz="1400" dirty="0"/>
          </a:p>
        </p:txBody>
      </p:sp>
      <p:sp>
        <p:nvSpPr>
          <p:cNvPr id="16" name="Text 14"/>
          <p:cNvSpPr/>
          <p:nvPr/>
        </p:nvSpPr>
        <p:spPr>
          <a:xfrm>
            <a:off x="10500055" y="6446520"/>
            <a:ext cx="1188720" cy="320040"/>
          </a:xfrm>
          <a:prstGeom prst="rect">
            <a:avLst/>
          </a:prstGeom>
          <a:noFill/>
          <a:ln/>
        </p:spPr>
        <p:txBody>
          <a:bodyPr wrap="square" rtlCol="0" anchor="ctr"/>
          <a:lstStyle/>
          <a:p>
            <a:pPr marL="0" indent="0" algn="r">
              <a:buNone/>
            </a:pPr>
            <a:r>
              <a:rPr lang="en-US" sz="1400" dirty="0">
                <a:solidFill>
                  <a:srgbClr val="5A6478"/>
                </a:solidFill>
                <a:latin typeface="Calibri" pitchFamily="34" charset="0"/>
                <a:ea typeface="Calibri" pitchFamily="34" charset="-122"/>
                <a:cs typeface="Calibri" pitchFamily="34" charset="-120"/>
              </a:rPr>
              <a:t>12 / 40</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E3D"/>
        </a:solidFill>
        <a:effectLst/>
      </p:bgPr>
    </p:bg>
    <p:spTree>
      <p:nvGrpSpPr>
        <p:cNvPr id="1" name=""/>
        <p:cNvGrpSpPr/>
        <p:nvPr/>
      </p:nvGrpSpPr>
      <p:grpSpPr>
        <a:xfrm>
          <a:off x="0" y="0"/>
          <a:ext cx="0" cy="0"/>
          <a:chOff x="0" y="0"/>
          <a:chExt cx="0" cy="0"/>
        </a:xfrm>
      </p:grpSpPr>
      <p:sp>
        <p:nvSpPr>
          <p:cNvPr id="2" name="Text 0"/>
          <p:cNvSpPr/>
          <p:nvPr/>
        </p:nvSpPr>
        <p:spPr>
          <a:xfrm>
            <a:off x="502920" y="292608"/>
            <a:ext cx="11185855" cy="347472"/>
          </a:xfrm>
          <a:prstGeom prst="rect">
            <a:avLst/>
          </a:prstGeom>
          <a:noFill/>
          <a:ln/>
        </p:spPr>
        <p:txBody>
          <a:bodyPr wrap="square" rtlCol="0" anchor="ctr"/>
          <a:lstStyle/>
          <a:p>
            <a:pPr marL="0" indent="0">
              <a:buNone/>
            </a:pPr>
            <a:r>
              <a:rPr lang="en-US" sz="1500" b="1" kern="0" spc="150" dirty="0">
                <a:solidFill>
                  <a:srgbClr val="B08D57"/>
                </a:solidFill>
                <a:latin typeface="Calibri" pitchFamily="34" charset="0"/>
                <a:ea typeface="Calibri" pitchFamily="34" charset="-122"/>
                <a:cs typeface="Calibri" pitchFamily="34" charset="-120"/>
              </a:rPr>
              <a:t>C. RATIONAL AGENTS</a:t>
            </a:r>
            <a:endParaRPr lang="en-US" sz="1500" dirty="0"/>
          </a:p>
        </p:txBody>
      </p:sp>
      <p:sp>
        <p:nvSpPr>
          <p:cNvPr id="3" name="Text 1"/>
          <p:cNvSpPr txBox="1"/>
          <p:nvPr/>
        </p:nvSpPr>
        <p:spPr>
          <a:xfrm>
            <a:off x="502920" y="676656"/>
            <a:ext cx="11185855" cy="1417320"/>
          </a:xfrm>
          <a:prstGeom prst="rect">
            <a:avLst/>
          </a:prstGeom>
          <a:noFill/>
          <a:ln/>
        </p:spPr>
        <p:txBody>
          <a:bodyPr wrap="square" rtlCol="0" anchor="t"/>
          <a:lstStyle/>
          <a:p>
            <a:pPr marL="0" indent="0">
              <a:lnSpc>
                <a:spcPts val="3136"/>
              </a:lnSpc>
              <a:buNone/>
            </a:pPr>
            <a:r>
              <a:rPr lang="en-US" sz="2800" b="1" dirty="0">
                <a:solidFill>
                  <a:srgbClr val="FFFFFF"/>
                </a:solidFill>
                <a:latin typeface="Cambria" pitchFamily="34" charset="0"/>
                <a:ea typeface="Cambria" pitchFamily="34" charset="-122"/>
                <a:cs typeface="Cambria" pitchFamily="34" charset="-120"/>
              </a:rPr>
              <a:t>Worked Example — A Delivery Robot's Dilemma</a:t>
            </a:r>
            <a:endParaRPr lang="en-US" sz="2800" dirty="0"/>
          </a:p>
        </p:txBody>
      </p:sp>
      <p:sp>
        <p:nvSpPr>
          <p:cNvPr id="4" name="Shape 2"/>
          <p:cNvSpPr/>
          <p:nvPr/>
        </p:nvSpPr>
        <p:spPr>
          <a:xfrm>
            <a:off x="502920" y="1828800"/>
            <a:ext cx="11185855" cy="1554480"/>
          </a:xfrm>
          <a:prstGeom prst="roundRect">
            <a:avLst>
              <a:gd name="adj" fmla="val 4118"/>
            </a:avLst>
          </a:prstGeom>
          <a:solidFill>
            <a:srgbClr val="13294B"/>
          </a:solidFill>
          <a:ln/>
        </p:spPr>
      </p:sp>
      <p:sp>
        <p:nvSpPr>
          <p:cNvPr id="5" name="Text 3"/>
          <p:cNvSpPr/>
          <p:nvPr/>
        </p:nvSpPr>
        <p:spPr>
          <a:xfrm>
            <a:off x="777240" y="1965960"/>
            <a:ext cx="10637215" cy="411480"/>
          </a:xfrm>
          <a:prstGeom prst="rect">
            <a:avLst/>
          </a:prstGeom>
          <a:noFill/>
          <a:ln/>
        </p:spPr>
        <p:txBody>
          <a:bodyPr wrap="square" rtlCol="0" anchor="ctr"/>
          <a:lstStyle/>
          <a:p>
            <a:pPr marL="0" indent="0">
              <a:buNone/>
            </a:pPr>
            <a:r>
              <a:rPr lang="en-US" sz="1900" b="1" dirty="0">
                <a:solidFill>
                  <a:srgbClr val="B08D57"/>
                </a:solidFill>
                <a:latin typeface="Cambria" pitchFamily="34" charset="0"/>
                <a:ea typeface="Cambria" pitchFamily="34" charset="-122"/>
                <a:cs typeface="Cambria" pitchFamily="34" charset="-120"/>
              </a:rPr>
              <a:t>Situation — the robot currently detects:</a:t>
            </a:r>
            <a:endParaRPr lang="en-US" sz="1900" dirty="0"/>
          </a:p>
        </p:txBody>
      </p:sp>
      <p:sp>
        <p:nvSpPr>
          <p:cNvPr id="6" name="Text 4"/>
          <p:cNvSpPr/>
          <p:nvPr/>
        </p:nvSpPr>
        <p:spPr>
          <a:xfrm>
            <a:off x="777240" y="2450592"/>
            <a:ext cx="5227168" cy="365760"/>
          </a:xfrm>
          <a:prstGeom prst="rect">
            <a:avLst/>
          </a:prstGeom>
          <a:noFill/>
          <a:ln/>
        </p:spPr>
        <p:txBody>
          <a:bodyPr wrap="square" rtlCol="0" anchor="ctr"/>
          <a:lstStyle/>
          <a:p>
            <a:pPr marL="0" indent="0">
              <a:buNone/>
            </a:pPr>
            <a:r>
              <a:rPr lang="en-US" sz="1800" dirty="0">
                <a:solidFill>
                  <a:srgbClr val="E7EBF3"/>
                </a:solidFill>
                <a:latin typeface="Calibri" pitchFamily="34" charset="0"/>
                <a:ea typeface="Calibri" pitchFamily="34" charset="-122"/>
                <a:cs typeface="Calibri" pitchFamily="34" charset="-120"/>
              </a:rPr>
              <a:t>•  Pedestrian nearby</a:t>
            </a:r>
            <a:endParaRPr lang="en-US" sz="1800" dirty="0"/>
          </a:p>
        </p:txBody>
      </p:sp>
      <p:sp>
        <p:nvSpPr>
          <p:cNvPr id="7" name="Text 5"/>
          <p:cNvSpPr/>
          <p:nvPr/>
        </p:nvSpPr>
        <p:spPr>
          <a:xfrm>
            <a:off x="6095848" y="2450592"/>
            <a:ext cx="5227168" cy="365760"/>
          </a:xfrm>
          <a:prstGeom prst="rect">
            <a:avLst/>
          </a:prstGeom>
          <a:noFill/>
          <a:ln/>
        </p:spPr>
        <p:txBody>
          <a:bodyPr wrap="square" rtlCol="0" anchor="ctr"/>
          <a:lstStyle/>
          <a:p>
            <a:pPr marL="0" indent="0">
              <a:buNone/>
            </a:pPr>
            <a:r>
              <a:rPr lang="en-US" sz="1800" dirty="0">
                <a:solidFill>
                  <a:srgbClr val="E7EBF3"/>
                </a:solidFill>
                <a:latin typeface="Calibri" pitchFamily="34" charset="0"/>
                <a:ea typeface="Calibri" pitchFamily="34" charset="-122"/>
                <a:cs typeface="Calibri" pitchFamily="34" charset="-120"/>
              </a:rPr>
              <a:t>•  A road crossing ahead</a:t>
            </a:r>
            <a:endParaRPr lang="en-US" sz="1800" dirty="0"/>
          </a:p>
        </p:txBody>
      </p:sp>
      <p:sp>
        <p:nvSpPr>
          <p:cNvPr id="8" name="Text 6"/>
          <p:cNvSpPr/>
          <p:nvPr/>
        </p:nvSpPr>
        <p:spPr>
          <a:xfrm>
            <a:off x="777240" y="2834640"/>
            <a:ext cx="5227168" cy="365760"/>
          </a:xfrm>
          <a:prstGeom prst="rect">
            <a:avLst/>
          </a:prstGeom>
          <a:noFill/>
          <a:ln/>
        </p:spPr>
        <p:txBody>
          <a:bodyPr wrap="square" rtlCol="0" anchor="ctr"/>
          <a:lstStyle/>
          <a:p>
            <a:pPr marL="0" indent="0">
              <a:buNone/>
            </a:pPr>
            <a:r>
              <a:rPr lang="en-US" sz="1800" dirty="0">
                <a:solidFill>
                  <a:srgbClr val="E7EBF3"/>
                </a:solidFill>
                <a:latin typeface="Calibri" pitchFamily="34" charset="0"/>
                <a:ea typeface="Calibri" pitchFamily="34" charset="-122"/>
                <a:cs typeface="Calibri" pitchFamily="34" charset="-120"/>
              </a:rPr>
              <a:t>•  Low battery</a:t>
            </a:r>
            <a:endParaRPr lang="en-US" sz="1800" dirty="0"/>
          </a:p>
        </p:txBody>
      </p:sp>
      <p:sp>
        <p:nvSpPr>
          <p:cNvPr id="9" name="Text 7"/>
          <p:cNvSpPr/>
          <p:nvPr/>
        </p:nvSpPr>
        <p:spPr>
          <a:xfrm>
            <a:off x="6095848" y="2834640"/>
            <a:ext cx="5227168" cy="365760"/>
          </a:xfrm>
          <a:prstGeom prst="rect">
            <a:avLst/>
          </a:prstGeom>
          <a:noFill/>
          <a:ln/>
        </p:spPr>
        <p:txBody>
          <a:bodyPr wrap="square" rtlCol="0" anchor="ctr"/>
          <a:lstStyle/>
          <a:p>
            <a:pPr marL="0" indent="0">
              <a:buNone/>
            </a:pPr>
            <a:r>
              <a:rPr lang="en-US" sz="1800" dirty="0">
                <a:solidFill>
                  <a:srgbClr val="E7EBF3"/>
                </a:solidFill>
                <a:latin typeface="Calibri" pitchFamily="34" charset="0"/>
                <a:ea typeface="Calibri" pitchFamily="34" charset="-122"/>
                <a:cs typeface="Calibri" pitchFamily="34" charset="-120"/>
              </a:rPr>
              <a:t>•  An approaching delivery deadline</a:t>
            </a:r>
            <a:endParaRPr lang="en-US" sz="1800" dirty="0"/>
          </a:p>
        </p:txBody>
      </p:sp>
      <p:sp>
        <p:nvSpPr>
          <p:cNvPr id="10" name="Text 8"/>
          <p:cNvSpPr/>
          <p:nvPr/>
        </p:nvSpPr>
        <p:spPr>
          <a:xfrm>
            <a:off x="502920" y="3520440"/>
            <a:ext cx="11185855" cy="502920"/>
          </a:xfrm>
          <a:prstGeom prst="rect">
            <a:avLst/>
          </a:prstGeom>
          <a:noFill/>
          <a:ln/>
        </p:spPr>
        <p:txBody>
          <a:bodyPr wrap="square" rtlCol="0" anchor="ctr"/>
          <a:lstStyle/>
          <a:p>
            <a:pPr marL="0" indent="0" algn="ctr">
              <a:buNone/>
            </a:pPr>
            <a:r>
              <a:rPr lang="en-US" sz="2100" b="1" i="1" dirty="0">
                <a:solidFill>
                  <a:srgbClr val="B08D57"/>
                </a:solidFill>
                <a:latin typeface="Cambria" pitchFamily="34" charset="0"/>
                <a:ea typeface="Cambria" pitchFamily="34" charset="-122"/>
                <a:cs typeface="Cambria" pitchFamily="34" charset="-120"/>
              </a:rPr>
              <a:t>Classroom question:  “What should the robot do right now?”</a:t>
            </a:r>
            <a:endParaRPr lang="en-US" sz="2100" dirty="0"/>
          </a:p>
        </p:txBody>
      </p:sp>
      <p:sp>
        <p:nvSpPr>
          <p:cNvPr id="11" name="Text 9"/>
          <p:cNvSpPr/>
          <p:nvPr/>
        </p:nvSpPr>
        <p:spPr>
          <a:xfrm>
            <a:off x="502920" y="4114800"/>
            <a:ext cx="11185855" cy="2103120"/>
          </a:xfrm>
          <a:prstGeom prst="rect">
            <a:avLst/>
          </a:prstGeom>
          <a:noFill/>
          <a:ln/>
        </p:spPr>
        <p:txBody>
          <a:bodyPr wrap="square" lIns="0" tIns="0" rIns="0" bIns="0" rtlCol="0" anchor="t"/>
          <a:lstStyle/>
          <a:p>
            <a:pPr marL="228600" indent="-228600">
              <a:buSzPct val="100000"/>
              <a:buChar char="▪"/>
            </a:pPr>
            <a:r>
              <a:rPr lang="en-US" sz="1800" b="1" dirty="0">
                <a:solidFill>
                  <a:srgbClr val="B08D57"/>
                </a:solidFill>
                <a:latin typeface="Calibri" pitchFamily="34" charset="0"/>
                <a:ea typeface="Calibri" pitchFamily="34" charset="-122"/>
                <a:cs typeface="Calibri" pitchFamily="34" charset="-120"/>
              </a:rPr>
              <a:t>Performance measure — </a:t>
            </a:r>
            <a:r>
              <a:rPr lang="en-US" sz="1800" dirty="0">
                <a:solidFill>
                  <a:srgbClr val="E7EBF3"/>
                </a:solidFill>
                <a:latin typeface="Calibri" pitchFamily="34" charset="0"/>
                <a:ea typeface="Calibri" pitchFamily="34" charset="-122"/>
                <a:cs typeface="Calibri" pitchFamily="34" charset="-120"/>
              </a:rPr>
              <a:t>how are safety, punctuality, and battery use weighed against each other?</a:t>
            </a:r>
            <a:endParaRPr lang="en-US" sz="1800" dirty="0"/>
          </a:p>
          <a:p>
            <a:pPr marL="228600" indent="-228600">
              <a:buSzPct val="100000"/>
              <a:buChar char="▪"/>
            </a:pPr>
            <a:r>
              <a:rPr lang="en-US" sz="1800" b="1" dirty="0">
                <a:solidFill>
                  <a:srgbClr val="B08D57"/>
                </a:solidFill>
                <a:latin typeface="Calibri" pitchFamily="34" charset="0"/>
                <a:ea typeface="Calibri" pitchFamily="34" charset="-122"/>
                <a:cs typeface="Calibri" pitchFamily="34" charset="-120"/>
              </a:rPr>
              <a:t>Percepts — </a:t>
            </a:r>
            <a:r>
              <a:rPr lang="en-US" sz="1800" dirty="0">
                <a:solidFill>
                  <a:srgbClr val="E7EBF3"/>
                </a:solidFill>
                <a:latin typeface="Calibri" pitchFamily="34" charset="0"/>
                <a:ea typeface="Calibri" pitchFamily="34" charset="-122"/>
                <a:cs typeface="Calibri" pitchFamily="34" charset="-120"/>
              </a:rPr>
              <a:t>pedestrian, crossing, battery level, and deadline, all sensed right now.</a:t>
            </a:r>
            <a:endParaRPr lang="en-US" sz="1800" dirty="0"/>
          </a:p>
          <a:p>
            <a:pPr marL="228600" indent="-228600">
              <a:buSzPct val="100000"/>
              <a:buChar char="▪"/>
            </a:pPr>
            <a:r>
              <a:rPr lang="en-US" sz="1800" b="1" dirty="0">
                <a:solidFill>
                  <a:srgbClr val="B08D57"/>
                </a:solidFill>
                <a:latin typeface="Calibri" pitchFamily="34" charset="0"/>
                <a:ea typeface="Calibri" pitchFamily="34" charset="-122"/>
                <a:cs typeface="Calibri" pitchFamily="34" charset="-120"/>
              </a:rPr>
              <a:t>Available actions — </a:t>
            </a:r>
            <a:r>
              <a:rPr lang="en-US" sz="1800" dirty="0">
                <a:solidFill>
                  <a:srgbClr val="E7EBF3"/>
                </a:solidFill>
                <a:latin typeface="Calibri" pitchFamily="34" charset="0"/>
                <a:ea typeface="Calibri" pitchFamily="34" charset="-122"/>
                <a:cs typeface="Calibri" pitchFamily="34" charset="-120"/>
              </a:rPr>
              <a:t>wait, proceed slowly, reroute, or return to base to recharge.</a:t>
            </a:r>
            <a:endParaRPr lang="en-US" sz="1800" dirty="0"/>
          </a:p>
          <a:p>
            <a:pPr marL="228600" indent="-228600">
              <a:buSzPct val="100000"/>
              <a:buChar char="▪"/>
            </a:pPr>
            <a:r>
              <a:rPr lang="en-US" sz="1800" b="1" dirty="0">
                <a:solidFill>
                  <a:srgbClr val="B08D57"/>
                </a:solidFill>
                <a:latin typeface="Calibri" pitchFamily="34" charset="0"/>
                <a:ea typeface="Calibri" pitchFamily="34" charset="-122"/>
                <a:cs typeface="Calibri" pitchFamily="34" charset="-120"/>
              </a:rPr>
              <a:t>Prior knowledge — </a:t>
            </a:r>
            <a:r>
              <a:rPr lang="en-US" sz="1800" dirty="0">
                <a:solidFill>
                  <a:srgbClr val="E7EBF3"/>
                </a:solidFill>
                <a:latin typeface="Calibri" pitchFamily="34" charset="0"/>
                <a:ea typeface="Calibri" pitchFamily="34" charset="-122"/>
                <a:cs typeface="Calibri" pitchFamily="34" charset="-120"/>
              </a:rPr>
              <a:t>traffic rules, the map, and typical pedestrian behavior.</a:t>
            </a:r>
            <a:endParaRPr lang="en-US" sz="1800" dirty="0"/>
          </a:p>
        </p:txBody>
      </p:sp>
      <p:sp>
        <p:nvSpPr>
          <p:cNvPr id="12" name="Text 10"/>
          <p:cNvSpPr/>
          <p:nvPr/>
        </p:nvSpPr>
        <p:spPr>
          <a:xfrm>
            <a:off x="502920" y="6446520"/>
            <a:ext cx="8229600" cy="320040"/>
          </a:xfrm>
          <a:prstGeom prst="rect">
            <a:avLst/>
          </a:prstGeom>
          <a:noFill/>
          <a:ln/>
        </p:spPr>
        <p:txBody>
          <a:bodyPr wrap="square" rtlCol="0" anchor="ctr"/>
          <a:lstStyle/>
          <a:p>
            <a:pPr marL="0" indent="0">
              <a:buNone/>
            </a:pPr>
            <a:r>
              <a:rPr lang="en-US" sz="1400" i="1" dirty="0">
                <a:solidFill>
                  <a:srgbClr val="8B96AC"/>
                </a:solidFill>
                <a:latin typeface="Calibri" pitchFamily="34" charset="0"/>
                <a:ea typeface="Calibri" pitchFamily="34" charset="-122"/>
                <a:cs typeface="Calibri" pitchFamily="34" charset="-120"/>
              </a:rPr>
              <a:t>AI — Intelligent Agents  |  C. Rational Agents</a:t>
            </a:r>
            <a:endParaRPr lang="en-US" sz="1400" dirty="0"/>
          </a:p>
        </p:txBody>
      </p:sp>
      <p:sp>
        <p:nvSpPr>
          <p:cNvPr id="13" name="Text 11"/>
          <p:cNvSpPr/>
          <p:nvPr/>
        </p:nvSpPr>
        <p:spPr>
          <a:xfrm>
            <a:off x="10500055" y="6446520"/>
            <a:ext cx="1188720" cy="320040"/>
          </a:xfrm>
          <a:prstGeom prst="rect">
            <a:avLst/>
          </a:prstGeom>
          <a:noFill/>
          <a:ln/>
        </p:spPr>
        <p:txBody>
          <a:bodyPr wrap="square" rtlCol="0" anchor="ctr"/>
          <a:lstStyle/>
          <a:p>
            <a:pPr marL="0" indent="0" algn="r">
              <a:buNone/>
            </a:pPr>
            <a:r>
              <a:rPr lang="en-US" sz="1400" dirty="0">
                <a:solidFill>
                  <a:srgbClr val="8B96AC"/>
                </a:solidFill>
                <a:latin typeface="Calibri" pitchFamily="34" charset="0"/>
                <a:ea typeface="Calibri" pitchFamily="34" charset="-122"/>
                <a:cs typeface="Calibri" pitchFamily="34" charset="-120"/>
              </a:rPr>
              <a:t>13 / 40</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85855" cy="347472"/>
          </a:xfrm>
          <a:prstGeom prst="rect">
            <a:avLst/>
          </a:prstGeom>
          <a:noFill/>
          <a:ln/>
        </p:spPr>
        <p:txBody>
          <a:bodyPr wrap="square" rtlCol="0" anchor="ctr"/>
          <a:lstStyle/>
          <a:p>
            <a:pPr marL="0" indent="0">
              <a:buNone/>
            </a:pPr>
            <a:r>
              <a:rPr lang="en-US" sz="1500" b="1" kern="0" spc="150" dirty="0">
                <a:solidFill>
                  <a:srgbClr val="B08D57"/>
                </a:solidFill>
                <a:latin typeface="Calibri" pitchFamily="34" charset="0"/>
                <a:ea typeface="Calibri" pitchFamily="34" charset="-122"/>
                <a:cs typeface="Calibri" pitchFamily="34" charset="-120"/>
              </a:rPr>
              <a:t>D. THE PEAS FRAMEWORK</a:t>
            </a:r>
            <a:endParaRPr lang="en-US" sz="1500" dirty="0"/>
          </a:p>
        </p:txBody>
      </p:sp>
      <p:sp>
        <p:nvSpPr>
          <p:cNvPr id="3" name="Text 1"/>
          <p:cNvSpPr txBox="1"/>
          <p:nvPr/>
        </p:nvSpPr>
        <p:spPr>
          <a:xfrm>
            <a:off x="502920" y="676656"/>
            <a:ext cx="11185855" cy="1417320"/>
          </a:xfrm>
          <a:prstGeom prst="rect">
            <a:avLst/>
          </a:prstGeom>
          <a:noFill/>
          <a:ln/>
        </p:spPr>
        <p:txBody>
          <a:bodyPr wrap="square" rtlCol="0" anchor="t"/>
          <a:lstStyle/>
          <a:p>
            <a:pPr marL="0" indent="0">
              <a:lnSpc>
                <a:spcPts val="3584"/>
              </a:lnSpc>
              <a:buNone/>
            </a:pPr>
            <a:r>
              <a:rPr lang="en-US" sz="3200" b="1" dirty="0">
                <a:solidFill>
                  <a:srgbClr val="0B1E3D"/>
                </a:solidFill>
                <a:latin typeface="Cambria" pitchFamily="34" charset="0"/>
                <a:ea typeface="Cambria" pitchFamily="34" charset="-122"/>
                <a:cs typeface="Cambria" pitchFamily="34" charset="-120"/>
              </a:rPr>
              <a:t>Introduction to PEAS</a:t>
            </a:r>
            <a:endParaRPr lang="en-US" sz="3200" dirty="0"/>
          </a:p>
        </p:txBody>
      </p:sp>
      <p:sp>
        <p:nvSpPr>
          <p:cNvPr id="4" name="Text 2"/>
          <p:cNvSpPr/>
          <p:nvPr/>
        </p:nvSpPr>
        <p:spPr>
          <a:xfrm>
            <a:off x="502920" y="1828800"/>
            <a:ext cx="11185855" cy="685800"/>
          </a:xfrm>
          <a:prstGeom prst="rect">
            <a:avLst/>
          </a:prstGeom>
          <a:noFill/>
          <a:ln/>
        </p:spPr>
        <p:txBody>
          <a:bodyPr wrap="square" lIns="0" tIns="0" rIns="0" bIns="0" rtlCol="0" anchor="t"/>
          <a:lstStyle/>
          <a:p>
            <a:pPr marL="228600" indent="-228600">
              <a:spcAft>
                <a:spcPts val="1200"/>
              </a:spcAft>
              <a:buSzPct val="100000"/>
              <a:buChar char="▪"/>
            </a:pPr>
            <a:r>
              <a:rPr lang="en-US" sz="2000" dirty="0">
                <a:solidFill>
                  <a:srgbClr val="1A1F2B"/>
                </a:solidFill>
                <a:latin typeface="Calibri" pitchFamily="34" charset="0"/>
                <a:ea typeface="Calibri" pitchFamily="34" charset="-122"/>
                <a:cs typeface="Calibri" pitchFamily="34" charset="-120"/>
              </a:rPr>
              <a:t>PEAS is a systematic way to specify any agent's task environment precisely — so designs can be described, compared, and evaluated consistently.</a:t>
            </a:r>
            <a:endParaRPr lang="en-US" sz="2000" dirty="0"/>
          </a:p>
        </p:txBody>
      </p:sp>
      <p:sp>
        <p:nvSpPr>
          <p:cNvPr id="5" name="Shape 3"/>
          <p:cNvSpPr/>
          <p:nvPr/>
        </p:nvSpPr>
        <p:spPr>
          <a:xfrm>
            <a:off x="502920" y="2651760"/>
            <a:ext cx="5432908" cy="1623060"/>
          </a:xfrm>
          <a:prstGeom prst="roundRect">
            <a:avLst>
              <a:gd name="adj" fmla="val 4507"/>
            </a:avLst>
          </a:prstGeom>
          <a:solidFill>
            <a:srgbClr val="0B1E3D"/>
          </a:solidFill>
          <a:ln/>
        </p:spPr>
      </p:sp>
      <p:sp>
        <p:nvSpPr>
          <p:cNvPr id="6" name="Text 4"/>
          <p:cNvSpPr/>
          <p:nvPr/>
        </p:nvSpPr>
        <p:spPr>
          <a:xfrm>
            <a:off x="731520" y="2788920"/>
            <a:ext cx="4975708" cy="502920"/>
          </a:xfrm>
          <a:prstGeom prst="rect">
            <a:avLst/>
          </a:prstGeom>
          <a:noFill/>
          <a:ln/>
        </p:spPr>
        <p:txBody>
          <a:bodyPr wrap="square" rtlCol="0" anchor="ctr"/>
          <a:lstStyle/>
          <a:p>
            <a:pPr marL="0" indent="0">
              <a:buNone/>
            </a:pPr>
            <a:r>
              <a:rPr lang="en-US" sz="3000" b="1" dirty="0">
                <a:solidFill>
                  <a:srgbClr val="B08D57"/>
                </a:solidFill>
                <a:latin typeface="Cambria" pitchFamily="34" charset="0"/>
                <a:ea typeface="Cambria" pitchFamily="34" charset="-122"/>
                <a:cs typeface="Cambria" pitchFamily="34" charset="-120"/>
              </a:rPr>
              <a:t>P  </a:t>
            </a:r>
            <a:r>
              <a:rPr lang="en-US" sz="2000" b="1" dirty="0">
                <a:solidFill>
                  <a:srgbClr val="B08D57"/>
                </a:solidFill>
                <a:latin typeface="Cambria" pitchFamily="34" charset="0"/>
                <a:ea typeface="Cambria" pitchFamily="34" charset="-122"/>
                <a:cs typeface="Cambria" pitchFamily="34" charset="-120"/>
              </a:rPr>
              <a:t>Performance Measure</a:t>
            </a:r>
            <a:endParaRPr lang="en-US" sz="3000" dirty="0"/>
          </a:p>
        </p:txBody>
      </p:sp>
      <p:sp>
        <p:nvSpPr>
          <p:cNvPr id="7" name="Text 5"/>
          <p:cNvSpPr/>
          <p:nvPr/>
        </p:nvSpPr>
        <p:spPr>
          <a:xfrm>
            <a:off x="731520" y="3310128"/>
            <a:ext cx="4975708" cy="800100"/>
          </a:xfrm>
          <a:prstGeom prst="rect">
            <a:avLst/>
          </a:prstGeom>
          <a:noFill/>
          <a:ln/>
        </p:spPr>
        <p:txBody>
          <a:bodyPr wrap="square" rtlCol="0" anchor="t"/>
          <a:lstStyle/>
          <a:p>
            <a:pPr marL="0" indent="0">
              <a:lnSpc>
                <a:spcPts val="2250"/>
              </a:lnSpc>
              <a:buNone/>
            </a:pPr>
            <a:r>
              <a:rPr lang="en-US" sz="1800" dirty="0">
                <a:solidFill>
                  <a:srgbClr val="E7EBF3"/>
                </a:solidFill>
                <a:latin typeface="Calibri" pitchFamily="34" charset="0"/>
                <a:ea typeface="Calibri" pitchFamily="34" charset="-122"/>
                <a:cs typeface="Calibri" pitchFamily="34" charset="-120"/>
              </a:rPr>
              <a:t>How do we judge whether the agent is succeeding?</a:t>
            </a:r>
            <a:endParaRPr lang="en-US" sz="1800" dirty="0"/>
          </a:p>
        </p:txBody>
      </p:sp>
      <p:sp>
        <p:nvSpPr>
          <p:cNvPr id="8" name="Shape 6"/>
          <p:cNvSpPr/>
          <p:nvPr/>
        </p:nvSpPr>
        <p:spPr>
          <a:xfrm>
            <a:off x="6255868" y="2651760"/>
            <a:ext cx="5432908" cy="1623060"/>
          </a:xfrm>
          <a:prstGeom prst="roundRect">
            <a:avLst>
              <a:gd name="adj" fmla="val 4507"/>
            </a:avLst>
          </a:prstGeom>
          <a:solidFill>
            <a:srgbClr val="F3F5F8"/>
          </a:solidFill>
          <a:ln w="12700">
            <a:solidFill>
              <a:srgbClr val="D8DCE3"/>
            </a:solidFill>
            <a:prstDash val="solid"/>
          </a:ln>
        </p:spPr>
      </p:sp>
      <p:sp>
        <p:nvSpPr>
          <p:cNvPr id="9" name="Text 7"/>
          <p:cNvSpPr/>
          <p:nvPr/>
        </p:nvSpPr>
        <p:spPr>
          <a:xfrm>
            <a:off x="6484468" y="2788920"/>
            <a:ext cx="4975708" cy="502920"/>
          </a:xfrm>
          <a:prstGeom prst="rect">
            <a:avLst/>
          </a:prstGeom>
          <a:noFill/>
          <a:ln/>
        </p:spPr>
        <p:txBody>
          <a:bodyPr wrap="square" rtlCol="0" anchor="ctr"/>
          <a:lstStyle/>
          <a:p>
            <a:pPr marL="0" indent="0">
              <a:buNone/>
            </a:pPr>
            <a:r>
              <a:rPr lang="en-US" sz="3000" b="1" dirty="0">
                <a:solidFill>
                  <a:srgbClr val="0B1E3D"/>
                </a:solidFill>
                <a:latin typeface="Cambria" pitchFamily="34" charset="0"/>
                <a:ea typeface="Cambria" pitchFamily="34" charset="-122"/>
                <a:cs typeface="Cambria" pitchFamily="34" charset="-120"/>
              </a:rPr>
              <a:t>E  </a:t>
            </a:r>
            <a:r>
              <a:rPr lang="en-US" sz="2000" b="1" dirty="0">
                <a:solidFill>
                  <a:srgbClr val="0B1E3D"/>
                </a:solidFill>
                <a:latin typeface="Cambria" pitchFamily="34" charset="0"/>
                <a:ea typeface="Cambria" pitchFamily="34" charset="-122"/>
                <a:cs typeface="Cambria" pitchFamily="34" charset="-120"/>
              </a:rPr>
              <a:t>Environment</a:t>
            </a:r>
            <a:endParaRPr lang="en-US" sz="3000" dirty="0"/>
          </a:p>
        </p:txBody>
      </p:sp>
      <p:sp>
        <p:nvSpPr>
          <p:cNvPr id="10" name="Text 8"/>
          <p:cNvSpPr/>
          <p:nvPr/>
        </p:nvSpPr>
        <p:spPr>
          <a:xfrm>
            <a:off x="6484468" y="3310128"/>
            <a:ext cx="4975708" cy="800100"/>
          </a:xfrm>
          <a:prstGeom prst="rect">
            <a:avLst/>
          </a:prstGeom>
          <a:noFill/>
          <a:ln/>
        </p:spPr>
        <p:txBody>
          <a:bodyPr wrap="square" rtlCol="0" anchor="t"/>
          <a:lstStyle/>
          <a:p>
            <a:pPr marL="0" indent="0">
              <a:lnSpc>
                <a:spcPts val="2250"/>
              </a:lnSpc>
              <a:buNone/>
            </a:pPr>
            <a:r>
              <a:rPr lang="en-US" sz="1800" dirty="0">
                <a:solidFill>
                  <a:srgbClr val="1A1F2B"/>
                </a:solidFill>
                <a:latin typeface="Calibri" pitchFamily="34" charset="0"/>
                <a:ea typeface="Calibri" pitchFamily="34" charset="-122"/>
                <a:cs typeface="Calibri" pitchFamily="34" charset="-120"/>
              </a:rPr>
              <a:t>What surrounds the agent, and is affected by or affects it?</a:t>
            </a:r>
            <a:endParaRPr lang="en-US" sz="1800" dirty="0"/>
          </a:p>
        </p:txBody>
      </p:sp>
      <p:sp>
        <p:nvSpPr>
          <p:cNvPr id="11" name="Shape 9"/>
          <p:cNvSpPr/>
          <p:nvPr/>
        </p:nvSpPr>
        <p:spPr>
          <a:xfrm>
            <a:off x="502920" y="4594860"/>
            <a:ext cx="5432908" cy="1623060"/>
          </a:xfrm>
          <a:prstGeom prst="roundRect">
            <a:avLst>
              <a:gd name="adj" fmla="val 4507"/>
            </a:avLst>
          </a:prstGeom>
          <a:solidFill>
            <a:srgbClr val="F3F5F8"/>
          </a:solidFill>
          <a:ln w="12700">
            <a:solidFill>
              <a:srgbClr val="D8DCE3"/>
            </a:solidFill>
            <a:prstDash val="solid"/>
          </a:ln>
        </p:spPr>
      </p:sp>
      <p:sp>
        <p:nvSpPr>
          <p:cNvPr id="12" name="Text 10"/>
          <p:cNvSpPr/>
          <p:nvPr/>
        </p:nvSpPr>
        <p:spPr>
          <a:xfrm>
            <a:off x="731520" y="4732020"/>
            <a:ext cx="4975708" cy="502920"/>
          </a:xfrm>
          <a:prstGeom prst="rect">
            <a:avLst/>
          </a:prstGeom>
          <a:noFill/>
          <a:ln/>
        </p:spPr>
        <p:txBody>
          <a:bodyPr wrap="square" rtlCol="0" anchor="ctr"/>
          <a:lstStyle/>
          <a:p>
            <a:pPr marL="0" indent="0">
              <a:buNone/>
            </a:pPr>
            <a:r>
              <a:rPr lang="en-US" sz="3000" b="1" dirty="0">
                <a:solidFill>
                  <a:srgbClr val="0B1E3D"/>
                </a:solidFill>
                <a:latin typeface="Cambria" pitchFamily="34" charset="0"/>
                <a:ea typeface="Cambria" pitchFamily="34" charset="-122"/>
                <a:cs typeface="Cambria" pitchFamily="34" charset="-120"/>
              </a:rPr>
              <a:t>A  </a:t>
            </a:r>
            <a:r>
              <a:rPr lang="en-US" sz="2000" b="1" dirty="0">
                <a:solidFill>
                  <a:srgbClr val="0B1E3D"/>
                </a:solidFill>
                <a:latin typeface="Cambria" pitchFamily="34" charset="0"/>
                <a:ea typeface="Cambria" pitchFamily="34" charset="-122"/>
                <a:cs typeface="Cambria" pitchFamily="34" charset="-120"/>
              </a:rPr>
              <a:t>Actuators</a:t>
            </a:r>
            <a:endParaRPr lang="en-US" sz="3000" dirty="0"/>
          </a:p>
        </p:txBody>
      </p:sp>
      <p:sp>
        <p:nvSpPr>
          <p:cNvPr id="13" name="Text 11"/>
          <p:cNvSpPr/>
          <p:nvPr/>
        </p:nvSpPr>
        <p:spPr>
          <a:xfrm>
            <a:off x="731520" y="5253228"/>
            <a:ext cx="4975708" cy="800100"/>
          </a:xfrm>
          <a:prstGeom prst="rect">
            <a:avLst/>
          </a:prstGeom>
          <a:noFill/>
          <a:ln/>
        </p:spPr>
        <p:txBody>
          <a:bodyPr wrap="square" rtlCol="0" anchor="t"/>
          <a:lstStyle/>
          <a:p>
            <a:pPr marL="0" indent="0">
              <a:lnSpc>
                <a:spcPts val="2250"/>
              </a:lnSpc>
              <a:buNone/>
            </a:pPr>
            <a:r>
              <a:rPr lang="en-US" sz="1800" dirty="0">
                <a:solidFill>
                  <a:srgbClr val="1A1F2B"/>
                </a:solidFill>
                <a:latin typeface="Calibri" pitchFamily="34" charset="0"/>
                <a:ea typeface="Calibri" pitchFamily="34" charset="-122"/>
                <a:cs typeface="Calibri" pitchFamily="34" charset="-120"/>
              </a:rPr>
              <a:t>How does the agent act upon its environment?</a:t>
            </a:r>
            <a:endParaRPr lang="en-US" sz="1800" dirty="0"/>
          </a:p>
        </p:txBody>
      </p:sp>
      <p:sp>
        <p:nvSpPr>
          <p:cNvPr id="14" name="Shape 12"/>
          <p:cNvSpPr/>
          <p:nvPr/>
        </p:nvSpPr>
        <p:spPr>
          <a:xfrm>
            <a:off x="6255868" y="4594860"/>
            <a:ext cx="5432908" cy="1623060"/>
          </a:xfrm>
          <a:prstGeom prst="roundRect">
            <a:avLst>
              <a:gd name="adj" fmla="val 4507"/>
            </a:avLst>
          </a:prstGeom>
          <a:solidFill>
            <a:srgbClr val="0B1E3D"/>
          </a:solidFill>
          <a:ln/>
        </p:spPr>
      </p:sp>
      <p:sp>
        <p:nvSpPr>
          <p:cNvPr id="15" name="Text 13"/>
          <p:cNvSpPr/>
          <p:nvPr/>
        </p:nvSpPr>
        <p:spPr>
          <a:xfrm>
            <a:off x="6484468" y="4732020"/>
            <a:ext cx="4975708" cy="502920"/>
          </a:xfrm>
          <a:prstGeom prst="rect">
            <a:avLst/>
          </a:prstGeom>
          <a:noFill/>
          <a:ln/>
        </p:spPr>
        <p:txBody>
          <a:bodyPr wrap="square" rtlCol="0" anchor="ctr"/>
          <a:lstStyle/>
          <a:p>
            <a:pPr marL="0" indent="0">
              <a:buNone/>
            </a:pPr>
            <a:r>
              <a:rPr lang="en-US" sz="3000" b="1" dirty="0">
                <a:solidFill>
                  <a:srgbClr val="B08D57"/>
                </a:solidFill>
                <a:latin typeface="Cambria" pitchFamily="34" charset="0"/>
                <a:ea typeface="Cambria" pitchFamily="34" charset="-122"/>
                <a:cs typeface="Cambria" pitchFamily="34" charset="-120"/>
              </a:rPr>
              <a:t>S  </a:t>
            </a:r>
            <a:r>
              <a:rPr lang="en-US" sz="2000" b="1" dirty="0">
                <a:solidFill>
                  <a:srgbClr val="B08D57"/>
                </a:solidFill>
                <a:latin typeface="Cambria" pitchFamily="34" charset="0"/>
                <a:ea typeface="Cambria" pitchFamily="34" charset="-122"/>
                <a:cs typeface="Cambria" pitchFamily="34" charset="-120"/>
              </a:rPr>
              <a:t>Sensors</a:t>
            </a:r>
            <a:endParaRPr lang="en-US" sz="3000" dirty="0"/>
          </a:p>
        </p:txBody>
      </p:sp>
      <p:sp>
        <p:nvSpPr>
          <p:cNvPr id="16" name="Text 14"/>
          <p:cNvSpPr/>
          <p:nvPr/>
        </p:nvSpPr>
        <p:spPr>
          <a:xfrm>
            <a:off x="6484468" y="5253228"/>
            <a:ext cx="4975708" cy="800100"/>
          </a:xfrm>
          <a:prstGeom prst="rect">
            <a:avLst/>
          </a:prstGeom>
          <a:noFill/>
          <a:ln/>
        </p:spPr>
        <p:txBody>
          <a:bodyPr wrap="square" rtlCol="0" anchor="t"/>
          <a:lstStyle/>
          <a:p>
            <a:pPr marL="0" indent="0">
              <a:lnSpc>
                <a:spcPts val="2250"/>
              </a:lnSpc>
              <a:buNone/>
            </a:pPr>
            <a:r>
              <a:rPr lang="en-US" sz="1800" dirty="0">
                <a:solidFill>
                  <a:srgbClr val="E7EBF3"/>
                </a:solidFill>
                <a:latin typeface="Calibri" pitchFamily="34" charset="0"/>
                <a:ea typeface="Calibri" pitchFamily="34" charset="-122"/>
                <a:cs typeface="Calibri" pitchFamily="34" charset="-120"/>
              </a:rPr>
              <a:t>How does the agent perceive its environment?</a:t>
            </a:r>
            <a:endParaRPr lang="en-US" sz="1800" dirty="0"/>
          </a:p>
        </p:txBody>
      </p:sp>
      <p:sp>
        <p:nvSpPr>
          <p:cNvPr id="17" name="Text 15"/>
          <p:cNvSpPr/>
          <p:nvPr/>
        </p:nvSpPr>
        <p:spPr>
          <a:xfrm>
            <a:off x="502920" y="6446520"/>
            <a:ext cx="8229600" cy="320040"/>
          </a:xfrm>
          <a:prstGeom prst="rect">
            <a:avLst/>
          </a:prstGeom>
          <a:noFill/>
          <a:ln/>
        </p:spPr>
        <p:txBody>
          <a:bodyPr wrap="square" rtlCol="0" anchor="ctr"/>
          <a:lstStyle/>
          <a:p>
            <a:pPr marL="0" indent="0">
              <a:buNone/>
            </a:pPr>
            <a:r>
              <a:rPr lang="en-US" sz="1400" i="1" dirty="0">
                <a:solidFill>
                  <a:srgbClr val="5A6478"/>
                </a:solidFill>
                <a:latin typeface="Calibri" pitchFamily="34" charset="0"/>
                <a:ea typeface="Calibri" pitchFamily="34" charset="-122"/>
                <a:cs typeface="Calibri" pitchFamily="34" charset="-120"/>
              </a:rPr>
              <a:t>AI — Intelligent Agents  |  D. The PEAS Framework</a:t>
            </a:r>
            <a:endParaRPr lang="en-US" sz="1400" dirty="0"/>
          </a:p>
        </p:txBody>
      </p:sp>
      <p:sp>
        <p:nvSpPr>
          <p:cNvPr id="18" name="Text 16"/>
          <p:cNvSpPr/>
          <p:nvPr/>
        </p:nvSpPr>
        <p:spPr>
          <a:xfrm>
            <a:off x="10500055" y="6446520"/>
            <a:ext cx="1188720" cy="320040"/>
          </a:xfrm>
          <a:prstGeom prst="rect">
            <a:avLst/>
          </a:prstGeom>
          <a:noFill/>
          <a:ln/>
        </p:spPr>
        <p:txBody>
          <a:bodyPr wrap="square" rtlCol="0" anchor="ctr"/>
          <a:lstStyle/>
          <a:p>
            <a:pPr marL="0" indent="0" algn="r">
              <a:buNone/>
            </a:pPr>
            <a:r>
              <a:rPr lang="en-US" sz="1400" dirty="0">
                <a:solidFill>
                  <a:srgbClr val="5A6478"/>
                </a:solidFill>
                <a:latin typeface="Calibri" pitchFamily="34" charset="0"/>
                <a:ea typeface="Calibri" pitchFamily="34" charset="-122"/>
                <a:cs typeface="Calibri" pitchFamily="34" charset="-120"/>
              </a:rPr>
              <a:t>14 / 40</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85855" cy="347472"/>
          </a:xfrm>
          <a:prstGeom prst="rect">
            <a:avLst/>
          </a:prstGeom>
          <a:noFill/>
          <a:ln/>
        </p:spPr>
        <p:txBody>
          <a:bodyPr wrap="square" rtlCol="0" anchor="ctr"/>
          <a:lstStyle/>
          <a:p>
            <a:pPr marL="0" indent="0">
              <a:buNone/>
            </a:pPr>
            <a:r>
              <a:rPr lang="en-US" sz="1500" b="1" kern="0" spc="150" dirty="0">
                <a:solidFill>
                  <a:srgbClr val="B08D57"/>
                </a:solidFill>
                <a:latin typeface="Calibri" pitchFamily="34" charset="0"/>
                <a:ea typeface="Calibri" pitchFamily="34" charset="-122"/>
                <a:cs typeface="Calibri" pitchFamily="34" charset="-120"/>
              </a:rPr>
              <a:t>D. THE PEAS FRAMEWORK</a:t>
            </a:r>
            <a:endParaRPr lang="en-US" sz="1500" dirty="0"/>
          </a:p>
        </p:txBody>
      </p:sp>
      <p:sp>
        <p:nvSpPr>
          <p:cNvPr id="3" name="Text 1"/>
          <p:cNvSpPr txBox="1"/>
          <p:nvPr/>
        </p:nvSpPr>
        <p:spPr>
          <a:xfrm>
            <a:off x="502920" y="676656"/>
            <a:ext cx="11185855" cy="1417320"/>
          </a:xfrm>
          <a:prstGeom prst="rect">
            <a:avLst/>
          </a:prstGeom>
          <a:noFill/>
          <a:ln/>
        </p:spPr>
        <p:txBody>
          <a:bodyPr wrap="square" rtlCol="0" anchor="t"/>
          <a:lstStyle/>
          <a:p>
            <a:pPr marL="0" indent="0">
              <a:lnSpc>
                <a:spcPts val="3584"/>
              </a:lnSpc>
              <a:buNone/>
            </a:pPr>
            <a:r>
              <a:rPr lang="en-US" sz="3200" b="1" dirty="0">
                <a:solidFill>
                  <a:srgbClr val="0B1E3D"/>
                </a:solidFill>
                <a:latin typeface="Cambria" pitchFamily="34" charset="0"/>
                <a:ea typeface="Cambria" pitchFamily="34" charset="-122"/>
                <a:cs typeface="Cambria" pitchFamily="34" charset="-120"/>
              </a:rPr>
              <a:t>P — Performance Measure</a:t>
            </a:r>
            <a:endParaRPr lang="en-US" sz="3200" dirty="0"/>
          </a:p>
        </p:txBody>
      </p:sp>
      <p:sp>
        <p:nvSpPr>
          <p:cNvPr id="4" name="Shape 2"/>
          <p:cNvSpPr/>
          <p:nvPr/>
        </p:nvSpPr>
        <p:spPr>
          <a:xfrm>
            <a:off x="502920" y="1828800"/>
            <a:ext cx="11185855" cy="1463040"/>
          </a:xfrm>
          <a:prstGeom prst="roundRect">
            <a:avLst>
              <a:gd name="adj" fmla="val 4375"/>
            </a:avLst>
          </a:prstGeom>
          <a:solidFill>
            <a:srgbClr val="0B1E3D"/>
          </a:solidFill>
          <a:ln/>
        </p:spPr>
      </p:sp>
      <p:sp>
        <p:nvSpPr>
          <p:cNvPr id="5" name="Text 3"/>
          <p:cNvSpPr/>
          <p:nvPr/>
        </p:nvSpPr>
        <p:spPr>
          <a:xfrm>
            <a:off x="777240" y="1965960"/>
            <a:ext cx="10637215" cy="411480"/>
          </a:xfrm>
          <a:prstGeom prst="rect">
            <a:avLst/>
          </a:prstGeom>
          <a:noFill/>
          <a:ln/>
        </p:spPr>
        <p:txBody>
          <a:bodyPr wrap="square" rtlCol="0" anchor="ctr"/>
          <a:lstStyle/>
          <a:p>
            <a:pPr marL="0" indent="0">
              <a:buNone/>
            </a:pPr>
            <a:r>
              <a:rPr lang="en-US" sz="1900" b="1" dirty="0">
                <a:solidFill>
                  <a:srgbClr val="B08D57"/>
                </a:solidFill>
                <a:latin typeface="Cambria" pitchFamily="34" charset="0"/>
                <a:ea typeface="Cambria" pitchFamily="34" charset="-122"/>
                <a:cs typeface="Cambria" pitchFamily="34" charset="-120"/>
              </a:rPr>
              <a:t>Definition</a:t>
            </a:r>
            <a:endParaRPr lang="en-US" sz="1900" dirty="0"/>
          </a:p>
        </p:txBody>
      </p:sp>
      <p:sp>
        <p:nvSpPr>
          <p:cNvPr id="6" name="Text 4"/>
          <p:cNvSpPr/>
          <p:nvPr/>
        </p:nvSpPr>
        <p:spPr>
          <a:xfrm>
            <a:off x="777240" y="2450592"/>
            <a:ext cx="10637215" cy="841248"/>
          </a:xfrm>
          <a:prstGeom prst="rect">
            <a:avLst/>
          </a:prstGeom>
          <a:noFill/>
          <a:ln/>
        </p:spPr>
        <p:txBody>
          <a:bodyPr wrap="square" rtlCol="0" anchor="t"/>
          <a:lstStyle/>
          <a:p>
            <a:pPr marL="0" indent="0">
              <a:lnSpc>
                <a:spcPts val="2645"/>
              </a:lnSpc>
              <a:buNone/>
            </a:pPr>
            <a:r>
              <a:rPr lang="en-US" sz="2300" dirty="0">
                <a:solidFill>
                  <a:srgbClr val="E7EBF3"/>
                </a:solidFill>
                <a:latin typeface="Calibri" pitchFamily="34" charset="0"/>
                <a:ea typeface="Calibri" pitchFamily="34" charset="-122"/>
                <a:cs typeface="Calibri" pitchFamily="34" charset="-120"/>
              </a:rPr>
              <a:t>The performance measure is the criterion used to judge how successful the agent's behavior is — it defines what “success” means for this task.</a:t>
            </a:r>
            <a:endParaRPr lang="en-US" sz="2300" dirty="0"/>
          </a:p>
        </p:txBody>
      </p:sp>
      <p:sp>
        <p:nvSpPr>
          <p:cNvPr id="7" name="Shape 5"/>
          <p:cNvSpPr/>
          <p:nvPr/>
        </p:nvSpPr>
        <p:spPr>
          <a:xfrm>
            <a:off x="502920" y="3520440"/>
            <a:ext cx="5432908" cy="2331720"/>
          </a:xfrm>
          <a:prstGeom prst="roundRect">
            <a:avLst>
              <a:gd name="adj" fmla="val 3137"/>
            </a:avLst>
          </a:prstGeom>
          <a:solidFill>
            <a:srgbClr val="F3F5F8"/>
          </a:solidFill>
          <a:ln w="12700">
            <a:solidFill>
              <a:srgbClr val="D8DCE3"/>
            </a:solidFill>
            <a:prstDash val="solid"/>
          </a:ln>
        </p:spPr>
      </p:sp>
      <p:sp>
        <p:nvSpPr>
          <p:cNvPr id="8" name="Text 6"/>
          <p:cNvSpPr/>
          <p:nvPr/>
        </p:nvSpPr>
        <p:spPr>
          <a:xfrm>
            <a:off x="758952" y="3685032"/>
            <a:ext cx="4920844" cy="502920"/>
          </a:xfrm>
          <a:prstGeom prst="rect">
            <a:avLst/>
          </a:prstGeom>
          <a:noFill/>
          <a:ln/>
        </p:spPr>
        <p:txBody>
          <a:bodyPr wrap="square" rtlCol="0" anchor="ctr"/>
          <a:lstStyle/>
          <a:p>
            <a:pPr marL="0" indent="0">
              <a:buNone/>
            </a:pPr>
            <a:r>
              <a:rPr lang="en-US" sz="2100" b="1" dirty="0">
                <a:solidFill>
                  <a:srgbClr val="0B1E3D"/>
                </a:solidFill>
                <a:latin typeface="Cambria" pitchFamily="34" charset="0"/>
                <a:ea typeface="Cambria" pitchFamily="34" charset="-122"/>
                <a:cs typeface="Cambria" pitchFamily="34" charset="-120"/>
              </a:rPr>
              <a:t>Autonomous Taxi</a:t>
            </a:r>
            <a:endParaRPr lang="en-US" sz="2100" dirty="0"/>
          </a:p>
        </p:txBody>
      </p:sp>
      <p:sp>
        <p:nvSpPr>
          <p:cNvPr id="9" name="Text 7"/>
          <p:cNvSpPr/>
          <p:nvPr/>
        </p:nvSpPr>
        <p:spPr>
          <a:xfrm>
            <a:off x="758952" y="4160520"/>
            <a:ext cx="4920844" cy="1554480"/>
          </a:xfrm>
          <a:prstGeom prst="rect">
            <a:avLst/>
          </a:prstGeom>
          <a:noFill/>
          <a:ln/>
        </p:spPr>
        <p:txBody>
          <a:bodyPr wrap="square" lIns="0" tIns="0" rIns="0" bIns="0" rtlCol="0" anchor="t"/>
          <a:lstStyle/>
          <a:p>
            <a:pPr marL="228600" indent="-228600">
              <a:spcAft>
                <a:spcPts val="600"/>
              </a:spcAft>
              <a:buSzPct val="100000"/>
              <a:buChar char="▪"/>
            </a:pPr>
            <a:r>
              <a:rPr lang="en-US" sz="1800" dirty="0">
                <a:solidFill>
                  <a:srgbClr val="1A1F2B"/>
                </a:solidFill>
                <a:latin typeface="Calibri" pitchFamily="34" charset="0"/>
                <a:ea typeface="Calibri" pitchFamily="34" charset="-122"/>
                <a:cs typeface="Calibri" pitchFamily="34" charset="-120"/>
              </a:rPr>
              <a:t>Safety</a:t>
            </a:r>
            <a:endParaRPr lang="en-US" sz="1800" dirty="0"/>
          </a:p>
          <a:p>
            <a:pPr marL="228600" indent="-228600">
              <a:spcAft>
                <a:spcPts val="600"/>
              </a:spcAft>
              <a:buSzPct val="100000"/>
              <a:buChar char="▪"/>
            </a:pPr>
            <a:r>
              <a:rPr lang="en-US" sz="1800" dirty="0">
                <a:solidFill>
                  <a:srgbClr val="1A1F2B"/>
                </a:solidFill>
                <a:latin typeface="Calibri" pitchFamily="34" charset="0"/>
                <a:ea typeface="Calibri" pitchFamily="34" charset="-122"/>
                <a:cs typeface="Calibri" pitchFamily="34" charset="-120"/>
              </a:rPr>
              <a:t>Passenger satisfaction</a:t>
            </a:r>
            <a:endParaRPr lang="en-US" sz="1800" dirty="0"/>
          </a:p>
          <a:p>
            <a:pPr marL="228600" indent="-228600">
              <a:spcAft>
                <a:spcPts val="600"/>
              </a:spcAft>
              <a:buSzPct val="100000"/>
              <a:buChar char="▪"/>
            </a:pPr>
            <a:r>
              <a:rPr lang="en-US" sz="1800" dirty="0">
                <a:solidFill>
                  <a:srgbClr val="1A1F2B"/>
                </a:solidFill>
                <a:latin typeface="Calibri" pitchFamily="34" charset="0"/>
                <a:ea typeface="Calibri" pitchFamily="34" charset="-122"/>
                <a:cs typeface="Calibri" pitchFamily="34" charset="-120"/>
              </a:rPr>
              <a:t>Travel time</a:t>
            </a:r>
            <a:endParaRPr lang="en-US" sz="1800" dirty="0"/>
          </a:p>
          <a:p>
            <a:pPr marL="228600" indent="-228600">
              <a:spcAft>
                <a:spcPts val="600"/>
              </a:spcAft>
              <a:buSzPct val="100000"/>
              <a:buChar char="▪"/>
            </a:pPr>
            <a:r>
              <a:rPr lang="en-US" sz="1800" dirty="0">
                <a:solidFill>
                  <a:srgbClr val="1A1F2B"/>
                </a:solidFill>
                <a:latin typeface="Calibri" pitchFamily="34" charset="0"/>
                <a:ea typeface="Calibri" pitchFamily="34" charset="-122"/>
                <a:cs typeface="Calibri" pitchFamily="34" charset="-120"/>
              </a:rPr>
              <a:t>Fuel / energy efficiency</a:t>
            </a:r>
            <a:endParaRPr lang="en-US" sz="1800" dirty="0"/>
          </a:p>
          <a:p>
            <a:pPr marL="228600" indent="-228600">
              <a:spcAft>
                <a:spcPts val="600"/>
              </a:spcAft>
              <a:buSzPct val="100000"/>
              <a:buChar char="▪"/>
            </a:pPr>
            <a:r>
              <a:rPr lang="en-US" sz="1800" dirty="0">
                <a:solidFill>
                  <a:srgbClr val="1A1F2B"/>
                </a:solidFill>
                <a:latin typeface="Calibri" pitchFamily="34" charset="0"/>
                <a:ea typeface="Calibri" pitchFamily="34" charset="-122"/>
                <a:cs typeface="Calibri" pitchFamily="34" charset="-120"/>
              </a:rPr>
              <a:t>Legal compliance</a:t>
            </a:r>
            <a:endParaRPr lang="en-US" sz="1800" dirty="0"/>
          </a:p>
        </p:txBody>
      </p:sp>
      <p:sp>
        <p:nvSpPr>
          <p:cNvPr id="10" name="Shape 8"/>
          <p:cNvSpPr/>
          <p:nvPr/>
        </p:nvSpPr>
        <p:spPr>
          <a:xfrm>
            <a:off x="6255868" y="3520440"/>
            <a:ext cx="5432908" cy="2331720"/>
          </a:xfrm>
          <a:prstGeom prst="roundRect">
            <a:avLst>
              <a:gd name="adj" fmla="val 3137"/>
            </a:avLst>
          </a:prstGeom>
          <a:solidFill>
            <a:srgbClr val="F3F5F8"/>
          </a:solidFill>
          <a:ln w="12700">
            <a:solidFill>
              <a:srgbClr val="D8DCE3"/>
            </a:solidFill>
            <a:prstDash val="solid"/>
          </a:ln>
        </p:spPr>
      </p:sp>
      <p:sp>
        <p:nvSpPr>
          <p:cNvPr id="11" name="Text 9"/>
          <p:cNvSpPr/>
          <p:nvPr/>
        </p:nvSpPr>
        <p:spPr>
          <a:xfrm>
            <a:off x="6511900" y="3685032"/>
            <a:ext cx="4920844" cy="502920"/>
          </a:xfrm>
          <a:prstGeom prst="rect">
            <a:avLst/>
          </a:prstGeom>
          <a:noFill/>
          <a:ln/>
        </p:spPr>
        <p:txBody>
          <a:bodyPr wrap="square" rtlCol="0" anchor="ctr"/>
          <a:lstStyle/>
          <a:p>
            <a:pPr marL="0" indent="0">
              <a:buNone/>
            </a:pPr>
            <a:r>
              <a:rPr lang="en-US" sz="2100" b="1" dirty="0">
                <a:solidFill>
                  <a:srgbClr val="0B1E3D"/>
                </a:solidFill>
                <a:latin typeface="Cambria" pitchFamily="34" charset="0"/>
                <a:ea typeface="Cambria" pitchFamily="34" charset="-122"/>
                <a:cs typeface="Cambria" pitchFamily="34" charset="-120"/>
              </a:rPr>
              <a:t>Robot Vacuum</a:t>
            </a:r>
            <a:endParaRPr lang="en-US" sz="2100" dirty="0"/>
          </a:p>
        </p:txBody>
      </p:sp>
      <p:sp>
        <p:nvSpPr>
          <p:cNvPr id="12" name="Text 10"/>
          <p:cNvSpPr/>
          <p:nvPr/>
        </p:nvSpPr>
        <p:spPr>
          <a:xfrm>
            <a:off x="6511900" y="4160520"/>
            <a:ext cx="4920844" cy="1554480"/>
          </a:xfrm>
          <a:prstGeom prst="rect">
            <a:avLst/>
          </a:prstGeom>
          <a:noFill/>
          <a:ln/>
        </p:spPr>
        <p:txBody>
          <a:bodyPr wrap="square" lIns="0" tIns="0" rIns="0" bIns="0" rtlCol="0" anchor="t"/>
          <a:lstStyle/>
          <a:p>
            <a:pPr marL="228600" indent="-228600">
              <a:spcAft>
                <a:spcPts val="600"/>
              </a:spcAft>
              <a:buSzPct val="100000"/>
              <a:buChar char="▪"/>
            </a:pPr>
            <a:r>
              <a:rPr lang="en-US" sz="1800" dirty="0">
                <a:solidFill>
                  <a:srgbClr val="1A1F2B"/>
                </a:solidFill>
                <a:latin typeface="Calibri" pitchFamily="34" charset="0"/>
                <a:ea typeface="Calibri" pitchFamily="34" charset="-122"/>
                <a:cs typeface="Calibri" pitchFamily="34" charset="-120"/>
              </a:rPr>
              <a:t>Clean floor</a:t>
            </a:r>
            <a:endParaRPr lang="en-US" sz="1800" dirty="0"/>
          </a:p>
          <a:p>
            <a:pPr marL="228600" indent="-228600">
              <a:spcAft>
                <a:spcPts val="600"/>
              </a:spcAft>
              <a:buSzPct val="100000"/>
              <a:buChar char="▪"/>
            </a:pPr>
            <a:r>
              <a:rPr lang="en-US" sz="1800" dirty="0">
                <a:solidFill>
                  <a:srgbClr val="1A1F2B"/>
                </a:solidFill>
                <a:latin typeface="Calibri" pitchFamily="34" charset="0"/>
                <a:ea typeface="Calibri" pitchFamily="34" charset="-122"/>
                <a:cs typeface="Calibri" pitchFamily="34" charset="-120"/>
              </a:rPr>
              <a:t>Coverage</a:t>
            </a:r>
            <a:endParaRPr lang="en-US" sz="1800" dirty="0"/>
          </a:p>
          <a:p>
            <a:pPr marL="228600" indent="-228600">
              <a:spcAft>
                <a:spcPts val="600"/>
              </a:spcAft>
              <a:buSzPct val="100000"/>
              <a:buChar char="▪"/>
            </a:pPr>
            <a:r>
              <a:rPr lang="en-US" sz="1800" dirty="0">
                <a:solidFill>
                  <a:srgbClr val="1A1F2B"/>
                </a:solidFill>
                <a:latin typeface="Calibri" pitchFamily="34" charset="0"/>
                <a:ea typeface="Calibri" pitchFamily="34" charset="-122"/>
                <a:cs typeface="Calibri" pitchFamily="34" charset="-120"/>
              </a:rPr>
              <a:t>Time taken</a:t>
            </a:r>
            <a:endParaRPr lang="en-US" sz="1800" dirty="0"/>
          </a:p>
          <a:p>
            <a:pPr marL="228600" indent="-228600">
              <a:spcAft>
                <a:spcPts val="600"/>
              </a:spcAft>
              <a:buSzPct val="100000"/>
              <a:buChar char="▪"/>
            </a:pPr>
            <a:r>
              <a:rPr lang="en-US" sz="1800" dirty="0">
                <a:solidFill>
                  <a:srgbClr val="1A1F2B"/>
                </a:solidFill>
                <a:latin typeface="Calibri" pitchFamily="34" charset="0"/>
                <a:ea typeface="Calibri" pitchFamily="34" charset="-122"/>
                <a:cs typeface="Calibri" pitchFamily="34" charset="-120"/>
              </a:rPr>
              <a:t>Battery efficiency</a:t>
            </a:r>
            <a:endParaRPr lang="en-US" sz="1800" dirty="0"/>
          </a:p>
        </p:txBody>
      </p:sp>
      <p:sp>
        <p:nvSpPr>
          <p:cNvPr id="13" name="Text 11"/>
          <p:cNvSpPr/>
          <p:nvPr/>
        </p:nvSpPr>
        <p:spPr>
          <a:xfrm>
            <a:off x="502920" y="5943600"/>
            <a:ext cx="11185855" cy="365760"/>
          </a:xfrm>
          <a:prstGeom prst="rect">
            <a:avLst/>
          </a:prstGeom>
          <a:noFill/>
          <a:ln/>
        </p:spPr>
        <p:txBody>
          <a:bodyPr wrap="square" rtlCol="0" anchor="t"/>
          <a:lstStyle/>
          <a:p>
            <a:pPr marL="0" indent="0">
              <a:buNone/>
            </a:pPr>
            <a:r>
              <a:rPr lang="en-US" sz="1900" b="1" dirty="0">
                <a:solidFill>
                  <a:srgbClr val="0B1E3D"/>
                </a:solidFill>
                <a:latin typeface="Calibri" pitchFamily="34" charset="0"/>
                <a:ea typeface="Calibri" pitchFamily="34" charset="-122"/>
                <a:cs typeface="Calibri" pitchFamily="34" charset="-120"/>
              </a:rPr>
              <a:t>Key point:  </a:t>
            </a:r>
            <a:r>
              <a:rPr lang="en-US" sz="1900" dirty="0">
                <a:solidFill>
                  <a:srgbClr val="1A1F2B"/>
                </a:solidFill>
                <a:latin typeface="Calibri" pitchFamily="34" charset="0"/>
                <a:ea typeface="Calibri" pitchFamily="34" charset="-122"/>
                <a:cs typeface="Calibri" pitchFamily="34" charset="-120"/>
              </a:rPr>
              <a:t>the performance measure is what defines success for an agent.</a:t>
            </a:r>
            <a:endParaRPr lang="en-US" sz="1900" dirty="0"/>
          </a:p>
        </p:txBody>
      </p:sp>
      <p:sp>
        <p:nvSpPr>
          <p:cNvPr id="14" name="Text 12"/>
          <p:cNvSpPr/>
          <p:nvPr/>
        </p:nvSpPr>
        <p:spPr>
          <a:xfrm>
            <a:off x="502920" y="6446520"/>
            <a:ext cx="8229600" cy="320040"/>
          </a:xfrm>
          <a:prstGeom prst="rect">
            <a:avLst/>
          </a:prstGeom>
          <a:noFill/>
          <a:ln/>
        </p:spPr>
        <p:txBody>
          <a:bodyPr wrap="square" rtlCol="0" anchor="ctr"/>
          <a:lstStyle/>
          <a:p>
            <a:pPr marL="0" indent="0">
              <a:buNone/>
            </a:pPr>
            <a:r>
              <a:rPr lang="en-US" sz="1400" i="1" dirty="0">
                <a:solidFill>
                  <a:srgbClr val="5A6478"/>
                </a:solidFill>
                <a:latin typeface="Calibri" pitchFamily="34" charset="0"/>
                <a:ea typeface="Calibri" pitchFamily="34" charset="-122"/>
                <a:cs typeface="Calibri" pitchFamily="34" charset="-120"/>
              </a:rPr>
              <a:t>AI — Intelligent Agents  |  D. The PEAS Framework</a:t>
            </a:r>
            <a:endParaRPr lang="en-US" sz="1400" dirty="0"/>
          </a:p>
        </p:txBody>
      </p:sp>
      <p:sp>
        <p:nvSpPr>
          <p:cNvPr id="15" name="Text 13"/>
          <p:cNvSpPr/>
          <p:nvPr/>
        </p:nvSpPr>
        <p:spPr>
          <a:xfrm>
            <a:off x="10500055" y="6446520"/>
            <a:ext cx="1188720" cy="320040"/>
          </a:xfrm>
          <a:prstGeom prst="rect">
            <a:avLst/>
          </a:prstGeom>
          <a:noFill/>
          <a:ln/>
        </p:spPr>
        <p:txBody>
          <a:bodyPr wrap="square" rtlCol="0" anchor="ctr"/>
          <a:lstStyle/>
          <a:p>
            <a:pPr marL="0" indent="0" algn="r">
              <a:buNone/>
            </a:pPr>
            <a:r>
              <a:rPr lang="en-US" sz="1400" dirty="0">
                <a:solidFill>
                  <a:srgbClr val="5A6478"/>
                </a:solidFill>
                <a:latin typeface="Calibri" pitchFamily="34" charset="0"/>
                <a:ea typeface="Calibri" pitchFamily="34" charset="-122"/>
                <a:cs typeface="Calibri" pitchFamily="34" charset="-120"/>
              </a:rPr>
              <a:t>15 / 40</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85855" cy="347472"/>
          </a:xfrm>
          <a:prstGeom prst="rect">
            <a:avLst/>
          </a:prstGeom>
          <a:noFill/>
          <a:ln/>
        </p:spPr>
        <p:txBody>
          <a:bodyPr wrap="square" rtlCol="0" anchor="ctr"/>
          <a:lstStyle/>
          <a:p>
            <a:pPr marL="0" indent="0">
              <a:buNone/>
            </a:pPr>
            <a:r>
              <a:rPr lang="en-US" sz="1500" b="1" kern="0" spc="150" dirty="0">
                <a:solidFill>
                  <a:srgbClr val="B08D57"/>
                </a:solidFill>
                <a:latin typeface="Calibri" pitchFamily="34" charset="0"/>
                <a:ea typeface="Calibri" pitchFamily="34" charset="-122"/>
                <a:cs typeface="Calibri" pitchFamily="34" charset="-120"/>
              </a:rPr>
              <a:t>D. THE PEAS FRAMEWORK</a:t>
            </a:r>
            <a:endParaRPr lang="en-US" sz="1500" dirty="0"/>
          </a:p>
        </p:txBody>
      </p:sp>
      <p:sp>
        <p:nvSpPr>
          <p:cNvPr id="3" name="Text 1"/>
          <p:cNvSpPr txBox="1"/>
          <p:nvPr/>
        </p:nvSpPr>
        <p:spPr>
          <a:xfrm>
            <a:off x="502920" y="676656"/>
            <a:ext cx="11185855" cy="1417320"/>
          </a:xfrm>
          <a:prstGeom prst="rect">
            <a:avLst/>
          </a:prstGeom>
          <a:noFill/>
          <a:ln/>
        </p:spPr>
        <p:txBody>
          <a:bodyPr wrap="square" rtlCol="0" anchor="t"/>
          <a:lstStyle/>
          <a:p>
            <a:pPr marL="0" indent="0">
              <a:lnSpc>
                <a:spcPts val="3584"/>
              </a:lnSpc>
              <a:buNone/>
            </a:pPr>
            <a:r>
              <a:rPr lang="en-US" sz="3200" b="1" dirty="0">
                <a:solidFill>
                  <a:srgbClr val="0B1E3D"/>
                </a:solidFill>
                <a:latin typeface="Cambria" pitchFamily="34" charset="0"/>
                <a:ea typeface="Cambria" pitchFamily="34" charset="-122"/>
                <a:cs typeface="Cambria" pitchFamily="34" charset="-120"/>
              </a:rPr>
              <a:t>E — Environment</a:t>
            </a:r>
            <a:endParaRPr lang="en-US" sz="3200" dirty="0"/>
          </a:p>
        </p:txBody>
      </p:sp>
      <p:sp>
        <p:nvSpPr>
          <p:cNvPr id="4" name="Shape 2"/>
          <p:cNvSpPr/>
          <p:nvPr/>
        </p:nvSpPr>
        <p:spPr>
          <a:xfrm>
            <a:off x="502920" y="1828800"/>
            <a:ext cx="11185855" cy="1463040"/>
          </a:xfrm>
          <a:prstGeom prst="roundRect">
            <a:avLst>
              <a:gd name="adj" fmla="val 4375"/>
            </a:avLst>
          </a:prstGeom>
          <a:solidFill>
            <a:srgbClr val="0B1E3D"/>
          </a:solidFill>
          <a:ln/>
        </p:spPr>
      </p:sp>
      <p:sp>
        <p:nvSpPr>
          <p:cNvPr id="5" name="Text 3"/>
          <p:cNvSpPr/>
          <p:nvPr/>
        </p:nvSpPr>
        <p:spPr>
          <a:xfrm>
            <a:off x="777240" y="1965960"/>
            <a:ext cx="10637215" cy="411480"/>
          </a:xfrm>
          <a:prstGeom prst="rect">
            <a:avLst/>
          </a:prstGeom>
          <a:noFill/>
          <a:ln/>
        </p:spPr>
        <p:txBody>
          <a:bodyPr wrap="square" rtlCol="0" anchor="ctr"/>
          <a:lstStyle/>
          <a:p>
            <a:pPr marL="0" indent="0">
              <a:buNone/>
            </a:pPr>
            <a:r>
              <a:rPr lang="en-US" sz="1900" b="1" dirty="0">
                <a:solidFill>
                  <a:srgbClr val="B08D57"/>
                </a:solidFill>
                <a:latin typeface="Cambria" pitchFamily="34" charset="0"/>
                <a:ea typeface="Cambria" pitchFamily="34" charset="-122"/>
                <a:cs typeface="Cambria" pitchFamily="34" charset="-120"/>
              </a:rPr>
              <a:t>Definition</a:t>
            </a:r>
            <a:endParaRPr lang="en-US" sz="1900" dirty="0"/>
          </a:p>
        </p:txBody>
      </p:sp>
      <p:sp>
        <p:nvSpPr>
          <p:cNvPr id="6" name="Text 4"/>
          <p:cNvSpPr/>
          <p:nvPr/>
        </p:nvSpPr>
        <p:spPr>
          <a:xfrm>
            <a:off x="777240" y="2450592"/>
            <a:ext cx="10637215" cy="841248"/>
          </a:xfrm>
          <a:prstGeom prst="rect">
            <a:avLst/>
          </a:prstGeom>
          <a:noFill/>
          <a:ln/>
        </p:spPr>
        <p:txBody>
          <a:bodyPr wrap="square" rtlCol="0" anchor="t"/>
          <a:lstStyle/>
          <a:p>
            <a:pPr marL="0" indent="0">
              <a:lnSpc>
                <a:spcPts val="2645"/>
              </a:lnSpc>
              <a:buNone/>
            </a:pPr>
            <a:r>
              <a:rPr lang="en-US" sz="2300" dirty="0">
                <a:solidFill>
                  <a:srgbClr val="E7EBF3"/>
                </a:solidFill>
                <a:latin typeface="Calibri" pitchFamily="34" charset="0"/>
                <a:ea typeface="Calibri" pitchFamily="34" charset="-122"/>
                <a:cs typeface="Calibri" pitchFamily="34" charset="-120"/>
              </a:rPr>
              <a:t>The environment is everything external to the agent that it interacts with — what counts as “the environment” is entirely task-dependent.</a:t>
            </a:r>
            <a:endParaRPr lang="en-US" sz="2300" dirty="0"/>
          </a:p>
        </p:txBody>
      </p:sp>
      <p:sp>
        <p:nvSpPr>
          <p:cNvPr id="7" name="Shape 5"/>
          <p:cNvSpPr/>
          <p:nvPr/>
        </p:nvSpPr>
        <p:spPr>
          <a:xfrm>
            <a:off x="502920" y="3520440"/>
            <a:ext cx="5432908" cy="2331720"/>
          </a:xfrm>
          <a:prstGeom prst="roundRect">
            <a:avLst>
              <a:gd name="adj" fmla="val 3137"/>
            </a:avLst>
          </a:prstGeom>
          <a:solidFill>
            <a:srgbClr val="F3F5F8"/>
          </a:solidFill>
          <a:ln w="12700">
            <a:solidFill>
              <a:srgbClr val="D8DCE3"/>
            </a:solidFill>
            <a:prstDash val="solid"/>
          </a:ln>
        </p:spPr>
      </p:sp>
      <p:sp>
        <p:nvSpPr>
          <p:cNvPr id="8" name="Text 6"/>
          <p:cNvSpPr/>
          <p:nvPr/>
        </p:nvSpPr>
        <p:spPr>
          <a:xfrm>
            <a:off x="758952" y="3685032"/>
            <a:ext cx="4920844" cy="502920"/>
          </a:xfrm>
          <a:prstGeom prst="rect">
            <a:avLst/>
          </a:prstGeom>
          <a:noFill/>
          <a:ln/>
        </p:spPr>
        <p:txBody>
          <a:bodyPr wrap="square" rtlCol="0" anchor="ctr"/>
          <a:lstStyle/>
          <a:p>
            <a:pPr marL="0" indent="0">
              <a:buNone/>
            </a:pPr>
            <a:r>
              <a:rPr lang="en-US" sz="2100" b="1" dirty="0">
                <a:solidFill>
                  <a:srgbClr val="0B1E3D"/>
                </a:solidFill>
                <a:latin typeface="Cambria" pitchFamily="34" charset="0"/>
                <a:ea typeface="Cambria" pitchFamily="34" charset="-122"/>
                <a:cs typeface="Cambria" pitchFamily="34" charset="-120"/>
              </a:rPr>
              <a:t>Autonomous Car</a:t>
            </a:r>
            <a:endParaRPr lang="en-US" sz="2100" dirty="0"/>
          </a:p>
        </p:txBody>
      </p:sp>
      <p:sp>
        <p:nvSpPr>
          <p:cNvPr id="9" name="Text 7"/>
          <p:cNvSpPr/>
          <p:nvPr/>
        </p:nvSpPr>
        <p:spPr>
          <a:xfrm>
            <a:off x="758952" y="4160520"/>
            <a:ext cx="4920844" cy="1554480"/>
          </a:xfrm>
          <a:prstGeom prst="rect">
            <a:avLst/>
          </a:prstGeom>
          <a:noFill/>
          <a:ln/>
        </p:spPr>
        <p:txBody>
          <a:bodyPr wrap="square" lIns="0" tIns="0" rIns="0" bIns="0" rtlCol="0" anchor="t"/>
          <a:lstStyle/>
          <a:p>
            <a:pPr marL="228600" indent="-228600">
              <a:spcAft>
                <a:spcPts val="600"/>
              </a:spcAft>
              <a:buSzPct val="100000"/>
              <a:buChar char="▪"/>
            </a:pPr>
            <a:r>
              <a:rPr lang="en-US" sz="1800" dirty="0">
                <a:solidFill>
                  <a:srgbClr val="1A1F2B"/>
                </a:solidFill>
                <a:latin typeface="Calibri" pitchFamily="34" charset="0"/>
                <a:ea typeface="Calibri" pitchFamily="34" charset="-122"/>
                <a:cs typeface="Calibri" pitchFamily="34" charset="-120"/>
              </a:rPr>
              <a:t>Roads and lanes</a:t>
            </a:r>
            <a:endParaRPr lang="en-US" sz="1800" dirty="0"/>
          </a:p>
          <a:p>
            <a:pPr marL="228600" indent="-228600">
              <a:spcAft>
                <a:spcPts val="600"/>
              </a:spcAft>
              <a:buSzPct val="100000"/>
              <a:buChar char="▪"/>
            </a:pPr>
            <a:r>
              <a:rPr lang="en-US" sz="1800" dirty="0">
                <a:solidFill>
                  <a:srgbClr val="1A1F2B"/>
                </a:solidFill>
                <a:latin typeface="Calibri" pitchFamily="34" charset="0"/>
                <a:ea typeface="Calibri" pitchFamily="34" charset="-122"/>
                <a:cs typeface="Calibri" pitchFamily="34" charset="-120"/>
              </a:rPr>
              <a:t>Other vehicles</a:t>
            </a:r>
            <a:endParaRPr lang="en-US" sz="1800" dirty="0"/>
          </a:p>
          <a:p>
            <a:pPr marL="228600" indent="-228600">
              <a:spcAft>
                <a:spcPts val="600"/>
              </a:spcAft>
              <a:buSzPct val="100000"/>
              <a:buChar char="▪"/>
            </a:pPr>
            <a:r>
              <a:rPr lang="en-US" sz="1800" dirty="0">
                <a:solidFill>
                  <a:srgbClr val="1A1F2B"/>
                </a:solidFill>
                <a:latin typeface="Calibri" pitchFamily="34" charset="0"/>
                <a:ea typeface="Calibri" pitchFamily="34" charset="-122"/>
                <a:cs typeface="Calibri" pitchFamily="34" charset="-120"/>
              </a:rPr>
              <a:t>Pedestrians</a:t>
            </a:r>
            <a:endParaRPr lang="en-US" sz="1800" dirty="0"/>
          </a:p>
          <a:p>
            <a:pPr marL="228600" indent="-228600">
              <a:spcAft>
                <a:spcPts val="600"/>
              </a:spcAft>
              <a:buSzPct val="100000"/>
              <a:buChar char="▪"/>
            </a:pPr>
            <a:r>
              <a:rPr lang="en-US" sz="1800" dirty="0">
                <a:solidFill>
                  <a:srgbClr val="1A1F2B"/>
                </a:solidFill>
                <a:latin typeface="Calibri" pitchFamily="34" charset="0"/>
                <a:ea typeface="Calibri" pitchFamily="34" charset="-122"/>
                <a:cs typeface="Calibri" pitchFamily="34" charset="-120"/>
              </a:rPr>
              <a:t>Traffic lights &amp; signs</a:t>
            </a:r>
            <a:endParaRPr lang="en-US" sz="1800" dirty="0"/>
          </a:p>
          <a:p>
            <a:pPr marL="228600" indent="-228600">
              <a:spcAft>
                <a:spcPts val="600"/>
              </a:spcAft>
              <a:buSzPct val="100000"/>
              <a:buChar char="▪"/>
            </a:pPr>
            <a:r>
              <a:rPr lang="en-US" sz="1800" dirty="0">
                <a:solidFill>
                  <a:srgbClr val="1A1F2B"/>
                </a:solidFill>
                <a:latin typeface="Calibri" pitchFamily="34" charset="0"/>
                <a:ea typeface="Calibri" pitchFamily="34" charset="-122"/>
                <a:cs typeface="Calibri" pitchFamily="34" charset="-120"/>
              </a:rPr>
              <a:t>Weather conditions</a:t>
            </a:r>
            <a:endParaRPr lang="en-US" sz="1800" dirty="0"/>
          </a:p>
        </p:txBody>
      </p:sp>
      <p:sp>
        <p:nvSpPr>
          <p:cNvPr id="10" name="Shape 8"/>
          <p:cNvSpPr/>
          <p:nvPr/>
        </p:nvSpPr>
        <p:spPr>
          <a:xfrm>
            <a:off x="6255868" y="3520440"/>
            <a:ext cx="5432908" cy="2331720"/>
          </a:xfrm>
          <a:prstGeom prst="roundRect">
            <a:avLst>
              <a:gd name="adj" fmla="val 3137"/>
            </a:avLst>
          </a:prstGeom>
          <a:solidFill>
            <a:srgbClr val="F3F5F8"/>
          </a:solidFill>
          <a:ln w="12700">
            <a:solidFill>
              <a:srgbClr val="D8DCE3"/>
            </a:solidFill>
            <a:prstDash val="solid"/>
          </a:ln>
        </p:spPr>
      </p:sp>
      <p:sp>
        <p:nvSpPr>
          <p:cNvPr id="11" name="Text 9"/>
          <p:cNvSpPr/>
          <p:nvPr/>
        </p:nvSpPr>
        <p:spPr>
          <a:xfrm>
            <a:off x="6511900" y="3685032"/>
            <a:ext cx="4920844" cy="502920"/>
          </a:xfrm>
          <a:prstGeom prst="rect">
            <a:avLst/>
          </a:prstGeom>
          <a:noFill/>
          <a:ln/>
        </p:spPr>
        <p:txBody>
          <a:bodyPr wrap="square" rtlCol="0" anchor="ctr"/>
          <a:lstStyle/>
          <a:p>
            <a:pPr marL="0" indent="0">
              <a:buNone/>
            </a:pPr>
            <a:r>
              <a:rPr lang="en-US" sz="2100" b="1" dirty="0">
                <a:solidFill>
                  <a:srgbClr val="0B1E3D"/>
                </a:solidFill>
                <a:latin typeface="Cambria" pitchFamily="34" charset="0"/>
                <a:ea typeface="Cambria" pitchFamily="34" charset="-122"/>
                <a:cs typeface="Cambria" pitchFamily="34" charset="-120"/>
              </a:rPr>
              <a:t>Chess-Playing Agent</a:t>
            </a:r>
            <a:endParaRPr lang="en-US" sz="2100" dirty="0"/>
          </a:p>
        </p:txBody>
      </p:sp>
      <p:sp>
        <p:nvSpPr>
          <p:cNvPr id="12" name="Text 10"/>
          <p:cNvSpPr/>
          <p:nvPr/>
        </p:nvSpPr>
        <p:spPr>
          <a:xfrm>
            <a:off x="6511900" y="4160520"/>
            <a:ext cx="4920844" cy="1554480"/>
          </a:xfrm>
          <a:prstGeom prst="rect">
            <a:avLst/>
          </a:prstGeom>
          <a:noFill/>
          <a:ln/>
        </p:spPr>
        <p:txBody>
          <a:bodyPr wrap="square" lIns="0" tIns="0" rIns="0" bIns="0" rtlCol="0" anchor="t"/>
          <a:lstStyle/>
          <a:p>
            <a:pPr marL="228600" indent="-228600">
              <a:spcAft>
                <a:spcPts val="600"/>
              </a:spcAft>
              <a:buSzPct val="100000"/>
              <a:buChar char="▪"/>
            </a:pPr>
            <a:r>
              <a:rPr lang="en-US" sz="1800" dirty="0">
                <a:solidFill>
                  <a:srgbClr val="1A1F2B"/>
                </a:solidFill>
                <a:latin typeface="Calibri" pitchFamily="34" charset="0"/>
                <a:ea typeface="Calibri" pitchFamily="34" charset="-122"/>
                <a:cs typeface="Calibri" pitchFamily="34" charset="-120"/>
              </a:rPr>
              <a:t>The chessboard</a:t>
            </a:r>
            <a:endParaRPr lang="en-US" sz="1800" dirty="0"/>
          </a:p>
          <a:p>
            <a:pPr marL="228600" indent="-228600">
              <a:spcAft>
                <a:spcPts val="600"/>
              </a:spcAft>
              <a:buSzPct val="100000"/>
              <a:buChar char="▪"/>
            </a:pPr>
            <a:r>
              <a:rPr lang="en-US" sz="1800" dirty="0">
                <a:solidFill>
                  <a:srgbClr val="1A1F2B"/>
                </a:solidFill>
                <a:latin typeface="Calibri" pitchFamily="34" charset="0"/>
                <a:ea typeface="Calibri" pitchFamily="34" charset="-122"/>
                <a:cs typeface="Calibri" pitchFamily="34" charset="-120"/>
              </a:rPr>
              <a:t>The pieces</a:t>
            </a:r>
            <a:endParaRPr lang="en-US" sz="1800" dirty="0"/>
          </a:p>
          <a:p>
            <a:pPr marL="228600" indent="-228600">
              <a:spcAft>
                <a:spcPts val="600"/>
              </a:spcAft>
              <a:buSzPct val="100000"/>
              <a:buChar char="▪"/>
            </a:pPr>
            <a:r>
              <a:rPr lang="en-US" sz="1800" dirty="0">
                <a:solidFill>
                  <a:srgbClr val="1A1F2B"/>
                </a:solidFill>
                <a:latin typeface="Calibri" pitchFamily="34" charset="0"/>
                <a:ea typeface="Calibri" pitchFamily="34" charset="-122"/>
                <a:cs typeface="Calibri" pitchFamily="34" charset="-120"/>
              </a:rPr>
              <a:t>The opponent</a:t>
            </a:r>
            <a:endParaRPr lang="en-US" sz="1800" dirty="0"/>
          </a:p>
          <a:p>
            <a:pPr marL="228600" indent="-228600">
              <a:spcAft>
                <a:spcPts val="600"/>
              </a:spcAft>
              <a:buSzPct val="100000"/>
              <a:buChar char="▪"/>
            </a:pPr>
            <a:r>
              <a:rPr lang="en-US" sz="1800" dirty="0">
                <a:solidFill>
                  <a:srgbClr val="1A1F2B"/>
                </a:solidFill>
                <a:latin typeface="Calibri" pitchFamily="34" charset="0"/>
                <a:ea typeface="Calibri" pitchFamily="34" charset="-122"/>
                <a:cs typeface="Calibri" pitchFamily="34" charset="-120"/>
              </a:rPr>
              <a:t>The rules of chess</a:t>
            </a:r>
            <a:endParaRPr lang="en-US" sz="1800" dirty="0"/>
          </a:p>
        </p:txBody>
      </p:sp>
      <p:sp>
        <p:nvSpPr>
          <p:cNvPr id="13" name="Text 11"/>
          <p:cNvSpPr/>
          <p:nvPr/>
        </p:nvSpPr>
        <p:spPr>
          <a:xfrm>
            <a:off x="502920" y="5943600"/>
            <a:ext cx="11185855" cy="365760"/>
          </a:xfrm>
          <a:prstGeom prst="rect">
            <a:avLst/>
          </a:prstGeom>
          <a:noFill/>
          <a:ln/>
        </p:spPr>
        <p:txBody>
          <a:bodyPr wrap="square" rtlCol="0" anchor="t"/>
          <a:lstStyle/>
          <a:p>
            <a:pPr marL="0" indent="0">
              <a:buNone/>
            </a:pPr>
            <a:r>
              <a:rPr lang="en-US" sz="1900" b="1" dirty="0">
                <a:solidFill>
                  <a:srgbClr val="0B1E3D"/>
                </a:solidFill>
                <a:latin typeface="Calibri" pitchFamily="34" charset="0"/>
                <a:ea typeface="Calibri" pitchFamily="34" charset="-122"/>
                <a:cs typeface="Calibri" pitchFamily="34" charset="-120"/>
              </a:rPr>
              <a:t>Key point:  </a:t>
            </a:r>
            <a:r>
              <a:rPr lang="en-US" sz="1900" dirty="0">
                <a:solidFill>
                  <a:srgbClr val="1A1F2B"/>
                </a:solidFill>
                <a:latin typeface="Calibri" pitchFamily="34" charset="0"/>
                <a:ea typeface="Calibri" pitchFamily="34" charset="-122"/>
                <a:cs typeface="Calibri" pitchFamily="34" charset="-120"/>
              </a:rPr>
              <a:t>what counts as “the environment” is entirely task-dependent.</a:t>
            </a:r>
            <a:endParaRPr lang="en-US" sz="1900" dirty="0"/>
          </a:p>
        </p:txBody>
      </p:sp>
      <p:sp>
        <p:nvSpPr>
          <p:cNvPr id="14" name="Text 12"/>
          <p:cNvSpPr/>
          <p:nvPr/>
        </p:nvSpPr>
        <p:spPr>
          <a:xfrm>
            <a:off x="502920" y="6446520"/>
            <a:ext cx="8229600" cy="320040"/>
          </a:xfrm>
          <a:prstGeom prst="rect">
            <a:avLst/>
          </a:prstGeom>
          <a:noFill/>
          <a:ln/>
        </p:spPr>
        <p:txBody>
          <a:bodyPr wrap="square" rtlCol="0" anchor="ctr"/>
          <a:lstStyle/>
          <a:p>
            <a:pPr marL="0" indent="0">
              <a:buNone/>
            </a:pPr>
            <a:r>
              <a:rPr lang="en-US" sz="1400" i="1" dirty="0">
                <a:solidFill>
                  <a:srgbClr val="5A6478"/>
                </a:solidFill>
                <a:latin typeface="Calibri" pitchFamily="34" charset="0"/>
                <a:ea typeface="Calibri" pitchFamily="34" charset="-122"/>
                <a:cs typeface="Calibri" pitchFamily="34" charset="-120"/>
              </a:rPr>
              <a:t>AI — Intelligent Agents  |  D. The PEAS Framework</a:t>
            </a:r>
            <a:endParaRPr lang="en-US" sz="1400" dirty="0"/>
          </a:p>
        </p:txBody>
      </p:sp>
      <p:sp>
        <p:nvSpPr>
          <p:cNvPr id="15" name="Text 13"/>
          <p:cNvSpPr/>
          <p:nvPr/>
        </p:nvSpPr>
        <p:spPr>
          <a:xfrm>
            <a:off x="10500055" y="6446520"/>
            <a:ext cx="1188720" cy="320040"/>
          </a:xfrm>
          <a:prstGeom prst="rect">
            <a:avLst/>
          </a:prstGeom>
          <a:noFill/>
          <a:ln/>
        </p:spPr>
        <p:txBody>
          <a:bodyPr wrap="square" rtlCol="0" anchor="ctr"/>
          <a:lstStyle/>
          <a:p>
            <a:pPr marL="0" indent="0" algn="r">
              <a:buNone/>
            </a:pPr>
            <a:r>
              <a:rPr lang="en-US" sz="1400" dirty="0">
                <a:solidFill>
                  <a:srgbClr val="5A6478"/>
                </a:solidFill>
                <a:latin typeface="Calibri" pitchFamily="34" charset="0"/>
                <a:ea typeface="Calibri" pitchFamily="34" charset="-122"/>
                <a:cs typeface="Calibri" pitchFamily="34" charset="-120"/>
              </a:rPr>
              <a:t>16 / 40</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85855" cy="347472"/>
          </a:xfrm>
          <a:prstGeom prst="rect">
            <a:avLst/>
          </a:prstGeom>
          <a:noFill/>
          <a:ln/>
        </p:spPr>
        <p:txBody>
          <a:bodyPr wrap="square" rtlCol="0" anchor="ctr"/>
          <a:lstStyle/>
          <a:p>
            <a:pPr marL="0" indent="0">
              <a:buNone/>
            </a:pPr>
            <a:r>
              <a:rPr lang="en-US" sz="1500" b="1" kern="0" spc="150" dirty="0">
                <a:solidFill>
                  <a:srgbClr val="B08D57"/>
                </a:solidFill>
                <a:latin typeface="Calibri" pitchFamily="34" charset="0"/>
                <a:ea typeface="Calibri" pitchFamily="34" charset="-122"/>
                <a:cs typeface="Calibri" pitchFamily="34" charset="-120"/>
              </a:rPr>
              <a:t>D. THE PEAS FRAMEWORK</a:t>
            </a:r>
            <a:endParaRPr lang="en-US" sz="1500" dirty="0"/>
          </a:p>
        </p:txBody>
      </p:sp>
      <p:sp>
        <p:nvSpPr>
          <p:cNvPr id="3" name="Text 1"/>
          <p:cNvSpPr txBox="1"/>
          <p:nvPr/>
        </p:nvSpPr>
        <p:spPr>
          <a:xfrm>
            <a:off x="502920" y="676656"/>
            <a:ext cx="11185855" cy="1417320"/>
          </a:xfrm>
          <a:prstGeom prst="rect">
            <a:avLst/>
          </a:prstGeom>
          <a:noFill/>
          <a:ln/>
        </p:spPr>
        <p:txBody>
          <a:bodyPr wrap="square" rtlCol="0" anchor="t"/>
          <a:lstStyle/>
          <a:p>
            <a:pPr marL="0" indent="0">
              <a:lnSpc>
                <a:spcPts val="3584"/>
              </a:lnSpc>
              <a:buNone/>
            </a:pPr>
            <a:r>
              <a:rPr lang="en-US" sz="3200" b="1" dirty="0">
                <a:solidFill>
                  <a:srgbClr val="0B1E3D"/>
                </a:solidFill>
                <a:latin typeface="Cambria" pitchFamily="34" charset="0"/>
                <a:ea typeface="Cambria" pitchFamily="34" charset="-122"/>
                <a:cs typeface="Cambria" pitchFamily="34" charset="-120"/>
              </a:rPr>
              <a:t>A — Actuators</a:t>
            </a:r>
            <a:endParaRPr lang="en-US" sz="3200" dirty="0"/>
          </a:p>
        </p:txBody>
      </p:sp>
      <p:sp>
        <p:nvSpPr>
          <p:cNvPr id="4" name="Shape 2"/>
          <p:cNvSpPr/>
          <p:nvPr/>
        </p:nvSpPr>
        <p:spPr>
          <a:xfrm>
            <a:off x="502920" y="1828800"/>
            <a:ext cx="11185855" cy="1463040"/>
          </a:xfrm>
          <a:prstGeom prst="roundRect">
            <a:avLst>
              <a:gd name="adj" fmla="val 4375"/>
            </a:avLst>
          </a:prstGeom>
          <a:solidFill>
            <a:srgbClr val="0B1E3D"/>
          </a:solidFill>
          <a:ln/>
        </p:spPr>
      </p:sp>
      <p:sp>
        <p:nvSpPr>
          <p:cNvPr id="5" name="Text 3"/>
          <p:cNvSpPr/>
          <p:nvPr/>
        </p:nvSpPr>
        <p:spPr>
          <a:xfrm>
            <a:off x="777240" y="1965960"/>
            <a:ext cx="10637215" cy="411480"/>
          </a:xfrm>
          <a:prstGeom prst="rect">
            <a:avLst/>
          </a:prstGeom>
          <a:noFill/>
          <a:ln/>
        </p:spPr>
        <p:txBody>
          <a:bodyPr wrap="square" rtlCol="0" anchor="ctr"/>
          <a:lstStyle/>
          <a:p>
            <a:pPr marL="0" indent="0">
              <a:buNone/>
            </a:pPr>
            <a:r>
              <a:rPr lang="en-US" sz="1900" b="1" dirty="0">
                <a:solidFill>
                  <a:srgbClr val="B08D57"/>
                </a:solidFill>
                <a:latin typeface="Cambria" pitchFamily="34" charset="0"/>
                <a:ea typeface="Cambria" pitchFamily="34" charset="-122"/>
                <a:cs typeface="Cambria" pitchFamily="34" charset="-120"/>
              </a:rPr>
              <a:t>Definition</a:t>
            </a:r>
            <a:endParaRPr lang="en-US" sz="1900" dirty="0"/>
          </a:p>
        </p:txBody>
      </p:sp>
      <p:sp>
        <p:nvSpPr>
          <p:cNvPr id="6" name="Text 4"/>
          <p:cNvSpPr/>
          <p:nvPr/>
        </p:nvSpPr>
        <p:spPr>
          <a:xfrm>
            <a:off x="777240" y="2450592"/>
            <a:ext cx="10637215" cy="841248"/>
          </a:xfrm>
          <a:prstGeom prst="rect">
            <a:avLst/>
          </a:prstGeom>
          <a:noFill/>
          <a:ln/>
        </p:spPr>
        <p:txBody>
          <a:bodyPr wrap="square" rtlCol="0" anchor="t"/>
          <a:lstStyle/>
          <a:p>
            <a:pPr marL="0" indent="0">
              <a:lnSpc>
                <a:spcPts val="2645"/>
              </a:lnSpc>
              <a:buNone/>
            </a:pPr>
            <a:r>
              <a:rPr lang="en-US" sz="2300" dirty="0">
                <a:solidFill>
                  <a:srgbClr val="E7EBF3"/>
                </a:solidFill>
                <a:latin typeface="Calibri" pitchFamily="34" charset="0"/>
                <a:ea typeface="Calibri" pitchFamily="34" charset="-122"/>
                <a:cs typeface="Calibri" pitchFamily="34" charset="-120"/>
              </a:rPr>
              <a:t>Actuators are the mechanisms through which an agent acts upon, and produces changes in, its environment.</a:t>
            </a:r>
            <a:endParaRPr lang="en-US" sz="2300" dirty="0"/>
          </a:p>
        </p:txBody>
      </p:sp>
      <p:sp>
        <p:nvSpPr>
          <p:cNvPr id="7" name="Shape 5"/>
          <p:cNvSpPr/>
          <p:nvPr/>
        </p:nvSpPr>
        <p:spPr>
          <a:xfrm>
            <a:off x="502920" y="3520440"/>
            <a:ext cx="3545738" cy="2697480"/>
          </a:xfrm>
          <a:prstGeom prst="roundRect">
            <a:avLst>
              <a:gd name="adj" fmla="val 2373"/>
            </a:avLst>
          </a:prstGeom>
          <a:solidFill>
            <a:srgbClr val="F3F5F8"/>
          </a:solidFill>
          <a:ln w="12700">
            <a:solidFill>
              <a:srgbClr val="D8DCE3"/>
            </a:solidFill>
            <a:prstDash val="solid"/>
          </a:ln>
        </p:spPr>
      </p:sp>
      <p:sp>
        <p:nvSpPr>
          <p:cNvPr id="8" name="Text 6"/>
          <p:cNvSpPr/>
          <p:nvPr/>
        </p:nvSpPr>
        <p:spPr>
          <a:xfrm>
            <a:off x="777240" y="3657600"/>
            <a:ext cx="2997098" cy="411480"/>
          </a:xfrm>
          <a:prstGeom prst="rect">
            <a:avLst/>
          </a:prstGeom>
          <a:noFill/>
          <a:ln/>
        </p:spPr>
        <p:txBody>
          <a:bodyPr wrap="square" rtlCol="0" anchor="ctr"/>
          <a:lstStyle/>
          <a:p>
            <a:pPr marL="0" indent="0">
              <a:buNone/>
            </a:pPr>
            <a:r>
              <a:rPr lang="en-US" sz="1700" b="1" dirty="0">
                <a:solidFill>
                  <a:srgbClr val="0B1E3D"/>
                </a:solidFill>
                <a:latin typeface="Cambria" pitchFamily="34" charset="0"/>
                <a:ea typeface="Cambria" pitchFamily="34" charset="-122"/>
                <a:cs typeface="Cambria" pitchFamily="34" charset="-120"/>
              </a:rPr>
              <a:t>General-Purpose Robot</a:t>
            </a:r>
            <a:endParaRPr lang="en-US" sz="1700" dirty="0"/>
          </a:p>
        </p:txBody>
      </p:sp>
      <p:sp>
        <p:nvSpPr>
          <p:cNvPr id="9" name="Text 7"/>
          <p:cNvSpPr/>
          <p:nvPr/>
        </p:nvSpPr>
        <p:spPr>
          <a:xfrm>
            <a:off x="731520" y="4142232"/>
            <a:ext cx="3088538" cy="1938528"/>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rgbClr val="1A1F2B"/>
                </a:solidFill>
                <a:latin typeface="Calibri" pitchFamily="34" charset="0"/>
                <a:ea typeface="Calibri" pitchFamily="34" charset="-122"/>
                <a:cs typeface="Calibri" pitchFamily="34" charset="-120"/>
              </a:rPr>
              <a:t>Wheels or legs</a:t>
            </a:r>
            <a:endParaRPr lang="en-US" sz="1700" dirty="0"/>
          </a:p>
          <a:p>
            <a:pPr marL="228600" indent="-228600">
              <a:spcAft>
                <a:spcPts val="800"/>
              </a:spcAft>
              <a:buSzPct val="100000"/>
              <a:buChar char="▪"/>
            </a:pPr>
            <a:r>
              <a:rPr lang="en-US" sz="1700" dirty="0">
                <a:solidFill>
                  <a:srgbClr val="1A1F2B"/>
                </a:solidFill>
                <a:latin typeface="Calibri" pitchFamily="34" charset="0"/>
                <a:ea typeface="Calibri" pitchFamily="34" charset="-122"/>
                <a:cs typeface="Calibri" pitchFamily="34" charset="-120"/>
              </a:rPr>
              <a:t>Robotic arms</a:t>
            </a:r>
            <a:endParaRPr lang="en-US" sz="1700" dirty="0"/>
          </a:p>
          <a:p>
            <a:pPr marL="228600" indent="-228600">
              <a:spcAft>
                <a:spcPts val="800"/>
              </a:spcAft>
              <a:buSzPct val="100000"/>
              <a:buChar char="▪"/>
            </a:pPr>
            <a:r>
              <a:rPr lang="en-US" sz="1700" dirty="0">
                <a:solidFill>
                  <a:srgbClr val="1A1F2B"/>
                </a:solidFill>
                <a:latin typeface="Calibri" pitchFamily="34" charset="0"/>
                <a:ea typeface="Calibri" pitchFamily="34" charset="-122"/>
                <a:cs typeface="Calibri" pitchFamily="34" charset="-120"/>
              </a:rPr>
              <a:t>Grippers</a:t>
            </a:r>
            <a:endParaRPr lang="en-US" sz="1700" dirty="0"/>
          </a:p>
        </p:txBody>
      </p:sp>
      <p:sp>
        <p:nvSpPr>
          <p:cNvPr id="10" name="Shape 8"/>
          <p:cNvSpPr/>
          <p:nvPr/>
        </p:nvSpPr>
        <p:spPr>
          <a:xfrm>
            <a:off x="4322978" y="3520440"/>
            <a:ext cx="3545738" cy="2697480"/>
          </a:xfrm>
          <a:prstGeom prst="roundRect">
            <a:avLst>
              <a:gd name="adj" fmla="val 2373"/>
            </a:avLst>
          </a:prstGeom>
          <a:solidFill>
            <a:srgbClr val="0B1E3D"/>
          </a:solidFill>
          <a:ln/>
        </p:spPr>
      </p:sp>
      <p:sp>
        <p:nvSpPr>
          <p:cNvPr id="11" name="Text 9"/>
          <p:cNvSpPr/>
          <p:nvPr/>
        </p:nvSpPr>
        <p:spPr>
          <a:xfrm>
            <a:off x="4597298" y="3657600"/>
            <a:ext cx="2997098" cy="411480"/>
          </a:xfrm>
          <a:prstGeom prst="rect">
            <a:avLst/>
          </a:prstGeom>
          <a:noFill/>
          <a:ln/>
        </p:spPr>
        <p:txBody>
          <a:bodyPr wrap="square" rtlCol="0" anchor="ctr"/>
          <a:lstStyle/>
          <a:p>
            <a:pPr marL="0" indent="0">
              <a:buNone/>
            </a:pPr>
            <a:r>
              <a:rPr lang="en-US" sz="1700" b="1" dirty="0">
                <a:solidFill>
                  <a:srgbClr val="B08D57"/>
                </a:solidFill>
                <a:latin typeface="Cambria" pitchFamily="34" charset="0"/>
                <a:ea typeface="Cambria" pitchFamily="34" charset="-122"/>
                <a:cs typeface="Cambria" pitchFamily="34" charset="-120"/>
              </a:rPr>
              <a:t>Autonomous Car</a:t>
            </a:r>
            <a:endParaRPr lang="en-US" sz="1700" dirty="0"/>
          </a:p>
        </p:txBody>
      </p:sp>
      <p:sp>
        <p:nvSpPr>
          <p:cNvPr id="12" name="Text 10"/>
          <p:cNvSpPr/>
          <p:nvPr/>
        </p:nvSpPr>
        <p:spPr>
          <a:xfrm>
            <a:off x="4551578" y="4142232"/>
            <a:ext cx="3088538" cy="1938528"/>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rgbClr val="E7EBF3"/>
                </a:solidFill>
                <a:latin typeface="Calibri" pitchFamily="34" charset="0"/>
                <a:ea typeface="Calibri" pitchFamily="34" charset="-122"/>
                <a:cs typeface="Calibri" pitchFamily="34" charset="-120"/>
              </a:rPr>
              <a:t>Steering</a:t>
            </a:r>
            <a:endParaRPr lang="en-US" sz="1700" dirty="0"/>
          </a:p>
          <a:p>
            <a:pPr marL="228600" indent="-228600">
              <a:spcAft>
                <a:spcPts val="800"/>
              </a:spcAft>
              <a:buSzPct val="100000"/>
              <a:buChar char="▪"/>
            </a:pPr>
            <a:r>
              <a:rPr lang="en-US" sz="1700" dirty="0">
                <a:solidFill>
                  <a:srgbClr val="E7EBF3"/>
                </a:solidFill>
                <a:latin typeface="Calibri" pitchFamily="34" charset="0"/>
                <a:ea typeface="Calibri" pitchFamily="34" charset="-122"/>
                <a:cs typeface="Calibri" pitchFamily="34" charset="-120"/>
              </a:rPr>
              <a:t>Brakes</a:t>
            </a:r>
            <a:endParaRPr lang="en-US" sz="1700" dirty="0"/>
          </a:p>
          <a:p>
            <a:pPr marL="228600" indent="-228600">
              <a:spcAft>
                <a:spcPts val="800"/>
              </a:spcAft>
              <a:buSzPct val="100000"/>
              <a:buChar char="▪"/>
            </a:pPr>
            <a:r>
              <a:rPr lang="en-US" sz="1700" dirty="0">
                <a:solidFill>
                  <a:srgbClr val="E7EBF3"/>
                </a:solidFill>
                <a:latin typeface="Calibri" pitchFamily="34" charset="0"/>
                <a:ea typeface="Calibri" pitchFamily="34" charset="-122"/>
                <a:cs typeface="Calibri" pitchFamily="34" charset="-120"/>
              </a:rPr>
              <a:t>Accelerator</a:t>
            </a:r>
            <a:endParaRPr lang="en-US" sz="1700" dirty="0"/>
          </a:p>
        </p:txBody>
      </p:sp>
      <p:sp>
        <p:nvSpPr>
          <p:cNvPr id="13" name="Shape 11"/>
          <p:cNvSpPr/>
          <p:nvPr/>
        </p:nvSpPr>
        <p:spPr>
          <a:xfrm>
            <a:off x="8143037" y="3520440"/>
            <a:ext cx="3545738" cy="2697480"/>
          </a:xfrm>
          <a:prstGeom prst="roundRect">
            <a:avLst>
              <a:gd name="adj" fmla="val 2373"/>
            </a:avLst>
          </a:prstGeom>
          <a:solidFill>
            <a:srgbClr val="F3F5F8"/>
          </a:solidFill>
          <a:ln w="12700">
            <a:solidFill>
              <a:srgbClr val="D8DCE3"/>
            </a:solidFill>
            <a:prstDash val="solid"/>
          </a:ln>
        </p:spPr>
      </p:sp>
      <p:sp>
        <p:nvSpPr>
          <p:cNvPr id="14" name="Text 12"/>
          <p:cNvSpPr/>
          <p:nvPr/>
        </p:nvSpPr>
        <p:spPr>
          <a:xfrm>
            <a:off x="8417357" y="3657600"/>
            <a:ext cx="2997098" cy="411480"/>
          </a:xfrm>
          <a:prstGeom prst="rect">
            <a:avLst/>
          </a:prstGeom>
          <a:noFill/>
          <a:ln/>
        </p:spPr>
        <p:txBody>
          <a:bodyPr wrap="square" rtlCol="0" anchor="ctr"/>
          <a:lstStyle/>
          <a:p>
            <a:pPr marL="0" indent="0">
              <a:buNone/>
            </a:pPr>
            <a:r>
              <a:rPr lang="en-US" sz="1700" b="1" dirty="0">
                <a:solidFill>
                  <a:srgbClr val="0B1E3D"/>
                </a:solidFill>
                <a:latin typeface="Cambria" pitchFamily="34" charset="0"/>
                <a:ea typeface="Cambria" pitchFamily="34" charset="-122"/>
                <a:cs typeface="Cambria" pitchFamily="34" charset="-120"/>
              </a:rPr>
              <a:t>Virtual Assistant</a:t>
            </a:r>
            <a:endParaRPr lang="en-US" sz="1700" dirty="0"/>
          </a:p>
        </p:txBody>
      </p:sp>
      <p:sp>
        <p:nvSpPr>
          <p:cNvPr id="15" name="Text 13"/>
          <p:cNvSpPr/>
          <p:nvPr/>
        </p:nvSpPr>
        <p:spPr>
          <a:xfrm>
            <a:off x="8371637" y="4142232"/>
            <a:ext cx="3088538" cy="1938528"/>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rgbClr val="1A1F2B"/>
                </a:solidFill>
                <a:latin typeface="Calibri" pitchFamily="34" charset="0"/>
                <a:ea typeface="Calibri" pitchFamily="34" charset="-122"/>
                <a:cs typeface="Calibri" pitchFamily="34" charset="-120"/>
              </a:rPr>
              <a:t>Speech output</a:t>
            </a:r>
            <a:endParaRPr lang="en-US" sz="1700" dirty="0"/>
          </a:p>
          <a:p>
            <a:pPr marL="228600" indent="-228600">
              <a:spcAft>
                <a:spcPts val="800"/>
              </a:spcAft>
              <a:buSzPct val="100000"/>
              <a:buChar char="▪"/>
            </a:pPr>
            <a:r>
              <a:rPr lang="en-US" sz="1700" dirty="0">
                <a:solidFill>
                  <a:srgbClr val="1A1F2B"/>
                </a:solidFill>
                <a:latin typeface="Calibri" pitchFamily="34" charset="0"/>
                <a:ea typeface="Calibri" pitchFamily="34" charset="-122"/>
                <a:cs typeface="Calibri" pitchFamily="34" charset="-120"/>
              </a:rPr>
              <a:t>Screen display</a:t>
            </a:r>
            <a:endParaRPr lang="en-US" sz="1700" dirty="0"/>
          </a:p>
          <a:p>
            <a:pPr marL="228600" indent="-228600">
              <a:spcAft>
                <a:spcPts val="800"/>
              </a:spcAft>
              <a:buSzPct val="100000"/>
              <a:buChar char="▪"/>
            </a:pPr>
            <a:r>
              <a:rPr lang="en-US" sz="1700" dirty="0">
                <a:solidFill>
                  <a:srgbClr val="1A1F2B"/>
                </a:solidFill>
                <a:latin typeface="Calibri" pitchFamily="34" charset="0"/>
                <a:ea typeface="Calibri" pitchFamily="34" charset="-122"/>
                <a:cs typeface="Calibri" pitchFamily="34" charset="-120"/>
              </a:rPr>
              <a:t>Notifications</a:t>
            </a:r>
            <a:endParaRPr lang="en-US" sz="1700" dirty="0"/>
          </a:p>
        </p:txBody>
      </p:sp>
      <p:sp>
        <p:nvSpPr>
          <p:cNvPr id="16" name="Text 14"/>
          <p:cNvSpPr/>
          <p:nvPr/>
        </p:nvSpPr>
        <p:spPr>
          <a:xfrm>
            <a:off x="502920" y="6446520"/>
            <a:ext cx="8229600" cy="320040"/>
          </a:xfrm>
          <a:prstGeom prst="rect">
            <a:avLst/>
          </a:prstGeom>
          <a:noFill/>
          <a:ln/>
        </p:spPr>
        <p:txBody>
          <a:bodyPr wrap="square" rtlCol="0" anchor="ctr"/>
          <a:lstStyle/>
          <a:p>
            <a:pPr marL="0" indent="0">
              <a:buNone/>
            </a:pPr>
            <a:r>
              <a:rPr lang="en-US" sz="1400" i="1" dirty="0">
                <a:solidFill>
                  <a:srgbClr val="5A6478"/>
                </a:solidFill>
                <a:latin typeface="Calibri" pitchFamily="34" charset="0"/>
                <a:ea typeface="Calibri" pitchFamily="34" charset="-122"/>
                <a:cs typeface="Calibri" pitchFamily="34" charset="-120"/>
              </a:rPr>
              <a:t>AI — Intelligent Agents  |  D. The PEAS Framework</a:t>
            </a:r>
            <a:endParaRPr lang="en-US" sz="1400" dirty="0"/>
          </a:p>
        </p:txBody>
      </p:sp>
      <p:sp>
        <p:nvSpPr>
          <p:cNvPr id="17" name="Text 15"/>
          <p:cNvSpPr/>
          <p:nvPr/>
        </p:nvSpPr>
        <p:spPr>
          <a:xfrm>
            <a:off x="10500055" y="6446520"/>
            <a:ext cx="1188720" cy="320040"/>
          </a:xfrm>
          <a:prstGeom prst="rect">
            <a:avLst/>
          </a:prstGeom>
          <a:noFill/>
          <a:ln/>
        </p:spPr>
        <p:txBody>
          <a:bodyPr wrap="square" rtlCol="0" anchor="ctr"/>
          <a:lstStyle/>
          <a:p>
            <a:pPr marL="0" indent="0" algn="r">
              <a:buNone/>
            </a:pPr>
            <a:r>
              <a:rPr lang="en-US" sz="1400" dirty="0">
                <a:solidFill>
                  <a:srgbClr val="5A6478"/>
                </a:solidFill>
                <a:latin typeface="Calibri" pitchFamily="34" charset="0"/>
                <a:ea typeface="Calibri" pitchFamily="34" charset="-122"/>
                <a:cs typeface="Calibri" pitchFamily="34" charset="-120"/>
              </a:rPr>
              <a:t>17 / 40</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85855" cy="347472"/>
          </a:xfrm>
          <a:prstGeom prst="rect">
            <a:avLst/>
          </a:prstGeom>
          <a:noFill/>
          <a:ln/>
        </p:spPr>
        <p:txBody>
          <a:bodyPr wrap="square" rtlCol="0" anchor="ctr"/>
          <a:lstStyle/>
          <a:p>
            <a:pPr marL="0" indent="0">
              <a:buNone/>
            </a:pPr>
            <a:r>
              <a:rPr lang="en-US" sz="1500" b="1" kern="0" spc="150" dirty="0">
                <a:solidFill>
                  <a:srgbClr val="B08D57"/>
                </a:solidFill>
                <a:latin typeface="Calibri" pitchFamily="34" charset="0"/>
                <a:ea typeface="Calibri" pitchFamily="34" charset="-122"/>
                <a:cs typeface="Calibri" pitchFamily="34" charset="-120"/>
              </a:rPr>
              <a:t>D. THE PEAS FRAMEWORK</a:t>
            </a:r>
            <a:endParaRPr lang="en-US" sz="1500" dirty="0"/>
          </a:p>
        </p:txBody>
      </p:sp>
      <p:sp>
        <p:nvSpPr>
          <p:cNvPr id="3" name="Text 1"/>
          <p:cNvSpPr txBox="1"/>
          <p:nvPr/>
        </p:nvSpPr>
        <p:spPr>
          <a:xfrm>
            <a:off x="502920" y="676656"/>
            <a:ext cx="11185855" cy="1417320"/>
          </a:xfrm>
          <a:prstGeom prst="rect">
            <a:avLst/>
          </a:prstGeom>
          <a:noFill/>
          <a:ln/>
        </p:spPr>
        <p:txBody>
          <a:bodyPr wrap="square" rtlCol="0" anchor="t"/>
          <a:lstStyle/>
          <a:p>
            <a:pPr marL="0" indent="0">
              <a:lnSpc>
                <a:spcPts val="3584"/>
              </a:lnSpc>
              <a:buNone/>
            </a:pPr>
            <a:r>
              <a:rPr lang="en-US" sz="3200" b="1" dirty="0">
                <a:solidFill>
                  <a:srgbClr val="0B1E3D"/>
                </a:solidFill>
                <a:latin typeface="Cambria" pitchFamily="34" charset="0"/>
                <a:ea typeface="Cambria" pitchFamily="34" charset="-122"/>
                <a:cs typeface="Cambria" pitchFamily="34" charset="-120"/>
              </a:rPr>
              <a:t>S — Sensors</a:t>
            </a:r>
            <a:endParaRPr lang="en-US" sz="3200" dirty="0"/>
          </a:p>
        </p:txBody>
      </p:sp>
      <p:sp>
        <p:nvSpPr>
          <p:cNvPr id="4" name="Shape 2"/>
          <p:cNvSpPr/>
          <p:nvPr/>
        </p:nvSpPr>
        <p:spPr>
          <a:xfrm>
            <a:off x="502920" y="1828800"/>
            <a:ext cx="11185855" cy="1463040"/>
          </a:xfrm>
          <a:prstGeom prst="roundRect">
            <a:avLst>
              <a:gd name="adj" fmla="val 4375"/>
            </a:avLst>
          </a:prstGeom>
          <a:solidFill>
            <a:srgbClr val="0B1E3D"/>
          </a:solidFill>
          <a:ln/>
        </p:spPr>
      </p:sp>
      <p:sp>
        <p:nvSpPr>
          <p:cNvPr id="5" name="Text 3"/>
          <p:cNvSpPr/>
          <p:nvPr/>
        </p:nvSpPr>
        <p:spPr>
          <a:xfrm>
            <a:off x="777240" y="1965960"/>
            <a:ext cx="10637215" cy="411480"/>
          </a:xfrm>
          <a:prstGeom prst="rect">
            <a:avLst/>
          </a:prstGeom>
          <a:noFill/>
          <a:ln/>
        </p:spPr>
        <p:txBody>
          <a:bodyPr wrap="square" rtlCol="0" anchor="ctr"/>
          <a:lstStyle/>
          <a:p>
            <a:pPr marL="0" indent="0">
              <a:buNone/>
            </a:pPr>
            <a:r>
              <a:rPr lang="en-US" sz="1900" b="1" dirty="0">
                <a:solidFill>
                  <a:srgbClr val="B08D57"/>
                </a:solidFill>
                <a:latin typeface="Cambria" pitchFamily="34" charset="0"/>
                <a:ea typeface="Cambria" pitchFamily="34" charset="-122"/>
                <a:cs typeface="Cambria" pitchFamily="34" charset="-120"/>
              </a:rPr>
              <a:t>Definition</a:t>
            </a:r>
            <a:endParaRPr lang="en-US" sz="1900" dirty="0"/>
          </a:p>
        </p:txBody>
      </p:sp>
      <p:sp>
        <p:nvSpPr>
          <p:cNvPr id="6" name="Text 4"/>
          <p:cNvSpPr/>
          <p:nvPr/>
        </p:nvSpPr>
        <p:spPr>
          <a:xfrm>
            <a:off x="777240" y="2450592"/>
            <a:ext cx="10637215" cy="841248"/>
          </a:xfrm>
          <a:prstGeom prst="rect">
            <a:avLst/>
          </a:prstGeom>
          <a:noFill/>
          <a:ln/>
        </p:spPr>
        <p:txBody>
          <a:bodyPr wrap="square" rtlCol="0" anchor="t"/>
          <a:lstStyle/>
          <a:p>
            <a:pPr marL="0" indent="0">
              <a:lnSpc>
                <a:spcPts val="2645"/>
              </a:lnSpc>
              <a:buNone/>
            </a:pPr>
            <a:r>
              <a:rPr lang="en-US" sz="2300" dirty="0">
                <a:solidFill>
                  <a:srgbClr val="E7EBF3"/>
                </a:solidFill>
                <a:latin typeface="Calibri" pitchFamily="34" charset="0"/>
                <a:ea typeface="Calibri" pitchFamily="34" charset="-122"/>
                <a:cs typeface="Calibri" pitchFamily="34" charset="-120"/>
              </a:rPr>
              <a:t>Sensors are the mechanisms through which an agent perceives its environment and receives percepts.</a:t>
            </a:r>
            <a:endParaRPr lang="en-US" sz="2300" dirty="0"/>
          </a:p>
        </p:txBody>
      </p:sp>
      <p:sp>
        <p:nvSpPr>
          <p:cNvPr id="7" name="Shape 5"/>
          <p:cNvSpPr/>
          <p:nvPr/>
        </p:nvSpPr>
        <p:spPr>
          <a:xfrm>
            <a:off x="502920" y="3520440"/>
            <a:ext cx="3545738" cy="2697480"/>
          </a:xfrm>
          <a:prstGeom prst="roundRect">
            <a:avLst>
              <a:gd name="adj" fmla="val 2373"/>
            </a:avLst>
          </a:prstGeom>
          <a:solidFill>
            <a:srgbClr val="0B1E3D"/>
          </a:solidFill>
          <a:ln/>
        </p:spPr>
      </p:sp>
      <p:sp>
        <p:nvSpPr>
          <p:cNvPr id="8" name="Text 6"/>
          <p:cNvSpPr/>
          <p:nvPr/>
        </p:nvSpPr>
        <p:spPr>
          <a:xfrm>
            <a:off x="777240" y="3657600"/>
            <a:ext cx="2997098" cy="411480"/>
          </a:xfrm>
          <a:prstGeom prst="rect">
            <a:avLst/>
          </a:prstGeom>
          <a:noFill/>
          <a:ln/>
        </p:spPr>
        <p:txBody>
          <a:bodyPr wrap="square" rtlCol="0" anchor="ctr"/>
          <a:lstStyle/>
          <a:p>
            <a:pPr marL="0" indent="0">
              <a:buNone/>
            </a:pPr>
            <a:r>
              <a:rPr lang="en-US" sz="1700" b="1" dirty="0">
                <a:solidFill>
                  <a:srgbClr val="B08D57"/>
                </a:solidFill>
                <a:latin typeface="Cambria" pitchFamily="34" charset="0"/>
                <a:ea typeface="Cambria" pitchFamily="34" charset="-122"/>
                <a:cs typeface="Cambria" pitchFamily="34" charset="-120"/>
              </a:rPr>
              <a:t>Autonomous Car</a:t>
            </a:r>
            <a:endParaRPr lang="en-US" sz="1700" dirty="0"/>
          </a:p>
        </p:txBody>
      </p:sp>
      <p:sp>
        <p:nvSpPr>
          <p:cNvPr id="9" name="Text 7"/>
          <p:cNvSpPr/>
          <p:nvPr/>
        </p:nvSpPr>
        <p:spPr>
          <a:xfrm>
            <a:off x="731520" y="4142232"/>
            <a:ext cx="3088538" cy="1938528"/>
          </a:xfrm>
          <a:prstGeom prst="rect">
            <a:avLst/>
          </a:prstGeom>
          <a:noFill/>
          <a:ln/>
        </p:spPr>
        <p:txBody>
          <a:bodyPr wrap="square" lIns="0" tIns="0" rIns="0" bIns="0" rtlCol="0" anchor="t"/>
          <a:lstStyle/>
          <a:p>
            <a:pPr marL="228600" indent="-228600">
              <a:spcAft>
                <a:spcPts val="600"/>
              </a:spcAft>
              <a:buSzPct val="100000"/>
              <a:buChar char="▪"/>
            </a:pPr>
            <a:r>
              <a:rPr lang="en-US" sz="1650" dirty="0">
                <a:solidFill>
                  <a:srgbClr val="E7EBF3"/>
                </a:solidFill>
                <a:latin typeface="Calibri" pitchFamily="34" charset="0"/>
                <a:ea typeface="Calibri" pitchFamily="34" charset="-122"/>
                <a:cs typeface="Calibri" pitchFamily="34" charset="-120"/>
              </a:rPr>
              <a:t>Cameras</a:t>
            </a:r>
            <a:endParaRPr lang="en-US" sz="1650" dirty="0"/>
          </a:p>
          <a:p>
            <a:pPr marL="228600" indent="-228600">
              <a:spcAft>
                <a:spcPts val="600"/>
              </a:spcAft>
              <a:buSzPct val="100000"/>
              <a:buChar char="▪"/>
            </a:pPr>
            <a:r>
              <a:rPr lang="en-US" sz="1650" dirty="0">
                <a:solidFill>
                  <a:srgbClr val="E7EBF3"/>
                </a:solidFill>
                <a:latin typeface="Calibri" pitchFamily="34" charset="0"/>
                <a:ea typeface="Calibri" pitchFamily="34" charset="-122"/>
                <a:cs typeface="Calibri" pitchFamily="34" charset="-120"/>
              </a:rPr>
              <a:t>Radar</a:t>
            </a:r>
            <a:endParaRPr lang="en-US" sz="1650" dirty="0"/>
          </a:p>
          <a:p>
            <a:pPr marL="228600" indent="-228600">
              <a:spcAft>
                <a:spcPts val="600"/>
              </a:spcAft>
              <a:buSzPct val="100000"/>
              <a:buChar char="▪"/>
            </a:pPr>
            <a:r>
              <a:rPr lang="en-US" sz="1650" dirty="0">
                <a:solidFill>
                  <a:srgbClr val="E7EBF3"/>
                </a:solidFill>
                <a:latin typeface="Calibri" pitchFamily="34" charset="0"/>
                <a:ea typeface="Calibri" pitchFamily="34" charset="-122"/>
                <a:cs typeface="Calibri" pitchFamily="34" charset="-120"/>
              </a:rPr>
              <a:t>LiDAR</a:t>
            </a:r>
            <a:endParaRPr lang="en-US" sz="1650" dirty="0"/>
          </a:p>
          <a:p>
            <a:pPr marL="228600" indent="-228600">
              <a:spcAft>
                <a:spcPts val="600"/>
              </a:spcAft>
              <a:buSzPct val="100000"/>
              <a:buChar char="▪"/>
            </a:pPr>
            <a:r>
              <a:rPr lang="en-US" sz="1650" dirty="0">
                <a:solidFill>
                  <a:srgbClr val="E7EBF3"/>
                </a:solidFill>
                <a:latin typeface="Calibri" pitchFamily="34" charset="0"/>
                <a:ea typeface="Calibri" pitchFamily="34" charset="-122"/>
                <a:cs typeface="Calibri" pitchFamily="34" charset="-120"/>
              </a:rPr>
              <a:t>GPS</a:t>
            </a:r>
            <a:endParaRPr lang="en-US" sz="1650" dirty="0"/>
          </a:p>
        </p:txBody>
      </p:sp>
      <p:sp>
        <p:nvSpPr>
          <p:cNvPr id="10" name="Shape 8"/>
          <p:cNvSpPr/>
          <p:nvPr/>
        </p:nvSpPr>
        <p:spPr>
          <a:xfrm>
            <a:off x="4322978" y="3520440"/>
            <a:ext cx="3545738" cy="2697480"/>
          </a:xfrm>
          <a:prstGeom prst="roundRect">
            <a:avLst>
              <a:gd name="adj" fmla="val 2373"/>
            </a:avLst>
          </a:prstGeom>
          <a:solidFill>
            <a:srgbClr val="F3F5F8"/>
          </a:solidFill>
          <a:ln w="12700">
            <a:solidFill>
              <a:srgbClr val="D8DCE3"/>
            </a:solidFill>
            <a:prstDash val="solid"/>
          </a:ln>
        </p:spPr>
      </p:sp>
      <p:sp>
        <p:nvSpPr>
          <p:cNvPr id="11" name="Text 9"/>
          <p:cNvSpPr/>
          <p:nvPr/>
        </p:nvSpPr>
        <p:spPr>
          <a:xfrm>
            <a:off x="4597298" y="3657600"/>
            <a:ext cx="2997098" cy="411480"/>
          </a:xfrm>
          <a:prstGeom prst="rect">
            <a:avLst/>
          </a:prstGeom>
          <a:noFill/>
          <a:ln/>
        </p:spPr>
        <p:txBody>
          <a:bodyPr wrap="square" rtlCol="0" anchor="ctr"/>
          <a:lstStyle/>
          <a:p>
            <a:pPr marL="0" indent="0">
              <a:buNone/>
            </a:pPr>
            <a:r>
              <a:rPr lang="en-US" sz="1700" b="1" dirty="0">
                <a:solidFill>
                  <a:srgbClr val="0B1E3D"/>
                </a:solidFill>
                <a:latin typeface="Cambria" pitchFamily="34" charset="0"/>
                <a:ea typeface="Cambria" pitchFamily="34" charset="-122"/>
                <a:cs typeface="Cambria" pitchFamily="34" charset="-120"/>
              </a:rPr>
              <a:t>Robot Vacuum</a:t>
            </a:r>
            <a:endParaRPr lang="en-US" sz="1700" dirty="0"/>
          </a:p>
        </p:txBody>
      </p:sp>
      <p:sp>
        <p:nvSpPr>
          <p:cNvPr id="12" name="Text 10"/>
          <p:cNvSpPr/>
          <p:nvPr/>
        </p:nvSpPr>
        <p:spPr>
          <a:xfrm>
            <a:off x="4551578" y="4142232"/>
            <a:ext cx="3088538" cy="1938528"/>
          </a:xfrm>
          <a:prstGeom prst="rect">
            <a:avLst/>
          </a:prstGeom>
          <a:noFill/>
          <a:ln/>
        </p:spPr>
        <p:txBody>
          <a:bodyPr wrap="square" lIns="0" tIns="0" rIns="0" bIns="0" rtlCol="0" anchor="t"/>
          <a:lstStyle/>
          <a:p>
            <a:pPr marL="228600" indent="-228600">
              <a:spcAft>
                <a:spcPts val="600"/>
              </a:spcAft>
              <a:buSzPct val="100000"/>
              <a:buChar char="▪"/>
            </a:pPr>
            <a:r>
              <a:rPr lang="en-US" sz="1650" dirty="0">
                <a:solidFill>
                  <a:srgbClr val="1A1F2B"/>
                </a:solidFill>
                <a:latin typeface="Calibri" pitchFamily="34" charset="0"/>
                <a:ea typeface="Calibri" pitchFamily="34" charset="-122"/>
                <a:cs typeface="Calibri" pitchFamily="34" charset="-120"/>
              </a:rPr>
              <a:t>Bump sensors</a:t>
            </a:r>
            <a:endParaRPr lang="en-US" sz="1650" dirty="0"/>
          </a:p>
          <a:p>
            <a:pPr marL="228600" indent="-228600">
              <a:spcAft>
                <a:spcPts val="600"/>
              </a:spcAft>
              <a:buSzPct val="100000"/>
              <a:buChar char="▪"/>
            </a:pPr>
            <a:r>
              <a:rPr lang="en-US" sz="1650" dirty="0">
                <a:solidFill>
                  <a:srgbClr val="1A1F2B"/>
                </a:solidFill>
                <a:latin typeface="Calibri" pitchFamily="34" charset="0"/>
                <a:ea typeface="Calibri" pitchFamily="34" charset="-122"/>
                <a:cs typeface="Calibri" pitchFamily="34" charset="-120"/>
              </a:rPr>
              <a:t>Distance sensors</a:t>
            </a:r>
            <a:endParaRPr lang="en-US" sz="1650" dirty="0"/>
          </a:p>
          <a:p>
            <a:pPr marL="228600" indent="-228600">
              <a:spcAft>
                <a:spcPts val="600"/>
              </a:spcAft>
              <a:buSzPct val="100000"/>
              <a:buChar char="▪"/>
            </a:pPr>
            <a:r>
              <a:rPr lang="en-US" sz="1650" dirty="0">
                <a:solidFill>
                  <a:srgbClr val="1A1F2B"/>
                </a:solidFill>
                <a:latin typeface="Calibri" pitchFamily="34" charset="0"/>
                <a:ea typeface="Calibri" pitchFamily="34" charset="-122"/>
                <a:cs typeface="Calibri" pitchFamily="34" charset="-120"/>
              </a:rPr>
              <a:t>Cameras</a:t>
            </a:r>
            <a:endParaRPr lang="en-US" sz="1650" dirty="0"/>
          </a:p>
        </p:txBody>
      </p:sp>
      <p:sp>
        <p:nvSpPr>
          <p:cNvPr id="13" name="Shape 11"/>
          <p:cNvSpPr/>
          <p:nvPr/>
        </p:nvSpPr>
        <p:spPr>
          <a:xfrm>
            <a:off x="8143037" y="3520440"/>
            <a:ext cx="3545738" cy="2697480"/>
          </a:xfrm>
          <a:prstGeom prst="roundRect">
            <a:avLst>
              <a:gd name="adj" fmla="val 2373"/>
            </a:avLst>
          </a:prstGeom>
          <a:solidFill>
            <a:srgbClr val="0B1E3D"/>
          </a:solidFill>
          <a:ln/>
        </p:spPr>
      </p:sp>
      <p:sp>
        <p:nvSpPr>
          <p:cNvPr id="14" name="Text 12"/>
          <p:cNvSpPr/>
          <p:nvPr/>
        </p:nvSpPr>
        <p:spPr>
          <a:xfrm>
            <a:off x="8417357" y="3657600"/>
            <a:ext cx="2997098" cy="411480"/>
          </a:xfrm>
          <a:prstGeom prst="rect">
            <a:avLst/>
          </a:prstGeom>
          <a:noFill/>
          <a:ln/>
        </p:spPr>
        <p:txBody>
          <a:bodyPr wrap="square" rtlCol="0" anchor="ctr"/>
          <a:lstStyle/>
          <a:p>
            <a:pPr marL="0" indent="0">
              <a:buNone/>
            </a:pPr>
            <a:r>
              <a:rPr lang="en-US" sz="1700" b="1" dirty="0">
                <a:solidFill>
                  <a:srgbClr val="B08D57"/>
                </a:solidFill>
                <a:latin typeface="Cambria" pitchFamily="34" charset="0"/>
                <a:ea typeface="Cambria" pitchFamily="34" charset="-122"/>
                <a:cs typeface="Cambria" pitchFamily="34" charset="-120"/>
              </a:rPr>
              <a:t>Virtual Assistant</a:t>
            </a:r>
            <a:endParaRPr lang="en-US" sz="1700" dirty="0"/>
          </a:p>
        </p:txBody>
      </p:sp>
      <p:sp>
        <p:nvSpPr>
          <p:cNvPr id="15" name="Text 13"/>
          <p:cNvSpPr/>
          <p:nvPr/>
        </p:nvSpPr>
        <p:spPr>
          <a:xfrm>
            <a:off x="8371637" y="4142232"/>
            <a:ext cx="3088538" cy="1938528"/>
          </a:xfrm>
          <a:prstGeom prst="rect">
            <a:avLst/>
          </a:prstGeom>
          <a:noFill/>
          <a:ln/>
        </p:spPr>
        <p:txBody>
          <a:bodyPr wrap="square" lIns="0" tIns="0" rIns="0" bIns="0" rtlCol="0" anchor="t"/>
          <a:lstStyle/>
          <a:p>
            <a:pPr marL="228600" indent="-228600">
              <a:spcAft>
                <a:spcPts val="600"/>
              </a:spcAft>
              <a:buSzPct val="100000"/>
              <a:buChar char="▪"/>
            </a:pPr>
            <a:r>
              <a:rPr lang="en-US" sz="1650" dirty="0">
                <a:solidFill>
                  <a:srgbClr val="E7EBF3"/>
                </a:solidFill>
                <a:latin typeface="Calibri" pitchFamily="34" charset="0"/>
                <a:ea typeface="Calibri" pitchFamily="34" charset="-122"/>
                <a:cs typeface="Calibri" pitchFamily="34" charset="-120"/>
              </a:rPr>
              <a:t>Microphone</a:t>
            </a:r>
            <a:endParaRPr lang="en-US" sz="1650" dirty="0"/>
          </a:p>
          <a:p>
            <a:pPr marL="228600" indent="-228600">
              <a:spcAft>
                <a:spcPts val="600"/>
              </a:spcAft>
              <a:buSzPct val="100000"/>
              <a:buChar char="▪"/>
            </a:pPr>
            <a:r>
              <a:rPr lang="en-US" sz="1650" dirty="0">
                <a:solidFill>
                  <a:srgbClr val="E7EBF3"/>
                </a:solidFill>
                <a:latin typeface="Calibri" pitchFamily="34" charset="0"/>
                <a:ea typeface="Calibri" pitchFamily="34" charset="-122"/>
                <a:cs typeface="Calibri" pitchFamily="34" charset="-120"/>
              </a:rPr>
              <a:t>Text input</a:t>
            </a:r>
            <a:endParaRPr lang="en-US" sz="1650" dirty="0"/>
          </a:p>
          <a:p>
            <a:pPr marL="228600" indent="-228600">
              <a:spcAft>
                <a:spcPts val="600"/>
              </a:spcAft>
              <a:buSzPct val="100000"/>
              <a:buChar char="▪"/>
            </a:pPr>
            <a:r>
              <a:rPr lang="en-US" sz="1650" dirty="0">
                <a:solidFill>
                  <a:srgbClr val="E7EBF3"/>
                </a:solidFill>
                <a:latin typeface="Calibri" pitchFamily="34" charset="0"/>
                <a:ea typeface="Calibri" pitchFamily="34" charset="-122"/>
                <a:cs typeface="Calibri" pitchFamily="34" charset="-120"/>
              </a:rPr>
              <a:t>Camera (where available)</a:t>
            </a:r>
            <a:endParaRPr lang="en-US" sz="1650" dirty="0"/>
          </a:p>
        </p:txBody>
      </p:sp>
      <p:sp>
        <p:nvSpPr>
          <p:cNvPr id="16" name="Text 14"/>
          <p:cNvSpPr/>
          <p:nvPr/>
        </p:nvSpPr>
        <p:spPr>
          <a:xfrm>
            <a:off x="502920" y="6446520"/>
            <a:ext cx="8229600" cy="320040"/>
          </a:xfrm>
          <a:prstGeom prst="rect">
            <a:avLst/>
          </a:prstGeom>
          <a:noFill/>
          <a:ln/>
        </p:spPr>
        <p:txBody>
          <a:bodyPr wrap="square" rtlCol="0" anchor="ctr"/>
          <a:lstStyle/>
          <a:p>
            <a:pPr marL="0" indent="0">
              <a:buNone/>
            </a:pPr>
            <a:r>
              <a:rPr lang="en-US" sz="1400" i="1" dirty="0">
                <a:solidFill>
                  <a:srgbClr val="5A6478"/>
                </a:solidFill>
                <a:latin typeface="Calibri" pitchFamily="34" charset="0"/>
                <a:ea typeface="Calibri" pitchFamily="34" charset="-122"/>
                <a:cs typeface="Calibri" pitchFamily="34" charset="-120"/>
              </a:rPr>
              <a:t>AI — Intelligent Agents  |  D. The PEAS Framework</a:t>
            </a:r>
            <a:endParaRPr lang="en-US" sz="1400" dirty="0"/>
          </a:p>
        </p:txBody>
      </p:sp>
      <p:sp>
        <p:nvSpPr>
          <p:cNvPr id="17" name="Text 15"/>
          <p:cNvSpPr/>
          <p:nvPr/>
        </p:nvSpPr>
        <p:spPr>
          <a:xfrm>
            <a:off x="10500055" y="6446520"/>
            <a:ext cx="1188720" cy="320040"/>
          </a:xfrm>
          <a:prstGeom prst="rect">
            <a:avLst/>
          </a:prstGeom>
          <a:noFill/>
          <a:ln/>
        </p:spPr>
        <p:txBody>
          <a:bodyPr wrap="square" rtlCol="0" anchor="ctr"/>
          <a:lstStyle/>
          <a:p>
            <a:pPr marL="0" indent="0" algn="r">
              <a:buNone/>
            </a:pPr>
            <a:r>
              <a:rPr lang="en-US" sz="1400" dirty="0">
                <a:solidFill>
                  <a:srgbClr val="5A6478"/>
                </a:solidFill>
                <a:latin typeface="Calibri" pitchFamily="34" charset="0"/>
                <a:ea typeface="Calibri" pitchFamily="34" charset="-122"/>
                <a:cs typeface="Calibri" pitchFamily="34" charset="-120"/>
              </a:rPr>
              <a:t>18 / 40</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85855" cy="347472"/>
          </a:xfrm>
          <a:prstGeom prst="rect">
            <a:avLst/>
          </a:prstGeom>
          <a:noFill/>
          <a:ln/>
        </p:spPr>
        <p:txBody>
          <a:bodyPr wrap="square" rtlCol="0" anchor="ctr"/>
          <a:lstStyle/>
          <a:p>
            <a:pPr marL="0" indent="0">
              <a:buNone/>
            </a:pPr>
            <a:r>
              <a:rPr lang="en-US" sz="1500" b="1" kern="0" spc="150" dirty="0">
                <a:solidFill>
                  <a:srgbClr val="B08D57"/>
                </a:solidFill>
                <a:latin typeface="Calibri" pitchFamily="34" charset="0"/>
                <a:ea typeface="Calibri" pitchFamily="34" charset="-122"/>
                <a:cs typeface="Calibri" pitchFamily="34" charset="-120"/>
              </a:rPr>
              <a:t>D. THE PEAS FRAMEWORK</a:t>
            </a:r>
            <a:endParaRPr lang="en-US" sz="1500" dirty="0"/>
          </a:p>
        </p:txBody>
      </p:sp>
      <p:sp>
        <p:nvSpPr>
          <p:cNvPr id="3" name="Text 1"/>
          <p:cNvSpPr txBox="1"/>
          <p:nvPr/>
        </p:nvSpPr>
        <p:spPr>
          <a:xfrm>
            <a:off x="502920" y="676656"/>
            <a:ext cx="11185855" cy="1417320"/>
          </a:xfrm>
          <a:prstGeom prst="rect">
            <a:avLst/>
          </a:prstGeom>
          <a:noFill/>
          <a:ln/>
        </p:spPr>
        <p:txBody>
          <a:bodyPr wrap="square" rtlCol="0" anchor="t"/>
          <a:lstStyle/>
          <a:p>
            <a:pPr marL="0" indent="0">
              <a:lnSpc>
                <a:spcPts val="3136"/>
              </a:lnSpc>
              <a:buNone/>
            </a:pPr>
            <a:r>
              <a:rPr lang="en-US" sz="2800" b="1" dirty="0">
                <a:solidFill>
                  <a:srgbClr val="0B1E3D"/>
                </a:solidFill>
                <a:latin typeface="Cambria" pitchFamily="34" charset="0"/>
                <a:ea typeface="Cambria" pitchFamily="34" charset="-122"/>
                <a:cs typeface="Cambria" pitchFamily="34" charset="-120"/>
              </a:rPr>
              <a:t>Complete PEAS Example: Autonomous Taxi</a:t>
            </a:r>
            <a:endParaRPr lang="en-US" sz="2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02920" y="2103120"/>
          <a:ext cx="11185855" cy="914400"/>
        </p:xfrm>
        <a:graphic>
          <a:graphicData uri="http://schemas.openxmlformats.org/drawingml/2006/table">
            <a:tbl>
              <a:tblPr/>
              <a:tblGrid>
                <a:gridCol w="2377440">
                  <a:extLst>
                    <a:ext uri="{9D8B030D-6E8A-4147-A177-3AD203B41FA5}">
                      <a16:colId xmlns:a16="http://schemas.microsoft.com/office/drawing/2014/main" val="20000"/>
                    </a:ext>
                  </a:extLst>
                </a:gridCol>
                <a:gridCol w="8808415">
                  <a:extLst>
                    <a:ext uri="{9D8B030D-6E8A-4147-A177-3AD203B41FA5}">
                      <a16:colId xmlns:a16="http://schemas.microsoft.com/office/drawing/2014/main" val="20001"/>
                    </a:ext>
                  </a:extLst>
                </a:gridCol>
              </a:tblGrid>
              <a:tr h="548640">
                <a:tc>
                  <a:txBody>
                    <a:bodyPr/>
                    <a:lstStyle/>
                    <a:p>
                      <a:pPr marL="0" indent="0" algn="ctr">
                        <a:buNone/>
                      </a:pPr>
                      <a:r>
                        <a:rPr lang="en-US" sz="1800" b="1" dirty="0">
                          <a:solidFill>
                            <a:srgbClr val="FFFFFF"/>
                          </a:solidFill>
                        </a:rPr>
                        <a:t>PEAS Element</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0B1E3D"/>
                    </a:solidFill>
                  </a:tcPr>
                </a:tc>
                <a:tc>
                  <a:txBody>
                    <a:bodyPr/>
                    <a:lstStyle/>
                    <a:p>
                      <a:pPr marL="0" indent="0" algn="ctr">
                        <a:buNone/>
                      </a:pPr>
                      <a:r>
                        <a:rPr lang="en-US" sz="1800" b="1" dirty="0">
                          <a:solidFill>
                            <a:srgbClr val="FFFFFF"/>
                          </a:solidFill>
                        </a:rPr>
                        <a:t>Description</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0B1E3D"/>
                    </a:solidFill>
                  </a:tcPr>
                </a:tc>
                <a:extLst>
                  <a:ext uri="{0D108BD9-81ED-4DB2-BD59-A6C34878D82A}">
                    <a16:rowId xmlns:a16="http://schemas.microsoft.com/office/drawing/2014/main" val="10000"/>
                  </a:ext>
                </a:extLst>
              </a:tr>
              <a:tr h="868680">
                <a:tc>
                  <a:txBody>
                    <a:bodyPr/>
                    <a:lstStyle/>
                    <a:p>
                      <a:pPr marL="0" indent="0" algn="ctr">
                        <a:buNone/>
                      </a:pPr>
                      <a:r>
                        <a:rPr lang="en-US" sz="1800" b="1" dirty="0">
                          <a:solidFill>
                            <a:srgbClr val="0B1E3D"/>
                          </a:solidFill>
                        </a:rPr>
                        <a:t>P — Performance</a:t>
                      </a:r>
                      <a:endParaRPr lang="en-US" sz="1800" dirty="0"/>
                    </a:p>
                    <a:p>
                      <a:pPr marL="0" indent="0" algn="ctr">
                        <a:buNone/>
                      </a:pPr>
                      <a:r>
                        <a:rPr lang="en-US" sz="1800" b="1" dirty="0">
                          <a:solidFill>
                            <a:srgbClr val="0B1E3D"/>
                          </a:solidFill>
                        </a:rPr>
                        <a:t>Measure</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3F5F8"/>
                    </a:solidFill>
                  </a:tcPr>
                </a:tc>
                <a:tc>
                  <a:txBody>
                    <a:bodyPr/>
                    <a:lstStyle/>
                    <a:p>
                      <a:pPr marL="0" indent="0" algn="l">
                        <a:buNone/>
                      </a:pPr>
                      <a:r>
                        <a:rPr lang="en-US" sz="1800" dirty="0">
                          <a:solidFill>
                            <a:srgbClr val="1A1F2B"/>
                          </a:solidFill>
                        </a:rPr>
                        <a:t>Safety, passenger comfort, travel time, energy efficiency, legal compliance</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tcPr>
                </a:tc>
                <a:extLst>
                  <a:ext uri="{0D108BD9-81ED-4DB2-BD59-A6C34878D82A}">
                    <a16:rowId xmlns:a16="http://schemas.microsoft.com/office/drawing/2014/main" val="10001"/>
                  </a:ext>
                </a:extLst>
              </a:tr>
              <a:tr h="868680">
                <a:tc>
                  <a:txBody>
                    <a:bodyPr/>
                    <a:lstStyle/>
                    <a:p>
                      <a:pPr marL="0" indent="0" algn="ctr">
                        <a:buNone/>
                      </a:pPr>
                      <a:r>
                        <a:rPr lang="en-US" sz="1800" b="1" dirty="0">
                          <a:solidFill>
                            <a:srgbClr val="0B1E3D"/>
                          </a:solidFill>
                        </a:rPr>
                        <a:t>E — Environment</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3F5F8"/>
                    </a:solidFill>
                  </a:tcPr>
                </a:tc>
                <a:tc>
                  <a:txBody>
                    <a:bodyPr/>
                    <a:lstStyle/>
                    <a:p>
                      <a:pPr marL="0" indent="0" algn="l">
                        <a:buNone/>
                      </a:pPr>
                      <a:r>
                        <a:rPr lang="en-US" sz="1800" dirty="0">
                          <a:solidFill>
                            <a:srgbClr val="1A1F2B"/>
                          </a:solidFill>
                        </a:rPr>
                        <a:t>Roads, other traffic, pedestrians, weather, passengers</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tcPr>
                </a:tc>
                <a:extLst>
                  <a:ext uri="{0D108BD9-81ED-4DB2-BD59-A6C34878D82A}">
                    <a16:rowId xmlns:a16="http://schemas.microsoft.com/office/drawing/2014/main" val="10002"/>
                  </a:ext>
                </a:extLst>
              </a:tr>
              <a:tr h="868680">
                <a:tc>
                  <a:txBody>
                    <a:bodyPr/>
                    <a:lstStyle/>
                    <a:p>
                      <a:pPr marL="0" indent="0" algn="ctr">
                        <a:buNone/>
                      </a:pPr>
                      <a:r>
                        <a:rPr lang="en-US" sz="1800" b="1" dirty="0">
                          <a:solidFill>
                            <a:srgbClr val="0B1E3D"/>
                          </a:solidFill>
                        </a:rPr>
                        <a:t>A — Actuators</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3F5F8"/>
                    </a:solidFill>
                  </a:tcPr>
                </a:tc>
                <a:tc>
                  <a:txBody>
                    <a:bodyPr/>
                    <a:lstStyle/>
                    <a:p>
                      <a:pPr marL="0" indent="0" algn="l">
                        <a:buNone/>
                      </a:pPr>
                      <a:r>
                        <a:rPr lang="en-US" sz="1800" dirty="0">
                          <a:solidFill>
                            <a:srgbClr val="1A1F2B"/>
                          </a:solidFill>
                        </a:rPr>
                        <a:t>Steering, accelerator, brake, horn, indicators</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tcPr>
                </a:tc>
                <a:extLst>
                  <a:ext uri="{0D108BD9-81ED-4DB2-BD59-A6C34878D82A}">
                    <a16:rowId xmlns:a16="http://schemas.microsoft.com/office/drawing/2014/main" val="10003"/>
                  </a:ext>
                </a:extLst>
              </a:tr>
              <a:tr h="868680">
                <a:tc>
                  <a:txBody>
                    <a:bodyPr/>
                    <a:lstStyle/>
                    <a:p>
                      <a:pPr marL="0" indent="0" algn="ctr">
                        <a:buNone/>
                      </a:pPr>
                      <a:r>
                        <a:rPr lang="en-US" sz="1800" b="1" dirty="0">
                          <a:solidFill>
                            <a:srgbClr val="0B1E3D"/>
                          </a:solidFill>
                        </a:rPr>
                        <a:t>S — Sensors</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3F5F8"/>
                    </a:solidFill>
                  </a:tcPr>
                </a:tc>
                <a:tc>
                  <a:txBody>
                    <a:bodyPr/>
                    <a:lstStyle/>
                    <a:p>
                      <a:pPr marL="0" indent="0" algn="l">
                        <a:buNone/>
                      </a:pPr>
                      <a:r>
                        <a:rPr lang="en-US" sz="1800" dirty="0">
                          <a:solidFill>
                            <a:srgbClr val="1A1F2B"/>
                          </a:solidFill>
                        </a:rPr>
                        <a:t>Cameras, radar, LiDAR, GPS, speed sensors</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502920" y="6172200"/>
            <a:ext cx="11185855" cy="256032"/>
          </a:xfrm>
          <a:prstGeom prst="rect">
            <a:avLst/>
          </a:prstGeom>
          <a:noFill/>
          <a:ln/>
        </p:spPr>
        <p:txBody>
          <a:bodyPr wrap="square" rtlCol="0" anchor="ctr"/>
          <a:lstStyle/>
          <a:p>
            <a:pPr marL="0" indent="0" algn="ctr">
              <a:buNone/>
            </a:pPr>
            <a:r>
              <a:rPr lang="en-US" sz="1500" i="1" dirty="0">
                <a:solidFill>
                  <a:srgbClr val="5A6478"/>
                </a:solidFill>
                <a:latin typeface="Calibri" pitchFamily="34" charset="0"/>
                <a:ea typeface="Calibri" pitchFamily="34" charset="-122"/>
                <a:cs typeface="Calibri" pitchFamily="34" charset="-120"/>
              </a:rPr>
              <a:t>A well-formed PEAS description should let a new engineer understand the whole task without seeing any code.</a:t>
            </a:r>
            <a:endParaRPr lang="en-US" sz="1500" dirty="0"/>
          </a:p>
        </p:txBody>
      </p:sp>
      <p:sp>
        <p:nvSpPr>
          <p:cNvPr id="6" name="Text 3"/>
          <p:cNvSpPr/>
          <p:nvPr/>
        </p:nvSpPr>
        <p:spPr>
          <a:xfrm>
            <a:off x="502920" y="6446520"/>
            <a:ext cx="8229600" cy="320040"/>
          </a:xfrm>
          <a:prstGeom prst="rect">
            <a:avLst/>
          </a:prstGeom>
          <a:noFill/>
          <a:ln/>
        </p:spPr>
        <p:txBody>
          <a:bodyPr wrap="square" rtlCol="0" anchor="ctr"/>
          <a:lstStyle/>
          <a:p>
            <a:pPr marL="0" indent="0">
              <a:buNone/>
            </a:pPr>
            <a:r>
              <a:rPr lang="en-US" sz="1400" i="1" dirty="0">
                <a:solidFill>
                  <a:srgbClr val="5A6478"/>
                </a:solidFill>
                <a:latin typeface="Calibri" pitchFamily="34" charset="0"/>
                <a:ea typeface="Calibri" pitchFamily="34" charset="-122"/>
                <a:cs typeface="Calibri" pitchFamily="34" charset="-120"/>
              </a:rPr>
              <a:t>AI — Intelligent Agents  |  D. The PEAS Framework</a:t>
            </a:r>
            <a:endParaRPr lang="en-US" sz="1400" dirty="0"/>
          </a:p>
        </p:txBody>
      </p:sp>
      <p:sp>
        <p:nvSpPr>
          <p:cNvPr id="7" name="Text 4"/>
          <p:cNvSpPr/>
          <p:nvPr/>
        </p:nvSpPr>
        <p:spPr>
          <a:xfrm>
            <a:off x="10500055" y="6446520"/>
            <a:ext cx="1188720" cy="320040"/>
          </a:xfrm>
          <a:prstGeom prst="rect">
            <a:avLst/>
          </a:prstGeom>
          <a:noFill/>
          <a:ln/>
        </p:spPr>
        <p:txBody>
          <a:bodyPr wrap="square" rtlCol="0" anchor="ctr"/>
          <a:lstStyle/>
          <a:p>
            <a:pPr marL="0" indent="0" algn="r">
              <a:buNone/>
            </a:pPr>
            <a:r>
              <a:rPr lang="en-US" sz="1400" dirty="0">
                <a:solidFill>
                  <a:srgbClr val="5A6478"/>
                </a:solidFill>
                <a:latin typeface="Calibri" pitchFamily="34" charset="0"/>
                <a:ea typeface="Calibri" pitchFamily="34" charset="-122"/>
                <a:cs typeface="Calibri" pitchFamily="34" charset="-120"/>
              </a:rPr>
              <a:t>19 / 40</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85855" cy="347472"/>
          </a:xfrm>
          <a:prstGeom prst="rect">
            <a:avLst/>
          </a:prstGeom>
          <a:noFill/>
          <a:ln/>
        </p:spPr>
        <p:txBody>
          <a:bodyPr wrap="square" rtlCol="0" anchor="ctr"/>
          <a:lstStyle/>
          <a:p>
            <a:pPr marL="0" indent="0">
              <a:buNone/>
            </a:pPr>
            <a:r>
              <a:rPr lang="en-US" sz="1500" b="1" kern="0" spc="150" dirty="0">
                <a:solidFill>
                  <a:srgbClr val="B08D57"/>
                </a:solidFill>
                <a:latin typeface="Calibri" pitchFamily="34" charset="0"/>
                <a:ea typeface="Calibri" pitchFamily="34" charset="-122"/>
                <a:cs typeface="Calibri" pitchFamily="34" charset="-120"/>
              </a:rPr>
              <a:t>D. THE PEAS FRAMEWORK</a:t>
            </a:r>
            <a:endParaRPr lang="en-US" sz="1500" dirty="0"/>
          </a:p>
        </p:txBody>
      </p:sp>
      <p:sp>
        <p:nvSpPr>
          <p:cNvPr id="3" name="Text 1"/>
          <p:cNvSpPr txBox="1"/>
          <p:nvPr/>
        </p:nvSpPr>
        <p:spPr>
          <a:xfrm>
            <a:off x="502920" y="676656"/>
            <a:ext cx="11185855" cy="1417320"/>
          </a:xfrm>
          <a:prstGeom prst="rect">
            <a:avLst/>
          </a:prstGeom>
          <a:noFill/>
          <a:ln/>
        </p:spPr>
        <p:txBody>
          <a:bodyPr wrap="square" rtlCol="0" anchor="t"/>
          <a:lstStyle/>
          <a:p>
            <a:pPr marL="0" indent="0">
              <a:lnSpc>
                <a:spcPts val="3584"/>
              </a:lnSpc>
              <a:buNone/>
            </a:pPr>
            <a:r>
              <a:rPr lang="en-US" sz="3200" b="1" dirty="0">
                <a:solidFill>
                  <a:srgbClr val="0B1E3D"/>
                </a:solidFill>
                <a:latin typeface="Cambria" pitchFamily="34" charset="0"/>
                <a:ea typeface="Cambria" pitchFamily="34" charset="-122"/>
                <a:cs typeface="Cambria" pitchFamily="34" charset="-120"/>
              </a:rPr>
              <a:t>PEAS Examples from Real Life</a:t>
            </a:r>
            <a:endParaRPr lang="en-US" sz="3200" dirty="0"/>
          </a:p>
        </p:txBody>
      </p:sp>
      <p:sp>
        <p:nvSpPr>
          <p:cNvPr id="4" name="Shape 2"/>
          <p:cNvSpPr/>
          <p:nvPr/>
        </p:nvSpPr>
        <p:spPr>
          <a:xfrm>
            <a:off x="502920" y="1874520"/>
            <a:ext cx="5455768" cy="2034540"/>
          </a:xfrm>
          <a:prstGeom prst="roundRect">
            <a:avLst>
              <a:gd name="adj" fmla="val 3596"/>
            </a:avLst>
          </a:prstGeom>
          <a:solidFill>
            <a:srgbClr val="F3F5F8"/>
          </a:solidFill>
          <a:ln w="12700">
            <a:solidFill>
              <a:srgbClr val="D8DCE3"/>
            </a:solidFill>
            <a:prstDash val="solid"/>
          </a:ln>
        </p:spPr>
      </p:sp>
      <p:sp>
        <p:nvSpPr>
          <p:cNvPr id="5" name="Text 3"/>
          <p:cNvSpPr/>
          <p:nvPr/>
        </p:nvSpPr>
        <p:spPr>
          <a:xfrm>
            <a:off x="731520" y="2011680"/>
            <a:ext cx="4998568" cy="502920"/>
          </a:xfrm>
          <a:prstGeom prst="rect">
            <a:avLst/>
          </a:prstGeom>
          <a:noFill/>
          <a:ln/>
        </p:spPr>
        <p:txBody>
          <a:bodyPr wrap="square" rtlCol="0" anchor="ctr"/>
          <a:lstStyle/>
          <a:p>
            <a:pPr marL="0" indent="0">
              <a:buNone/>
            </a:pPr>
            <a:r>
              <a:rPr lang="en-US" sz="1900" b="1" dirty="0">
                <a:solidFill>
                  <a:srgbClr val="0B1E3D"/>
                </a:solidFill>
                <a:latin typeface="Cambria" pitchFamily="34" charset="0"/>
                <a:ea typeface="Cambria" pitchFamily="34" charset="-122"/>
                <a:cs typeface="Cambria" pitchFamily="34" charset="-120"/>
              </a:rPr>
              <a:t>Robot Vacuum</a:t>
            </a:r>
            <a:endParaRPr lang="en-US" sz="2600" dirty="0"/>
          </a:p>
        </p:txBody>
      </p:sp>
      <p:sp>
        <p:nvSpPr>
          <p:cNvPr id="6" name="Text 4"/>
          <p:cNvSpPr/>
          <p:nvPr/>
        </p:nvSpPr>
        <p:spPr>
          <a:xfrm>
            <a:off x="731520" y="2532888"/>
            <a:ext cx="4998568" cy="1211580"/>
          </a:xfrm>
          <a:prstGeom prst="rect">
            <a:avLst/>
          </a:prstGeom>
          <a:noFill/>
          <a:ln/>
        </p:spPr>
        <p:txBody>
          <a:bodyPr wrap="square" rtlCol="0" anchor="t"/>
          <a:lstStyle/>
          <a:p>
            <a:pPr marL="0" indent="0">
              <a:lnSpc>
                <a:spcPts val="2000"/>
              </a:lnSpc>
              <a:buNone/>
            </a:pPr>
            <a:r>
              <a:rPr lang="en-US" sz="1600" dirty="0">
                <a:solidFill>
                  <a:srgbClr val="1A1F2B"/>
                </a:solidFill>
                <a:latin typeface="Calibri" pitchFamily="34" charset="0"/>
                <a:ea typeface="Calibri" pitchFamily="34" charset="-122"/>
                <a:cs typeface="Calibri" pitchFamily="34" charset="-120"/>
              </a:rPr>
              <a:t>P: Clean floor, coverage, time, battery use</a:t>
            </a:r>
            <a:endParaRPr lang="en-US" sz="1600" dirty="0"/>
          </a:p>
          <a:p>
            <a:pPr marL="0" indent="0">
              <a:lnSpc>
                <a:spcPts val="2000"/>
              </a:lnSpc>
              <a:buNone/>
            </a:pPr>
            <a:r>
              <a:rPr lang="en-US" sz="1600" dirty="0">
                <a:solidFill>
                  <a:srgbClr val="1A1F2B"/>
                </a:solidFill>
                <a:latin typeface="Calibri" pitchFamily="34" charset="0"/>
                <a:ea typeface="Calibri" pitchFamily="34" charset="-122"/>
                <a:cs typeface="Calibri" pitchFamily="34" charset="-120"/>
              </a:rPr>
              <a:t>E: Home interior, furniture, obstacles</a:t>
            </a:r>
            <a:endParaRPr lang="en-US" sz="1600" dirty="0"/>
          </a:p>
          <a:p>
            <a:pPr marL="0" indent="0">
              <a:lnSpc>
                <a:spcPts val="2000"/>
              </a:lnSpc>
              <a:buNone/>
            </a:pPr>
            <a:r>
              <a:rPr lang="en-US" sz="1600" dirty="0">
                <a:solidFill>
                  <a:srgbClr val="1A1F2B"/>
                </a:solidFill>
                <a:latin typeface="Calibri" pitchFamily="34" charset="0"/>
                <a:ea typeface="Calibri" pitchFamily="34" charset="-122"/>
                <a:cs typeface="Calibri" pitchFamily="34" charset="-120"/>
              </a:rPr>
              <a:t>A: Wheels, brushes, suction motor</a:t>
            </a:r>
            <a:endParaRPr lang="en-US" sz="1600" dirty="0"/>
          </a:p>
          <a:p>
            <a:pPr marL="0" indent="0">
              <a:lnSpc>
                <a:spcPts val="2000"/>
              </a:lnSpc>
              <a:buNone/>
            </a:pPr>
            <a:r>
              <a:rPr lang="en-US" sz="1600" dirty="0">
                <a:solidFill>
                  <a:srgbClr val="1A1F2B"/>
                </a:solidFill>
                <a:latin typeface="Calibri" pitchFamily="34" charset="0"/>
                <a:ea typeface="Calibri" pitchFamily="34" charset="-122"/>
                <a:cs typeface="Calibri" pitchFamily="34" charset="-120"/>
              </a:rPr>
              <a:t>S: Bump, cliff, and dirt sensors</a:t>
            </a:r>
            <a:endParaRPr lang="en-US" sz="1600" dirty="0"/>
          </a:p>
        </p:txBody>
      </p:sp>
      <p:sp>
        <p:nvSpPr>
          <p:cNvPr id="7" name="Shape 5"/>
          <p:cNvSpPr/>
          <p:nvPr/>
        </p:nvSpPr>
        <p:spPr>
          <a:xfrm>
            <a:off x="6233008" y="1874520"/>
            <a:ext cx="5455768" cy="2034540"/>
          </a:xfrm>
          <a:prstGeom prst="roundRect">
            <a:avLst>
              <a:gd name="adj" fmla="val 3596"/>
            </a:avLst>
          </a:prstGeom>
          <a:solidFill>
            <a:srgbClr val="0B1E3D"/>
          </a:solidFill>
          <a:ln/>
        </p:spPr>
      </p:sp>
      <p:sp>
        <p:nvSpPr>
          <p:cNvPr id="8" name="Text 6"/>
          <p:cNvSpPr/>
          <p:nvPr/>
        </p:nvSpPr>
        <p:spPr>
          <a:xfrm>
            <a:off x="6461608" y="2011680"/>
            <a:ext cx="4998568" cy="502920"/>
          </a:xfrm>
          <a:prstGeom prst="rect">
            <a:avLst/>
          </a:prstGeom>
          <a:noFill/>
          <a:ln/>
        </p:spPr>
        <p:txBody>
          <a:bodyPr wrap="square" rtlCol="0" anchor="ctr"/>
          <a:lstStyle/>
          <a:p>
            <a:pPr marL="0" indent="0">
              <a:buNone/>
            </a:pPr>
            <a:r>
              <a:rPr lang="en-US" sz="1900" b="1" dirty="0">
                <a:solidFill>
                  <a:srgbClr val="B08D57"/>
                </a:solidFill>
                <a:latin typeface="Cambria" pitchFamily="34" charset="0"/>
                <a:ea typeface="Cambria" pitchFamily="34" charset="-122"/>
                <a:cs typeface="Cambria" pitchFamily="34" charset="-120"/>
              </a:rPr>
              <a:t>Medical Diagnosis Assistant</a:t>
            </a:r>
            <a:endParaRPr lang="en-US" sz="2600" dirty="0"/>
          </a:p>
        </p:txBody>
      </p:sp>
      <p:sp>
        <p:nvSpPr>
          <p:cNvPr id="9" name="Text 7"/>
          <p:cNvSpPr/>
          <p:nvPr/>
        </p:nvSpPr>
        <p:spPr>
          <a:xfrm>
            <a:off x="6461608" y="2532888"/>
            <a:ext cx="4998568" cy="1211580"/>
          </a:xfrm>
          <a:prstGeom prst="rect">
            <a:avLst/>
          </a:prstGeom>
          <a:noFill/>
          <a:ln/>
        </p:spPr>
        <p:txBody>
          <a:bodyPr wrap="square" rtlCol="0" anchor="t"/>
          <a:lstStyle/>
          <a:p>
            <a:pPr marL="0" indent="0">
              <a:lnSpc>
                <a:spcPts val="2000"/>
              </a:lnSpc>
              <a:buNone/>
            </a:pPr>
            <a:r>
              <a:rPr lang="en-US" sz="1600" dirty="0">
                <a:solidFill>
                  <a:srgbClr val="E7EBF3"/>
                </a:solidFill>
                <a:latin typeface="Calibri" pitchFamily="34" charset="0"/>
                <a:ea typeface="Calibri" pitchFamily="34" charset="-122"/>
                <a:cs typeface="Calibri" pitchFamily="34" charset="-120"/>
              </a:rPr>
              <a:t>P: Diagnostic accuracy, patient safety</a:t>
            </a:r>
            <a:endParaRPr lang="en-US" sz="1600" dirty="0"/>
          </a:p>
          <a:p>
            <a:pPr marL="0" indent="0">
              <a:lnSpc>
                <a:spcPts val="2000"/>
              </a:lnSpc>
              <a:buNone/>
            </a:pPr>
            <a:r>
              <a:rPr lang="en-US" sz="1600" dirty="0">
                <a:solidFill>
                  <a:srgbClr val="E7EBF3"/>
                </a:solidFill>
                <a:latin typeface="Calibri" pitchFamily="34" charset="0"/>
                <a:ea typeface="Calibri" pitchFamily="34" charset="-122"/>
                <a:cs typeface="Calibri" pitchFamily="34" charset="-120"/>
              </a:rPr>
              <a:t>E: Patient records, symptoms, test results</a:t>
            </a:r>
            <a:endParaRPr lang="en-US" sz="1600" dirty="0"/>
          </a:p>
          <a:p>
            <a:pPr marL="0" indent="0">
              <a:lnSpc>
                <a:spcPts val="2000"/>
              </a:lnSpc>
              <a:buNone/>
            </a:pPr>
            <a:r>
              <a:rPr lang="en-US" sz="1600" dirty="0">
                <a:solidFill>
                  <a:srgbClr val="E7EBF3"/>
                </a:solidFill>
                <a:latin typeface="Calibri" pitchFamily="34" charset="0"/>
                <a:ea typeface="Calibri" pitchFamily="34" charset="-122"/>
                <a:cs typeface="Calibri" pitchFamily="34" charset="-120"/>
              </a:rPr>
              <a:t>A: Recommendations, alerts, reports</a:t>
            </a:r>
            <a:endParaRPr lang="en-US" sz="1600" dirty="0"/>
          </a:p>
          <a:p>
            <a:pPr marL="0" indent="0">
              <a:lnSpc>
                <a:spcPts val="2000"/>
              </a:lnSpc>
              <a:buNone/>
            </a:pPr>
            <a:r>
              <a:rPr lang="en-US" sz="1600" dirty="0">
                <a:solidFill>
                  <a:srgbClr val="E7EBF3"/>
                </a:solidFill>
                <a:latin typeface="Calibri" pitchFamily="34" charset="0"/>
                <a:ea typeface="Calibri" pitchFamily="34" charset="-122"/>
                <a:cs typeface="Calibri" pitchFamily="34" charset="-120"/>
              </a:rPr>
              <a:t>S: Data entry, lab results, imaging</a:t>
            </a:r>
            <a:endParaRPr lang="en-US" sz="1600" dirty="0"/>
          </a:p>
        </p:txBody>
      </p:sp>
      <p:sp>
        <p:nvSpPr>
          <p:cNvPr id="10" name="Shape 8"/>
          <p:cNvSpPr/>
          <p:nvPr/>
        </p:nvSpPr>
        <p:spPr>
          <a:xfrm>
            <a:off x="502920" y="4183380"/>
            <a:ext cx="5455768" cy="2034540"/>
          </a:xfrm>
          <a:prstGeom prst="roundRect">
            <a:avLst>
              <a:gd name="adj" fmla="val 3596"/>
            </a:avLst>
          </a:prstGeom>
          <a:solidFill>
            <a:srgbClr val="0B1E3D"/>
          </a:solidFill>
          <a:ln/>
        </p:spPr>
      </p:sp>
      <p:sp>
        <p:nvSpPr>
          <p:cNvPr id="11" name="Text 9"/>
          <p:cNvSpPr/>
          <p:nvPr/>
        </p:nvSpPr>
        <p:spPr>
          <a:xfrm>
            <a:off x="731520" y="4320540"/>
            <a:ext cx="4998568" cy="502920"/>
          </a:xfrm>
          <a:prstGeom prst="rect">
            <a:avLst/>
          </a:prstGeom>
          <a:noFill/>
          <a:ln/>
        </p:spPr>
        <p:txBody>
          <a:bodyPr wrap="square" rtlCol="0" anchor="ctr"/>
          <a:lstStyle/>
          <a:p>
            <a:pPr marL="0" indent="0">
              <a:buNone/>
            </a:pPr>
            <a:r>
              <a:rPr lang="en-US" sz="1900" b="1" dirty="0">
                <a:solidFill>
                  <a:srgbClr val="B08D57"/>
                </a:solidFill>
                <a:latin typeface="Cambria" pitchFamily="34" charset="0"/>
                <a:ea typeface="Cambria" pitchFamily="34" charset="-122"/>
                <a:cs typeface="Cambria" pitchFamily="34" charset="-120"/>
              </a:rPr>
              <a:t>Chess-Playing Agent</a:t>
            </a:r>
            <a:endParaRPr lang="en-US" sz="2600" dirty="0"/>
          </a:p>
        </p:txBody>
      </p:sp>
      <p:sp>
        <p:nvSpPr>
          <p:cNvPr id="12" name="Text 10"/>
          <p:cNvSpPr/>
          <p:nvPr/>
        </p:nvSpPr>
        <p:spPr>
          <a:xfrm>
            <a:off x="731520" y="4841748"/>
            <a:ext cx="4998568" cy="1211580"/>
          </a:xfrm>
          <a:prstGeom prst="rect">
            <a:avLst/>
          </a:prstGeom>
          <a:noFill/>
          <a:ln/>
        </p:spPr>
        <p:txBody>
          <a:bodyPr wrap="square" rtlCol="0" anchor="t"/>
          <a:lstStyle/>
          <a:p>
            <a:pPr marL="0" indent="0">
              <a:lnSpc>
                <a:spcPts val="2000"/>
              </a:lnSpc>
              <a:buNone/>
            </a:pPr>
            <a:r>
              <a:rPr lang="en-US" sz="1600" dirty="0">
                <a:solidFill>
                  <a:srgbClr val="E7EBF3"/>
                </a:solidFill>
                <a:latin typeface="Calibri" pitchFamily="34" charset="0"/>
                <a:ea typeface="Calibri" pitchFamily="34" charset="-122"/>
                <a:cs typeface="Calibri" pitchFamily="34" charset="-120"/>
              </a:rPr>
              <a:t>P: Win rate, move quality</a:t>
            </a:r>
            <a:endParaRPr lang="en-US" sz="1600" dirty="0"/>
          </a:p>
          <a:p>
            <a:pPr marL="0" indent="0">
              <a:lnSpc>
                <a:spcPts val="2000"/>
              </a:lnSpc>
              <a:buNone/>
            </a:pPr>
            <a:r>
              <a:rPr lang="en-US" sz="1600" dirty="0">
                <a:solidFill>
                  <a:srgbClr val="E7EBF3"/>
                </a:solidFill>
                <a:latin typeface="Calibri" pitchFamily="34" charset="0"/>
                <a:ea typeface="Calibri" pitchFamily="34" charset="-122"/>
                <a:cs typeface="Calibri" pitchFamily="34" charset="-120"/>
              </a:rPr>
              <a:t>E: Chessboard, pieces, opponent, rules</a:t>
            </a:r>
            <a:endParaRPr lang="en-US" sz="1600" dirty="0"/>
          </a:p>
          <a:p>
            <a:pPr marL="0" indent="0">
              <a:lnSpc>
                <a:spcPts val="2000"/>
              </a:lnSpc>
              <a:buNone/>
            </a:pPr>
            <a:r>
              <a:rPr lang="en-US" sz="1600" dirty="0">
                <a:solidFill>
                  <a:srgbClr val="E7EBF3"/>
                </a:solidFill>
                <a:latin typeface="Calibri" pitchFamily="34" charset="0"/>
                <a:ea typeface="Calibri" pitchFamily="34" charset="-122"/>
                <a:cs typeface="Calibri" pitchFamily="34" charset="-120"/>
              </a:rPr>
              <a:t>A: Piece moves</a:t>
            </a:r>
            <a:endParaRPr lang="en-US" sz="1600" dirty="0"/>
          </a:p>
          <a:p>
            <a:pPr marL="0" indent="0">
              <a:lnSpc>
                <a:spcPts val="2000"/>
              </a:lnSpc>
              <a:buNone/>
            </a:pPr>
            <a:r>
              <a:rPr lang="en-US" sz="1600" dirty="0">
                <a:solidFill>
                  <a:srgbClr val="E7EBF3"/>
                </a:solidFill>
                <a:latin typeface="Calibri" pitchFamily="34" charset="0"/>
                <a:ea typeface="Calibri" pitchFamily="34" charset="-122"/>
                <a:cs typeface="Calibri" pitchFamily="34" charset="-120"/>
              </a:rPr>
              <a:t>S: Board-state input</a:t>
            </a:r>
            <a:endParaRPr lang="en-US" sz="1600" dirty="0"/>
          </a:p>
        </p:txBody>
      </p:sp>
      <p:sp>
        <p:nvSpPr>
          <p:cNvPr id="13" name="Shape 11"/>
          <p:cNvSpPr/>
          <p:nvPr/>
        </p:nvSpPr>
        <p:spPr>
          <a:xfrm>
            <a:off x="6233008" y="4183380"/>
            <a:ext cx="5455768" cy="2034540"/>
          </a:xfrm>
          <a:prstGeom prst="roundRect">
            <a:avLst>
              <a:gd name="adj" fmla="val 3596"/>
            </a:avLst>
          </a:prstGeom>
          <a:solidFill>
            <a:srgbClr val="F3F5F8"/>
          </a:solidFill>
          <a:ln w="12700">
            <a:solidFill>
              <a:srgbClr val="D8DCE3"/>
            </a:solidFill>
            <a:prstDash val="solid"/>
          </a:ln>
        </p:spPr>
      </p:sp>
      <p:sp>
        <p:nvSpPr>
          <p:cNvPr id="14" name="Text 12"/>
          <p:cNvSpPr/>
          <p:nvPr/>
        </p:nvSpPr>
        <p:spPr>
          <a:xfrm>
            <a:off x="6461608" y="4320540"/>
            <a:ext cx="4998568" cy="502920"/>
          </a:xfrm>
          <a:prstGeom prst="rect">
            <a:avLst/>
          </a:prstGeom>
          <a:noFill/>
          <a:ln/>
        </p:spPr>
        <p:txBody>
          <a:bodyPr wrap="square" rtlCol="0" anchor="ctr"/>
          <a:lstStyle/>
          <a:p>
            <a:pPr marL="0" indent="0">
              <a:buNone/>
            </a:pPr>
            <a:r>
              <a:rPr lang="en-US" sz="1900" b="1" dirty="0">
                <a:solidFill>
                  <a:srgbClr val="0B1E3D"/>
                </a:solidFill>
                <a:latin typeface="Cambria" pitchFamily="34" charset="0"/>
                <a:ea typeface="Cambria" pitchFamily="34" charset="-122"/>
                <a:cs typeface="Cambria" pitchFamily="34" charset="-120"/>
              </a:rPr>
              <a:t>Online Recommendation Agent</a:t>
            </a:r>
            <a:endParaRPr lang="en-US" sz="2600" dirty="0"/>
          </a:p>
        </p:txBody>
      </p:sp>
      <p:sp>
        <p:nvSpPr>
          <p:cNvPr id="15" name="Text 13"/>
          <p:cNvSpPr/>
          <p:nvPr/>
        </p:nvSpPr>
        <p:spPr>
          <a:xfrm>
            <a:off x="6461608" y="4841748"/>
            <a:ext cx="4998568" cy="1211580"/>
          </a:xfrm>
          <a:prstGeom prst="rect">
            <a:avLst/>
          </a:prstGeom>
          <a:noFill/>
          <a:ln/>
        </p:spPr>
        <p:txBody>
          <a:bodyPr wrap="square" rtlCol="0" anchor="t"/>
          <a:lstStyle/>
          <a:p>
            <a:pPr marL="0" indent="0">
              <a:lnSpc>
                <a:spcPts val="2000"/>
              </a:lnSpc>
              <a:buNone/>
            </a:pPr>
            <a:r>
              <a:rPr lang="en-US" sz="1600" dirty="0">
                <a:solidFill>
                  <a:srgbClr val="1A1F2B"/>
                </a:solidFill>
                <a:latin typeface="Calibri" pitchFamily="34" charset="0"/>
                <a:ea typeface="Calibri" pitchFamily="34" charset="-122"/>
                <a:cs typeface="Calibri" pitchFamily="34" charset="-120"/>
              </a:rPr>
              <a:t>P: User satisfaction, relevance, engagement</a:t>
            </a:r>
            <a:endParaRPr lang="en-US" sz="1600" dirty="0"/>
          </a:p>
          <a:p>
            <a:pPr marL="0" indent="0">
              <a:lnSpc>
                <a:spcPts val="2000"/>
              </a:lnSpc>
              <a:buNone/>
            </a:pPr>
            <a:r>
              <a:rPr lang="en-US" sz="1600" dirty="0">
                <a:solidFill>
                  <a:srgbClr val="1A1F2B"/>
                </a:solidFill>
                <a:latin typeface="Calibri" pitchFamily="34" charset="0"/>
                <a:ea typeface="Calibri" pitchFamily="34" charset="-122"/>
                <a:cs typeface="Calibri" pitchFamily="34" charset="-120"/>
              </a:rPr>
              <a:t>E: User history, catalog, browsing behavior</a:t>
            </a:r>
            <a:endParaRPr lang="en-US" sz="1600" dirty="0"/>
          </a:p>
          <a:p>
            <a:pPr marL="0" indent="0">
              <a:lnSpc>
                <a:spcPts val="2000"/>
              </a:lnSpc>
              <a:buNone/>
            </a:pPr>
            <a:r>
              <a:rPr lang="en-US" sz="1600" dirty="0">
                <a:solidFill>
                  <a:srgbClr val="1A1F2B"/>
                </a:solidFill>
                <a:latin typeface="Calibri" pitchFamily="34" charset="0"/>
                <a:ea typeface="Calibri" pitchFamily="34" charset="-122"/>
                <a:cs typeface="Calibri" pitchFamily="34" charset="-120"/>
              </a:rPr>
              <a:t>A: Displayed recommendations</a:t>
            </a:r>
            <a:endParaRPr lang="en-US" sz="1600" dirty="0"/>
          </a:p>
          <a:p>
            <a:pPr marL="0" indent="0">
              <a:lnSpc>
                <a:spcPts val="2000"/>
              </a:lnSpc>
              <a:buNone/>
            </a:pPr>
            <a:r>
              <a:rPr lang="en-US" sz="1600" dirty="0">
                <a:solidFill>
                  <a:srgbClr val="1A1F2B"/>
                </a:solidFill>
                <a:latin typeface="Calibri" pitchFamily="34" charset="0"/>
                <a:ea typeface="Calibri" pitchFamily="34" charset="-122"/>
                <a:cs typeface="Calibri" pitchFamily="34" charset="-120"/>
              </a:rPr>
              <a:t>S: Clicks, ratings, browsing data</a:t>
            </a:r>
            <a:endParaRPr lang="en-US" sz="1600" dirty="0"/>
          </a:p>
        </p:txBody>
      </p:sp>
      <p:sp>
        <p:nvSpPr>
          <p:cNvPr id="16" name="Text 14"/>
          <p:cNvSpPr/>
          <p:nvPr/>
        </p:nvSpPr>
        <p:spPr>
          <a:xfrm>
            <a:off x="502920" y="6446520"/>
            <a:ext cx="8229600" cy="320040"/>
          </a:xfrm>
          <a:prstGeom prst="rect">
            <a:avLst/>
          </a:prstGeom>
          <a:noFill/>
          <a:ln/>
        </p:spPr>
        <p:txBody>
          <a:bodyPr wrap="square" rtlCol="0" anchor="ctr"/>
          <a:lstStyle/>
          <a:p>
            <a:pPr marL="0" indent="0">
              <a:buNone/>
            </a:pPr>
            <a:r>
              <a:rPr lang="en-US" sz="1400" i="1" dirty="0">
                <a:solidFill>
                  <a:srgbClr val="5A6478"/>
                </a:solidFill>
                <a:latin typeface="Calibri" pitchFamily="34" charset="0"/>
                <a:ea typeface="Calibri" pitchFamily="34" charset="-122"/>
                <a:cs typeface="Calibri" pitchFamily="34" charset="-120"/>
              </a:rPr>
              <a:t>AI — Intelligent Agents  |  D. The PEAS Framework</a:t>
            </a:r>
            <a:endParaRPr lang="en-US" sz="1400" dirty="0"/>
          </a:p>
        </p:txBody>
      </p:sp>
      <p:sp>
        <p:nvSpPr>
          <p:cNvPr id="17" name="Text 15"/>
          <p:cNvSpPr/>
          <p:nvPr/>
        </p:nvSpPr>
        <p:spPr>
          <a:xfrm>
            <a:off x="10500055" y="6446520"/>
            <a:ext cx="1188720" cy="320040"/>
          </a:xfrm>
          <a:prstGeom prst="rect">
            <a:avLst/>
          </a:prstGeom>
          <a:noFill/>
          <a:ln/>
        </p:spPr>
        <p:txBody>
          <a:bodyPr wrap="square" rtlCol="0" anchor="ctr"/>
          <a:lstStyle/>
          <a:p>
            <a:pPr marL="0" indent="0" algn="r">
              <a:buNone/>
            </a:pPr>
            <a:r>
              <a:rPr lang="en-US" sz="1400" dirty="0">
                <a:solidFill>
                  <a:srgbClr val="5A6478"/>
                </a:solidFill>
                <a:latin typeface="Calibri" pitchFamily="34" charset="0"/>
                <a:ea typeface="Calibri" pitchFamily="34" charset="-122"/>
                <a:cs typeface="Calibri" pitchFamily="34" charset="-120"/>
              </a:rPr>
              <a:t>20 / 40</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E3D"/>
        </a:solidFill>
        <a:effectLst/>
      </p:bgPr>
    </p:bg>
    <p:spTree>
      <p:nvGrpSpPr>
        <p:cNvPr id="1" name=""/>
        <p:cNvGrpSpPr/>
        <p:nvPr/>
      </p:nvGrpSpPr>
      <p:grpSpPr>
        <a:xfrm>
          <a:off x="0" y="0"/>
          <a:ext cx="0" cy="0"/>
          <a:chOff x="0" y="0"/>
          <a:chExt cx="0" cy="0"/>
        </a:xfrm>
      </p:grpSpPr>
      <p:sp>
        <p:nvSpPr>
          <p:cNvPr id="2" name="Text 0"/>
          <p:cNvSpPr/>
          <p:nvPr/>
        </p:nvSpPr>
        <p:spPr>
          <a:xfrm>
            <a:off x="502920" y="292608"/>
            <a:ext cx="11185855" cy="347472"/>
          </a:xfrm>
          <a:prstGeom prst="rect">
            <a:avLst/>
          </a:prstGeom>
          <a:noFill/>
          <a:ln/>
        </p:spPr>
        <p:txBody>
          <a:bodyPr wrap="square" rtlCol="0" anchor="ctr"/>
          <a:lstStyle/>
          <a:p>
            <a:pPr marL="0" indent="0">
              <a:buNone/>
            </a:pPr>
            <a:r>
              <a:rPr lang="en-US" sz="1500" b="1" kern="0" spc="150" dirty="0">
                <a:solidFill>
                  <a:srgbClr val="B08D57"/>
                </a:solidFill>
                <a:latin typeface="Calibri" pitchFamily="34" charset="0"/>
                <a:ea typeface="Calibri" pitchFamily="34" charset="-122"/>
                <a:cs typeface="Calibri" pitchFamily="34" charset="-120"/>
              </a:rPr>
              <a:t>D. THE PEAS FRAMEWORK</a:t>
            </a:r>
            <a:endParaRPr lang="en-US" sz="1500" dirty="0"/>
          </a:p>
        </p:txBody>
      </p:sp>
      <p:sp>
        <p:nvSpPr>
          <p:cNvPr id="3" name="Text 1"/>
          <p:cNvSpPr txBox="1"/>
          <p:nvPr/>
        </p:nvSpPr>
        <p:spPr>
          <a:xfrm>
            <a:off x="502920" y="676656"/>
            <a:ext cx="11185855" cy="1417320"/>
          </a:xfrm>
          <a:prstGeom prst="rect">
            <a:avLst/>
          </a:prstGeom>
          <a:noFill/>
          <a:ln/>
        </p:spPr>
        <p:txBody>
          <a:bodyPr wrap="square" rtlCol="0" anchor="t"/>
          <a:lstStyle/>
          <a:p>
            <a:pPr marL="0" indent="0">
              <a:lnSpc>
                <a:spcPts val="3584"/>
              </a:lnSpc>
              <a:buNone/>
            </a:pPr>
            <a:r>
              <a:rPr lang="en-US" sz="3200" b="1" dirty="0">
                <a:solidFill>
                  <a:srgbClr val="FFFFFF"/>
                </a:solidFill>
                <a:latin typeface="Cambria" pitchFamily="34" charset="0"/>
                <a:ea typeface="Cambria" pitchFamily="34" charset="-122"/>
                <a:cs typeface="Cambria" pitchFamily="34" charset="-120"/>
              </a:rPr>
              <a:t>Classroom Activity: Design PEAS</a:t>
            </a:r>
            <a:endParaRPr lang="en-US" sz="3200" dirty="0"/>
          </a:p>
        </p:txBody>
      </p:sp>
      <p:sp>
        <p:nvSpPr>
          <p:cNvPr id="4" name="Shape 2"/>
          <p:cNvSpPr/>
          <p:nvPr/>
        </p:nvSpPr>
        <p:spPr>
          <a:xfrm>
            <a:off x="502920" y="1828800"/>
            <a:ext cx="11185855" cy="777240"/>
          </a:xfrm>
          <a:prstGeom prst="roundRect">
            <a:avLst>
              <a:gd name="adj" fmla="val 8235"/>
            </a:avLst>
          </a:prstGeom>
          <a:solidFill>
            <a:srgbClr val="13294B"/>
          </a:solidFill>
          <a:ln/>
        </p:spPr>
      </p:sp>
      <p:sp>
        <p:nvSpPr>
          <p:cNvPr id="5" name="Text 3"/>
          <p:cNvSpPr/>
          <p:nvPr/>
        </p:nvSpPr>
        <p:spPr>
          <a:xfrm>
            <a:off x="777240" y="1965960"/>
            <a:ext cx="10637215" cy="411480"/>
          </a:xfrm>
          <a:prstGeom prst="rect">
            <a:avLst/>
          </a:prstGeom>
          <a:noFill/>
          <a:ln/>
        </p:spPr>
        <p:txBody>
          <a:bodyPr wrap="square" rtlCol="0" anchor="ctr"/>
          <a:lstStyle/>
          <a:p>
            <a:pPr marL="0" indent="0">
              <a:buNone/>
            </a:pPr>
            <a:r>
              <a:rPr lang="en-US" sz="1900" b="1" dirty="0">
                <a:solidFill>
                  <a:srgbClr val="B08D57"/>
                </a:solidFill>
                <a:latin typeface="Cambria" pitchFamily="34" charset="0"/>
                <a:ea typeface="Cambria" pitchFamily="34" charset="-122"/>
                <a:cs typeface="Cambria" pitchFamily="34" charset="-120"/>
              </a:rPr>
              <a:t>Scenario: Food Delivery Drone</a:t>
            </a:r>
            <a:endParaRPr lang="en-US" sz="1900" dirty="0"/>
          </a:p>
        </p:txBody>
      </p:sp>
      <p:sp>
        <p:nvSpPr>
          <p:cNvPr id="6" name="Text 4"/>
          <p:cNvSpPr/>
          <p:nvPr/>
        </p:nvSpPr>
        <p:spPr>
          <a:xfrm>
            <a:off x="502920" y="2788920"/>
            <a:ext cx="11185855" cy="2377440"/>
          </a:xfrm>
          <a:prstGeom prst="rect">
            <a:avLst/>
          </a:prstGeom>
          <a:noFill/>
          <a:ln/>
        </p:spPr>
        <p:txBody>
          <a:bodyPr wrap="square" lIns="0" tIns="0" rIns="0" bIns="0" rtlCol="0" anchor="t"/>
          <a:lstStyle/>
          <a:p>
            <a:pPr marL="228600" indent="-228600">
              <a:buSzPct val="100000"/>
              <a:buChar char="▪"/>
            </a:pPr>
            <a:r>
              <a:rPr lang="en-US" sz="2000" b="1" dirty="0">
                <a:solidFill>
                  <a:srgbClr val="B08D57"/>
                </a:solidFill>
                <a:latin typeface="Calibri" pitchFamily="34" charset="0"/>
                <a:ea typeface="Calibri" pitchFamily="34" charset="-122"/>
                <a:cs typeface="Calibri" pitchFamily="34" charset="-120"/>
              </a:rPr>
              <a:t>P — Performance:  </a:t>
            </a:r>
            <a:r>
              <a:rPr lang="en-US" sz="2000" dirty="0">
                <a:solidFill>
                  <a:srgbClr val="E7EBF3"/>
                </a:solidFill>
                <a:latin typeface="Calibri" pitchFamily="34" charset="0"/>
                <a:ea typeface="Calibri" pitchFamily="34" charset="-122"/>
                <a:cs typeface="Calibri" pitchFamily="34" charset="-120"/>
              </a:rPr>
              <a:t>what defines success for this drone?</a:t>
            </a:r>
            <a:endParaRPr lang="en-US" sz="2000" dirty="0"/>
          </a:p>
          <a:p>
            <a:pPr marL="228600" indent="-228600">
              <a:buSzPct val="100000"/>
              <a:buChar char="▪"/>
            </a:pPr>
            <a:r>
              <a:rPr lang="en-US" sz="2000" b="1" dirty="0">
                <a:solidFill>
                  <a:srgbClr val="B08D57"/>
                </a:solidFill>
                <a:latin typeface="Calibri" pitchFamily="34" charset="0"/>
                <a:ea typeface="Calibri" pitchFamily="34" charset="-122"/>
                <a:cs typeface="Calibri" pitchFamily="34" charset="-120"/>
              </a:rPr>
              <a:t>E — Environment:  </a:t>
            </a:r>
            <a:r>
              <a:rPr lang="en-US" sz="2000" dirty="0">
                <a:solidFill>
                  <a:srgbClr val="E7EBF3"/>
                </a:solidFill>
                <a:latin typeface="Calibri" pitchFamily="34" charset="0"/>
                <a:ea typeface="Calibri" pitchFamily="34" charset="-122"/>
                <a:cs typeface="Calibri" pitchFamily="34" charset="-120"/>
              </a:rPr>
              <a:t>what does it operate in?</a:t>
            </a:r>
            <a:endParaRPr lang="en-US" sz="2000" dirty="0"/>
          </a:p>
          <a:p>
            <a:pPr marL="228600" indent="-228600">
              <a:buSzPct val="100000"/>
              <a:buChar char="▪"/>
            </a:pPr>
            <a:r>
              <a:rPr lang="en-US" sz="2000" b="1" dirty="0">
                <a:solidFill>
                  <a:srgbClr val="B08D57"/>
                </a:solidFill>
                <a:latin typeface="Calibri" pitchFamily="34" charset="0"/>
                <a:ea typeface="Calibri" pitchFamily="34" charset="-122"/>
                <a:cs typeface="Calibri" pitchFamily="34" charset="-120"/>
              </a:rPr>
              <a:t>A — Actuators:  </a:t>
            </a:r>
            <a:r>
              <a:rPr lang="en-US" sz="2000" dirty="0">
                <a:solidFill>
                  <a:srgbClr val="E7EBF3"/>
                </a:solidFill>
                <a:latin typeface="Calibri" pitchFamily="34" charset="0"/>
                <a:ea typeface="Calibri" pitchFamily="34" charset="-122"/>
                <a:cs typeface="Calibri" pitchFamily="34" charset="-120"/>
              </a:rPr>
              <a:t>how does it act?</a:t>
            </a:r>
            <a:endParaRPr lang="en-US" sz="2000" dirty="0"/>
          </a:p>
          <a:p>
            <a:pPr marL="228600" indent="-228600">
              <a:buSzPct val="100000"/>
              <a:buChar char="▪"/>
            </a:pPr>
            <a:r>
              <a:rPr lang="en-US" sz="2000" b="1" dirty="0">
                <a:solidFill>
                  <a:srgbClr val="B08D57"/>
                </a:solidFill>
                <a:latin typeface="Calibri" pitchFamily="34" charset="0"/>
                <a:ea typeface="Calibri" pitchFamily="34" charset="-122"/>
                <a:cs typeface="Calibri" pitchFamily="34" charset="-120"/>
              </a:rPr>
              <a:t>S — Sensors:  </a:t>
            </a:r>
            <a:r>
              <a:rPr lang="en-US" sz="2000" dirty="0">
                <a:solidFill>
                  <a:srgbClr val="E7EBF3"/>
                </a:solidFill>
                <a:latin typeface="Calibri" pitchFamily="34" charset="0"/>
                <a:ea typeface="Calibri" pitchFamily="34" charset="-122"/>
                <a:cs typeface="Calibri" pitchFamily="34" charset="-120"/>
              </a:rPr>
              <a:t>how does it perceive its surroundings?</a:t>
            </a:r>
            <a:endParaRPr lang="en-US" sz="2000" dirty="0"/>
          </a:p>
        </p:txBody>
      </p:sp>
      <p:sp>
        <p:nvSpPr>
          <p:cNvPr id="7" name="Shape 5"/>
          <p:cNvSpPr/>
          <p:nvPr/>
        </p:nvSpPr>
        <p:spPr>
          <a:xfrm>
            <a:off x="502920" y="5349240"/>
            <a:ext cx="11185855" cy="594360"/>
          </a:xfrm>
          <a:prstGeom prst="roundRect">
            <a:avLst>
              <a:gd name="adj" fmla="val 12308"/>
            </a:avLst>
          </a:prstGeom>
          <a:solidFill>
            <a:srgbClr val="FBF3E6"/>
          </a:solidFill>
          <a:ln w="12700">
            <a:solidFill>
              <a:srgbClr val="B08D57"/>
            </a:solidFill>
            <a:prstDash val="solid"/>
          </a:ln>
        </p:spPr>
      </p:sp>
      <p:sp>
        <p:nvSpPr>
          <p:cNvPr id="8" name="Text 6"/>
          <p:cNvSpPr/>
          <p:nvPr/>
        </p:nvSpPr>
        <p:spPr>
          <a:xfrm>
            <a:off x="502920" y="5349240"/>
            <a:ext cx="11185855" cy="594360"/>
          </a:xfrm>
          <a:prstGeom prst="rect">
            <a:avLst/>
          </a:prstGeom>
          <a:noFill/>
          <a:ln/>
        </p:spPr>
        <p:txBody>
          <a:bodyPr wrap="square" rtlCol="0" anchor="ctr"/>
          <a:lstStyle/>
          <a:p>
            <a:pPr marL="0" indent="0" algn="ctr">
              <a:buNone/>
            </a:pPr>
            <a:r>
              <a:rPr lang="en-US" sz="1800" b="1" i="1" dirty="0">
                <a:solidFill>
                  <a:srgbClr val="0B1E3D"/>
                </a:solidFill>
                <a:latin typeface="Cambria" pitchFamily="34" charset="0"/>
                <a:ea typeface="Cambria" pitchFamily="34" charset="-122"/>
                <a:cs typeface="Cambria" pitchFamily="34" charset="-120"/>
              </a:rPr>
              <a:t>Discuss in pairs for 2-3 minutes, then share your PEAS description with the class.</a:t>
            </a:r>
            <a:endParaRPr lang="en-US" sz="1800" dirty="0"/>
          </a:p>
        </p:txBody>
      </p:sp>
      <p:sp>
        <p:nvSpPr>
          <p:cNvPr id="9" name="Text 7"/>
          <p:cNvSpPr/>
          <p:nvPr/>
        </p:nvSpPr>
        <p:spPr>
          <a:xfrm>
            <a:off x="502920" y="6446520"/>
            <a:ext cx="8229600" cy="320040"/>
          </a:xfrm>
          <a:prstGeom prst="rect">
            <a:avLst/>
          </a:prstGeom>
          <a:noFill/>
          <a:ln/>
        </p:spPr>
        <p:txBody>
          <a:bodyPr wrap="square" rtlCol="0" anchor="ctr"/>
          <a:lstStyle/>
          <a:p>
            <a:pPr marL="0" indent="0">
              <a:buNone/>
            </a:pPr>
            <a:r>
              <a:rPr lang="en-US" sz="1400" i="1" dirty="0">
                <a:solidFill>
                  <a:srgbClr val="8B96AC"/>
                </a:solidFill>
                <a:latin typeface="Calibri" pitchFamily="34" charset="0"/>
                <a:ea typeface="Calibri" pitchFamily="34" charset="-122"/>
                <a:cs typeface="Calibri" pitchFamily="34" charset="-120"/>
              </a:rPr>
              <a:t>AI — Intelligent Agents  |  D. The PEAS Framework</a:t>
            </a:r>
            <a:endParaRPr lang="en-US" sz="1400" dirty="0"/>
          </a:p>
        </p:txBody>
      </p:sp>
      <p:sp>
        <p:nvSpPr>
          <p:cNvPr id="10" name="Text 8"/>
          <p:cNvSpPr/>
          <p:nvPr/>
        </p:nvSpPr>
        <p:spPr>
          <a:xfrm>
            <a:off x="10500055" y="6446520"/>
            <a:ext cx="1188720" cy="320040"/>
          </a:xfrm>
          <a:prstGeom prst="rect">
            <a:avLst/>
          </a:prstGeom>
          <a:noFill/>
          <a:ln/>
        </p:spPr>
        <p:txBody>
          <a:bodyPr wrap="square" rtlCol="0" anchor="ctr"/>
          <a:lstStyle/>
          <a:p>
            <a:pPr marL="0" indent="0" algn="r">
              <a:buNone/>
            </a:pPr>
            <a:r>
              <a:rPr lang="en-US" sz="1400" dirty="0">
                <a:solidFill>
                  <a:srgbClr val="8B96AC"/>
                </a:solidFill>
                <a:latin typeface="Calibri" pitchFamily="34" charset="0"/>
                <a:ea typeface="Calibri" pitchFamily="34" charset="-122"/>
                <a:cs typeface="Calibri" pitchFamily="34" charset="-120"/>
              </a:rPr>
              <a:t>21 / 40</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85855" cy="347472"/>
          </a:xfrm>
          <a:prstGeom prst="rect">
            <a:avLst/>
          </a:prstGeom>
          <a:noFill/>
          <a:ln/>
        </p:spPr>
        <p:txBody>
          <a:bodyPr wrap="square" rtlCol="0" anchor="ctr"/>
          <a:lstStyle/>
          <a:p>
            <a:pPr marL="0" indent="0">
              <a:buNone/>
            </a:pPr>
            <a:r>
              <a:rPr lang="en-US" sz="1500" b="1" kern="0" spc="150" dirty="0">
                <a:solidFill>
                  <a:srgbClr val="B08D57"/>
                </a:solidFill>
                <a:latin typeface="Calibri" pitchFamily="34" charset="0"/>
                <a:ea typeface="Calibri" pitchFamily="34" charset="-122"/>
                <a:cs typeface="Calibri" pitchFamily="34" charset="-120"/>
              </a:rPr>
              <a:t>E. TYPES OF INTELLIGENT AGENTS</a:t>
            </a:r>
            <a:endParaRPr lang="en-US" sz="1500" dirty="0"/>
          </a:p>
        </p:txBody>
      </p:sp>
      <p:sp>
        <p:nvSpPr>
          <p:cNvPr id="3" name="Text 1"/>
          <p:cNvSpPr txBox="1"/>
          <p:nvPr/>
        </p:nvSpPr>
        <p:spPr>
          <a:xfrm>
            <a:off x="502920" y="676656"/>
            <a:ext cx="11185855" cy="1417320"/>
          </a:xfrm>
          <a:prstGeom prst="rect">
            <a:avLst/>
          </a:prstGeom>
          <a:noFill/>
          <a:ln/>
        </p:spPr>
        <p:txBody>
          <a:bodyPr wrap="square" rtlCol="0" anchor="t"/>
          <a:lstStyle/>
          <a:p>
            <a:pPr marL="0" indent="0">
              <a:lnSpc>
                <a:spcPts val="3584"/>
              </a:lnSpc>
              <a:buNone/>
            </a:pPr>
            <a:r>
              <a:rPr lang="en-US" sz="3200" b="1" dirty="0">
                <a:solidFill>
                  <a:srgbClr val="0B1E3D"/>
                </a:solidFill>
                <a:latin typeface="Cambria" pitchFamily="34" charset="0"/>
                <a:ea typeface="Cambria" pitchFamily="34" charset="-122"/>
                <a:cs typeface="Cambria" pitchFamily="34" charset="-120"/>
              </a:rPr>
              <a:t>Overview of Agent Types</a:t>
            </a:r>
            <a:endParaRPr lang="en-US" sz="3200" dirty="0"/>
          </a:p>
        </p:txBody>
      </p:sp>
      <p:sp>
        <p:nvSpPr>
          <p:cNvPr id="4" name="Shape 2"/>
          <p:cNvSpPr/>
          <p:nvPr/>
        </p:nvSpPr>
        <p:spPr>
          <a:xfrm>
            <a:off x="502920" y="2286000"/>
            <a:ext cx="2003085" cy="1417320"/>
          </a:xfrm>
          <a:prstGeom prst="roundRect">
            <a:avLst>
              <a:gd name="adj" fmla="val 5161"/>
            </a:avLst>
          </a:prstGeom>
          <a:solidFill>
            <a:srgbClr val="F3F5F8"/>
          </a:solidFill>
          <a:ln/>
        </p:spPr>
      </p:sp>
      <p:sp>
        <p:nvSpPr>
          <p:cNvPr id="5" name="Text 3"/>
          <p:cNvSpPr/>
          <p:nvPr/>
        </p:nvSpPr>
        <p:spPr>
          <a:xfrm>
            <a:off x="576072" y="2286000"/>
            <a:ext cx="1856781" cy="1417320"/>
          </a:xfrm>
          <a:prstGeom prst="rect">
            <a:avLst/>
          </a:prstGeom>
          <a:noFill/>
          <a:ln/>
        </p:spPr>
        <p:txBody>
          <a:bodyPr wrap="square" rtlCol="0" anchor="ctr"/>
          <a:lstStyle/>
          <a:p>
            <a:pPr marL="0" indent="0" algn="ctr">
              <a:lnSpc>
                <a:spcPts val="1840"/>
              </a:lnSpc>
              <a:buNone/>
            </a:pPr>
            <a:r>
              <a:rPr lang="en-US" sz="1600" b="1" dirty="0">
                <a:solidFill>
                  <a:srgbClr val="0B1E3D"/>
                </a:solidFill>
                <a:latin typeface="Calibri" pitchFamily="34" charset="0"/>
                <a:ea typeface="Calibri" pitchFamily="34" charset="-122"/>
                <a:cs typeface="Calibri" pitchFamily="34" charset="-120"/>
              </a:rPr>
              <a:t>Simple Reflex</a:t>
            </a:r>
            <a:endParaRPr lang="en-US" sz="1600" dirty="0"/>
          </a:p>
          <a:p>
            <a:pPr marL="0" indent="0" algn="ctr">
              <a:lnSpc>
                <a:spcPts val="1840"/>
              </a:lnSpc>
              <a:buNone/>
            </a:pPr>
            <a:r>
              <a:rPr lang="en-US" sz="1500" i="1" dirty="0">
                <a:solidFill>
                  <a:srgbClr val="5A6478"/>
                </a:solidFill>
                <a:latin typeface="Calibri" pitchFamily="34" charset="0"/>
                <a:ea typeface="Calibri" pitchFamily="34" charset="-122"/>
                <a:cs typeface="Calibri" pitchFamily="34" charset="-120"/>
              </a:rPr>
              <a:t>reacts to current percept</a:t>
            </a:r>
            <a:endParaRPr lang="en-US" sz="1600" dirty="0"/>
          </a:p>
        </p:txBody>
      </p:sp>
      <p:sp>
        <p:nvSpPr>
          <p:cNvPr id="6" name="Text 4"/>
          <p:cNvSpPr/>
          <p:nvPr/>
        </p:nvSpPr>
        <p:spPr>
          <a:xfrm>
            <a:off x="2506005" y="2286000"/>
            <a:ext cx="292608" cy="1417320"/>
          </a:xfrm>
          <a:prstGeom prst="rect">
            <a:avLst/>
          </a:prstGeom>
          <a:noFill/>
          <a:ln/>
        </p:spPr>
        <p:txBody>
          <a:bodyPr wrap="square" rtlCol="0" anchor="ctr"/>
          <a:lstStyle/>
          <a:p>
            <a:pPr marL="0" indent="0" algn="ctr">
              <a:buNone/>
            </a:pPr>
            <a:r>
              <a:rPr lang="en-US" sz="2400" b="1" dirty="0">
                <a:solidFill>
                  <a:srgbClr val="0B1E3D"/>
                </a:solidFill>
                <a:latin typeface="Calibri" pitchFamily="34" charset="0"/>
                <a:ea typeface="Calibri" pitchFamily="34" charset="-122"/>
                <a:cs typeface="Calibri" pitchFamily="34" charset="-120"/>
              </a:rPr>
              <a:t>→</a:t>
            </a:r>
            <a:endParaRPr lang="en-US" sz="2400" dirty="0"/>
          </a:p>
        </p:txBody>
      </p:sp>
      <p:sp>
        <p:nvSpPr>
          <p:cNvPr id="7" name="Shape 5"/>
          <p:cNvSpPr/>
          <p:nvPr/>
        </p:nvSpPr>
        <p:spPr>
          <a:xfrm>
            <a:off x="2798613" y="2286000"/>
            <a:ext cx="2003085" cy="1417320"/>
          </a:xfrm>
          <a:prstGeom prst="roundRect">
            <a:avLst>
              <a:gd name="adj" fmla="val 5161"/>
            </a:avLst>
          </a:prstGeom>
          <a:solidFill>
            <a:srgbClr val="F3F5F8"/>
          </a:solidFill>
          <a:ln/>
        </p:spPr>
      </p:sp>
      <p:sp>
        <p:nvSpPr>
          <p:cNvPr id="8" name="Text 6"/>
          <p:cNvSpPr/>
          <p:nvPr/>
        </p:nvSpPr>
        <p:spPr>
          <a:xfrm>
            <a:off x="2871765" y="2286000"/>
            <a:ext cx="1856781" cy="1417320"/>
          </a:xfrm>
          <a:prstGeom prst="rect">
            <a:avLst/>
          </a:prstGeom>
          <a:noFill/>
          <a:ln/>
        </p:spPr>
        <p:txBody>
          <a:bodyPr wrap="square" rtlCol="0" anchor="ctr"/>
          <a:lstStyle/>
          <a:p>
            <a:pPr marL="0" indent="0" algn="ctr">
              <a:lnSpc>
                <a:spcPts val="1725"/>
              </a:lnSpc>
              <a:buNone/>
            </a:pPr>
            <a:r>
              <a:rPr lang="en-US" sz="1500" b="1" dirty="0">
                <a:solidFill>
                  <a:srgbClr val="0B1E3D"/>
                </a:solidFill>
                <a:latin typeface="Calibri" pitchFamily="34" charset="0"/>
                <a:ea typeface="Calibri" pitchFamily="34" charset="-122"/>
                <a:cs typeface="Calibri" pitchFamily="34" charset="-120"/>
              </a:rPr>
              <a:t>Model-Based Reflex</a:t>
            </a:r>
            <a:endParaRPr lang="en-US" sz="1500" dirty="0"/>
          </a:p>
          <a:p>
            <a:pPr marL="0" indent="0" algn="ctr">
              <a:lnSpc>
                <a:spcPts val="1725"/>
              </a:lnSpc>
              <a:buNone/>
            </a:pPr>
            <a:r>
              <a:rPr lang="en-US" sz="1500" i="1" dirty="0">
                <a:solidFill>
                  <a:srgbClr val="5A6478"/>
                </a:solidFill>
                <a:latin typeface="Calibri" pitchFamily="34" charset="0"/>
                <a:ea typeface="Calibri" pitchFamily="34" charset="-122"/>
                <a:cs typeface="Calibri" pitchFamily="34" charset="-120"/>
              </a:rPr>
              <a:t>tracks internal state</a:t>
            </a:r>
            <a:endParaRPr lang="en-US" sz="1500" dirty="0"/>
          </a:p>
        </p:txBody>
      </p:sp>
      <p:sp>
        <p:nvSpPr>
          <p:cNvPr id="9" name="Text 7"/>
          <p:cNvSpPr/>
          <p:nvPr/>
        </p:nvSpPr>
        <p:spPr>
          <a:xfrm>
            <a:off x="4801697" y="2286000"/>
            <a:ext cx="292608" cy="1417320"/>
          </a:xfrm>
          <a:prstGeom prst="rect">
            <a:avLst/>
          </a:prstGeom>
          <a:noFill/>
          <a:ln/>
        </p:spPr>
        <p:txBody>
          <a:bodyPr wrap="square" rtlCol="0" anchor="ctr"/>
          <a:lstStyle/>
          <a:p>
            <a:pPr marL="0" indent="0" algn="ctr">
              <a:buNone/>
            </a:pPr>
            <a:r>
              <a:rPr lang="en-US" sz="2400" b="1" dirty="0">
                <a:solidFill>
                  <a:srgbClr val="0B1E3D"/>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5094305" y="2286000"/>
            <a:ext cx="2003085" cy="1417320"/>
          </a:xfrm>
          <a:prstGeom prst="roundRect">
            <a:avLst>
              <a:gd name="adj" fmla="val 5161"/>
            </a:avLst>
          </a:prstGeom>
          <a:solidFill>
            <a:srgbClr val="F3F5F8"/>
          </a:solidFill>
          <a:ln/>
        </p:spPr>
      </p:sp>
      <p:sp>
        <p:nvSpPr>
          <p:cNvPr id="11" name="Text 9"/>
          <p:cNvSpPr/>
          <p:nvPr/>
        </p:nvSpPr>
        <p:spPr>
          <a:xfrm>
            <a:off x="5167457" y="2286000"/>
            <a:ext cx="1856781" cy="1417320"/>
          </a:xfrm>
          <a:prstGeom prst="rect">
            <a:avLst/>
          </a:prstGeom>
          <a:noFill/>
          <a:ln/>
        </p:spPr>
        <p:txBody>
          <a:bodyPr wrap="square" rtlCol="0" anchor="ctr"/>
          <a:lstStyle/>
          <a:p>
            <a:pPr marL="0" indent="0" algn="ctr">
              <a:lnSpc>
                <a:spcPts val="1840"/>
              </a:lnSpc>
              <a:buNone/>
            </a:pPr>
            <a:r>
              <a:rPr lang="en-US" sz="1600" b="1" dirty="0">
                <a:solidFill>
                  <a:srgbClr val="0B1E3D"/>
                </a:solidFill>
                <a:latin typeface="Calibri" pitchFamily="34" charset="0"/>
                <a:ea typeface="Calibri" pitchFamily="34" charset="-122"/>
                <a:cs typeface="Calibri" pitchFamily="34" charset="-120"/>
              </a:rPr>
              <a:t>Goal-Based</a:t>
            </a:r>
            <a:endParaRPr lang="en-US" sz="1600" dirty="0"/>
          </a:p>
          <a:p>
            <a:pPr marL="0" indent="0" algn="ctr">
              <a:lnSpc>
                <a:spcPts val="1840"/>
              </a:lnSpc>
              <a:buNone/>
            </a:pPr>
            <a:r>
              <a:rPr lang="en-US" sz="1500" i="1" dirty="0">
                <a:solidFill>
                  <a:srgbClr val="5A6478"/>
                </a:solidFill>
                <a:latin typeface="Calibri" pitchFamily="34" charset="0"/>
                <a:ea typeface="Calibri" pitchFamily="34" charset="-122"/>
                <a:cs typeface="Calibri" pitchFamily="34" charset="-120"/>
              </a:rPr>
              <a:t>plans toward a goal</a:t>
            </a:r>
            <a:endParaRPr lang="en-US" sz="1600" dirty="0"/>
          </a:p>
        </p:txBody>
      </p:sp>
      <p:sp>
        <p:nvSpPr>
          <p:cNvPr id="12" name="Text 10"/>
          <p:cNvSpPr/>
          <p:nvPr/>
        </p:nvSpPr>
        <p:spPr>
          <a:xfrm>
            <a:off x="7097390" y="2286000"/>
            <a:ext cx="292608" cy="1417320"/>
          </a:xfrm>
          <a:prstGeom prst="rect">
            <a:avLst/>
          </a:prstGeom>
          <a:noFill/>
          <a:ln/>
        </p:spPr>
        <p:txBody>
          <a:bodyPr wrap="square" rtlCol="0" anchor="ctr"/>
          <a:lstStyle/>
          <a:p>
            <a:pPr marL="0" indent="0" algn="ctr">
              <a:buNone/>
            </a:pPr>
            <a:r>
              <a:rPr lang="en-US" sz="2400" b="1" dirty="0">
                <a:solidFill>
                  <a:srgbClr val="0B1E3D"/>
                </a:solidFill>
                <a:latin typeface="Calibri" pitchFamily="34" charset="0"/>
                <a:ea typeface="Calibri" pitchFamily="34" charset="-122"/>
                <a:cs typeface="Calibri" pitchFamily="34" charset="-120"/>
              </a:rPr>
              <a:t>→</a:t>
            </a:r>
            <a:endParaRPr lang="en-US" sz="2400" dirty="0"/>
          </a:p>
        </p:txBody>
      </p:sp>
      <p:sp>
        <p:nvSpPr>
          <p:cNvPr id="13" name="Shape 11"/>
          <p:cNvSpPr/>
          <p:nvPr/>
        </p:nvSpPr>
        <p:spPr>
          <a:xfrm>
            <a:off x="7389998" y="2286000"/>
            <a:ext cx="2003085" cy="1417320"/>
          </a:xfrm>
          <a:prstGeom prst="roundRect">
            <a:avLst>
              <a:gd name="adj" fmla="val 5161"/>
            </a:avLst>
          </a:prstGeom>
          <a:solidFill>
            <a:srgbClr val="F3F5F8"/>
          </a:solidFill>
          <a:ln/>
        </p:spPr>
      </p:sp>
      <p:sp>
        <p:nvSpPr>
          <p:cNvPr id="14" name="Text 12"/>
          <p:cNvSpPr/>
          <p:nvPr/>
        </p:nvSpPr>
        <p:spPr>
          <a:xfrm>
            <a:off x="7463150" y="2286000"/>
            <a:ext cx="1856781" cy="1417320"/>
          </a:xfrm>
          <a:prstGeom prst="rect">
            <a:avLst/>
          </a:prstGeom>
          <a:noFill/>
          <a:ln/>
        </p:spPr>
        <p:txBody>
          <a:bodyPr wrap="square" rtlCol="0" anchor="ctr"/>
          <a:lstStyle/>
          <a:p>
            <a:pPr marL="0" indent="0" algn="ctr">
              <a:lnSpc>
                <a:spcPts val="1840"/>
              </a:lnSpc>
              <a:buNone/>
            </a:pPr>
            <a:r>
              <a:rPr lang="en-US" sz="1600" b="1" dirty="0">
                <a:solidFill>
                  <a:srgbClr val="0B1E3D"/>
                </a:solidFill>
                <a:latin typeface="Calibri" pitchFamily="34" charset="0"/>
                <a:ea typeface="Calibri" pitchFamily="34" charset="-122"/>
                <a:cs typeface="Calibri" pitchFamily="34" charset="-120"/>
              </a:rPr>
              <a:t>Utility-Based</a:t>
            </a:r>
            <a:endParaRPr lang="en-US" sz="1600" dirty="0"/>
          </a:p>
          <a:p>
            <a:pPr marL="0" indent="0" algn="ctr">
              <a:lnSpc>
                <a:spcPts val="1840"/>
              </a:lnSpc>
              <a:buNone/>
            </a:pPr>
            <a:r>
              <a:rPr lang="en-US" sz="1500" i="1" dirty="0">
                <a:solidFill>
                  <a:srgbClr val="5A6478"/>
                </a:solidFill>
                <a:latin typeface="Calibri" pitchFamily="34" charset="0"/>
                <a:ea typeface="Calibri" pitchFamily="34" charset="-122"/>
                <a:cs typeface="Calibri" pitchFamily="34" charset="-120"/>
              </a:rPr>
              <a:t>weighs outcome quality</a:t>
            </a:r>
            <a:endParaRPr lang="en-US" sz="1600" dirty="0"/>
          </a:p>
        </p:txBody>
      </p:sp>
      <p:sp>
        <p:nvSpPr>
          <p:cNvPr id="15" name="Text 13"/>
          <p:cNvSpPr/>
          <p:nvPr/>
        </p:nvSpPr>
        <p:spPr>
          <a:xfrm>
            <a:off x="9393083" y="2286000"/>
            <a:ext cx="292608" cy="1417320"/>
          </a:xfrm>
          <a:prstGeom prst="rect">
            <a:avLst/>
          </a:prstGeom>
          <a:noFill/>
          <a:ln/>
        </p:spPr>
        <p:txBody>
          <a:bodyPr wrap="square" rtlCol="0" anchor="ctr"/>
          <a:lstStyle/>
          <a:p>
            <a:pPr marL="0" indent="0" algn="ctr">
              <a:buNone/>
            </a:pPr>
            <a:r>
              <a:rPr lang="en-US" sz="2400" b="1" dirty="0">
                <a:solidFill>
                  <a:srgbClr val="0B1E3D"/>
                </a:solidFill>
                <a:latin typeface="Calibri" pitchFamily="34" charset="0"/>
                <a:ea typeface="Calibri" pitchFamily="34" charset="-122"/>
                <a:cs typeface="Calibri" pitchFamily="34" charset="-120"/>
              </a:rPr>
              <a:t>→</a:t>
            </a:r>
            <a:endParaRPr lang="en-US" sz="2400" dirty="0"/>
          </a:p>
        </p:txBody>
      </p:sp>
      <p:sp>
        <p:nvSpPr>
          <p:cNvPr id="16" name="Shape 14"/>
          <p:cNvSpPr/>
          <p:nvPr/>
        </p:nvSpPr>
        <p:spPr>
          <a:xfrm>
            <a:off x="9685691" y="2286000"/>
            <a:ext cx="2003085" cy="1417320"/>
          </a:xfrm>
          <a:prstGeom prst="roundRect">
            <a:avLst>
              <a:gd name="adj" fmla="val 5161"/>
            </a:avLst>
          </a:prstGeom>
          <a:solidFill>
            <a:srgbClr val="F3F5F8"/>
          </a:solidFill>
          <a:ln/>
        </p:spPr>
      </p:sp>
      <p:sp>
        <p:nvSpPr>
          <p:cNvPr id="17" name="Text 15"/>
          <p:cNvSpPr/>
          <p:nvPr/>
        </p:nvSpPr>
        <p:spPr>
          <a:xfrm>
            <a:off x="9758843" y="2286000"/>
            <a:ext cx="1856781" cy="1417320"/>
          </a:xfrm>
          <a:prstGeom prst="rect">
            <a:avLst/>
          </a:prstGeom>
          <a:noFill/>
          <a:ln/>
        </p:spPr>
        <p:txBody>
          <a:bodyPr wrap="square" rtlCol="0" anchor="ctr"/>
          <a:lstStyle/>
          <a:p>
            <a:pPr marL="0" indent="0" algn="ctr">
              <a:lnSpc>
                <a:spcPts val="1840"/>
              </a:lnSpc>
              <a:buNone/>
            </a:pPr>
            <a:r>
              <a:rPr lang="en-US" sz="1600" b="1" dirty="0">
                <a:solidFill>
                  <a:srgbClr val="0B1E3D"/>
                </a:solidFill>
                <a:latin typeface="Calibri" pitchFamily="34" charset="0"/>
                <a:ea typeface="Calibri" pitchFamily="34" charset="-122"/>
                <a:cs typeface="Calibri" pitchFamily="34" charset="-120"/>
              </a:rPr>
              <a:t>Learning</a:t>
            </a:r>
            <a:endParaRPr lang="en-US" sz="1600" dirty="0"/>
          </a:p>
          <a:p>
            <a:pPr marL="0" indent="0" algn="ctr">
              <a:lnSpc>
                <a:spcPts val="1840"/>
              </a:lnSpc>
              <a:buNone/>
            </a:pPr>
            <a:r>
              <a:rPr lang="en-US" sz="1500" i="1" dirty="0">
                <a:solidFill>
                  <a:srgbClr val="5A6478"/>
                </a:solidFill>
                <a:latin typeface="Calibri" pitchFamily="34" charset="0"/>
                <a:ea typeface="Calibri" pitchFamily="34" charset="-122"/>
                <a:cs typeface="Calibri" pitchFamily="34" charset="-120"/>
              </a:rPr>
              <a:t>improves with experience</a:t>
            </a:r>
            <a:endParaRPr lang="en-US" sz="1600" dirty="0"/>
          </a:p>
        </p:txBody>
      </p:sp>
      <p:sp>
        <p:nvSpPr>
          <p:cNvPr id="18" name="Shape 16"/>
          <p:cNvSpPr/>
          <p:nvPr/>
        </p:nvSpPr>
        <p:spPr>
          <a:xfrm>
            <a:off x="502920" y="3931920"/>
            <a:ext cx="11185855" cy="868680"/>
          </a:xfrm>
          <a:prstGeom prst="roundRect">
            <a:avLst>
              <a:gd name="adj" fmla="val 8421"/>
            </a:avLst>
          </a:prstGeom>
          <a:solidFill>
            <a:srgbClr val="F3F5F8"/>
          </a:solidFill>
          <a:ln w="12700">
            <a:solidFill>
              <a:srgbClr val="D8DCE3"/>
            </a:solidFill>
            <a:prstDash val="solid"/>
          </a:ln>
        </p:spPr>
      </p:sp>
      <p:sp>
        <p:nvSpPr>
          <p:cNvPr id="19" name="Text 17"/>
          <p:cNvSpPr/>
          <p:nvPr/>
        </p:nvSpPr>
        <p:spPr>
          <a:xfrm>
            <a:off x="777240" y="3931920"/>
            <a:ext cx="10637215" cy="868680"/>
          </a:xfrm>
          <a:prstGeom prst="rect">
            <a:avLst/>
          </a:prstGeom>
          <a:noFill/>
          <a:ln/>
        </p:spPr>
        <p:txBody>
          <a:bodyPr wrap="square" rtlCol="0" anchor="ctr"/>
          <a:lstStyle/>
          <a:p>
            <a:pPr marL="0" indent="0">
              <a:lnSpc>
                <a:spcPts val="2760"/>
              </a:lnSpc>
              <a:buNone/>
            </a:pPr>
            <a:r>
              <a:rPr lang="en-US" sz="2300" b="1" dirty="0">
                <a:solidFill>
                  <a:srgbClr val="9B3A3A"/>
                </a:solidFill>
                <a:latin typeface="Calibri" pitchFamily="34" charset="0"/>
                <a:ea typeface="Calibri" pitchFamily="34" charset="-122"/>
                <a:cs typeface="Calibri" pitchFamily="34" charset="-120"/>
              </a:rPr>
              <a:t>Important:  </a:t>
            </a:r>
            <a:r>
              <a:rPr lang="en-US" sz="2300" dirty="0">
                <a:solidFill>
                  <a:srgbClr val="1A1F2B"/>
                </a:solidFill>
                <a:latin typeface="Calibri" pitchFamily="34" charset="0"/>
                <a:ea typeface="Calibri" pitchFamily="34" charset="-122"/>
                <a:cs typeface="Calibri" pitchFamily="34" charset="-120"/>
              </a:rPr>
              <a:t>increasing sophistication does NOT mean “always better.” The right agent type depends on the task, not on how advanced it sounds.</a:t>
            </a:r>
            <a:endParaRPr lang="en-US" sz="2300" dirty="0"/>
          </a:p>
        </p:txBody>
      </p:sp>
      <p:sp>
        <p:nvSpPr>
          <p:cNvPr id="20" name="Text 18"/>
          <p:cNvSpPr/>
          <p:nvPr/>
        </p:nvSpPr>
        <p:spPr>
          <a:xfrm>
            <a:off x="502920" y="5029200"/>
            <a:ext cx="11185855" cy="1005840"/>
          </a:xfrm>
          <a:prstGeom prst="rect">
            <a:avLst/>
          </a:prstGeom>
          <a:noFill/>
          <a:ln/>
        </p:spPr>
        <p:txBody>
          <a:bodyPr wrap="square" rtlCol="0" anchor="ctr"/>
          <a:lstStyle/>
          <a:p>
            <a:pPr marL="0" indent="0">
              <a:lnSpc>
                <a:spcPts val="2470"/>
              </a:lnSpc>
              <a:buNone/>
            </a:pPr>
            <a:r>
              <a:rPr lang="en-US" sz="1900" b="1" dirty="0">
                <a:solidFill>
                  <a:srgbClr val="0B1E3D"/>
                </a:solidFill>
                <a:latin typeface="Calibri" pitchFamily="34" charset="0"/>
                <a:ea typeface="Calibri" pitchFamily="34" charset="-122"/>
                <a:cs typeface="Calibri" pitchFamily="34" charset="-120"/>
              </a:rPr>
              <a:t>Example:  </a:t>
            </a:r>
            <a:r>
              <a:rPr lang="en-US" sz="1900" dirty="0">
                <a:solidFill>
                  <a:srgbClr val="1A1F2B"/>
                </a:solidFill>
                <a:latin typeface="Calibri" pitchFamily="34" charset="0"/>
                <a:ea typeface="Calibri" pitchFamily="34" charset="-122"/>
                <a:cs typeface="Calibri" pitchFamily="34" charset="-120"/>
              </a:rPr>
              <a:t>a basic thermostat (simple reflex) does its one job perfectly well — building a learning agent to control it would be needless complexity and cost.</a:t>
            </a:r>
            <a:endParaRPr lang="en-US" sz="1900" dirty="0"/>
          </a:p>
        </p:txBody>
      </p:sp>
      <p:sp>
        <p:nvSpPr>
          <p:cNvPr id="21" name="Text 19"/>
          <p:cNvSpPr/>
          <p:nvPr/>
        </p:nvSpPr>
        <p:spPr>
          <a:xfrm>
            <a:off x="502920" y="6446520"/>
            <a:ext cx="8229600" cy="320040"/>
          </a:xfrm>
          <a:prstGeom prst="rect">
            <a:avLst/>
          </a:prstGeom>
          <a:noFill/>
          <a:ln/>
        </p:spPr>
        <p:txBody>
          <a:bodyPr wrap="square" rtlCol="0" anchor="ctr"/>
          <a:lstStyle/>
          <a:p>
            <a:pPr marL="0" indent="0">
              <a:buNone/>
            </a:pPr>
            <a:r>
              <a:rPr lang="en-US" sz="1400" i="1" dirty="0">
                <a:solidFill>
                  <a:srgbClr val="5A6478"/>
                </a:solidFill>
                <a:latin typeface="Calibri" pitchFamily="34" charset="0"/>
                <a:ea typeface="Calibri" pitchFamily="34" charset="-122"/>
                <a:cs typeface="Calibri" pitchFamily="34" charset="-120"/>
              </a:rPr>
              <a:t>AI — Intelligent Agents  |  E. Types of Intelligent Agents</a:t>
            </a:r>
            <a:endParaRPr lang="en-US" sz="1400" dirty="0"/>
          </a:p>
        </p:txBody>
      </p:sp>
      <p:sp>
        <p:nvSpPr>
          <p:cNvPr id="22" name="Text 20"/>
          <p:cNvSpPr/>
          <p:nvPr/>
        </p:nvSpPr>
        <p:spPr>
          <a:xfrm>
            <a:off x="10500055" y="6446520"/>
            <a:ext cx="1188720" cy="320040"/>
          </a:xfrm>
          <a:prstGeom prst="rect">
            <a:avLst/>
          </a:prstGeom>
          <a:noFill/>
          <a:ln/>
        </p:spPr>
        <p:txBody>
          <a:bodyPr wrap="square" rtlCol="0" anchor="ctr"/>
          <a:lstStyle/>
          <a:p>
            <a:pPr marL="0" indent="0" algn="r">
              <a:buNone/>
            </a:pPr>
            <a:r>
              <a:rPr lang="en-US" sz="1400" dirty="0">
                <a:solidFill>
                  <a:srgbClr val="5A6478"/>
                </a:solidFill>
                <a:latin typeface="Calibri" pitchFamily="34" charset="0"/>
                <a:ea typeface="Calibri" pitchFamily="34" charset="-122"/>
                <a:cs typeface="Calibri" pitchFamily="34" charset="-120"/>
              </a:rPr>
              <a:t>22 / 40</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85855" cy="347472"/>
          </a:xfrm>
          <a:prstGeom prst="rect">
            <a:avLst/>
          </a:prstGeom>
          <a:noFill/>
          <a:ln/>
        </p:spPr>
        <p:txBody>
          <a:bodyPr wrap="square" rtlCol="0" anchor="ctr"/>
          <a:lstStyle/>
          <a:p>
            <a:pPr marL="0" indent="0">
              <a:buNone/>
            </a:pPr>
            <a:r>
              <a:rPr lang="en-US" sz="1500" b="1" kern="0" spc="150" dirty="0">
                <a:solidFill>
                  <a:srgbClr val="B08D57"/>
                </a:solidFill>
                <a:latin typeface="Calibri" pitchFamily="34" charset="0"/>
                <a:ea typeface="Calibri" pitchFamily="34" charset="-122"/>
                <a:cs typeface="Calibri" pitchFamily="34" charset="-120"/>
              </a:rPr>
              <a:t>E. TYPES OF INTELLIGENT AGENTS</a:t>
            </a:r>
            <a:endParaRPr lang="en-US" sz="1500" dirty="0"/>
          </a:p>
        </p:txBody>
      </p:sp>
      <p:sp>
        <p:nvSpPr>
          <p:cNvPr id="3" name="Text 1"/>
          <p:cNvSpPr txBox="1"/>
          <p:nvPr/>
        </p:nvSpPr>
        <p:spPr>
          <a:xfrm>
            <a:off x="502920" y="676656"/>
            <a:ext cx="11185855" cy="1417320"/>
          </a:xfrm>
          <a:prstGeom prst="rect">
            <a:avLst/>
          </a:prstGeom>
          <a:noFill/>
          <a:ln/>
        </p:spPr>
        <p:txBody>
          <a:bodyPr wrap="square" rtlCol="0" anchor="t"/>
          <a:lstStyle/>
          <a:p>
            <a:pPr marL="0" indent="0">
              <a:lnSpc>
                <a:spcPts val="3584"/>
              </a:lnSpc>
              <a:buNone/>
            </a:pPr>
            <a:r>
              <a:rPr lang="en-US" sz="3200" b="1" dirty="0">
                <a:solidFill>
                  <a:srgbClr val="0B1E3D"/>
                </a:solidFill>
                <a:latin typeface="Cambria" pitchFamily="34" charset="0"/>
                <a:ea typeface="Cambria" pitchFamily="34" charset="-122"/>
                <a:cs typeface="Cambria" pitchFamily="34" charset="-120"/>
              </a:rPr>
              <a:t>Simple Reflex Agents</a:t>
            </a:r>
            <a:endParaRPr lang="en-US" sz="3200" dirty="0"/>
          </a:p>
        </p:txBody>
      </p:sp>
      <p:sp>
        <p:nvSpPr>
          <p:cNvPr id="4" name="Shape 2"/>
          <p:cNvSpPr/>
          <p:nvPr/>
        </p:nvSpPr>
        <p:spPr>
          <a:xfrm>
            <a:off x="502920" y="1828800"/>
            <a:ext cx="11185855" cy="1463040"/>
          </a:xfrm>
          <a:prstGeom prst="roundRect">
            <a:avLst>
              <a:gd name="adj" fmla="val 4375"/>
            </a:avLst>
          </a:prstGeom>
          <a:solidFill>
            <a:srgbClr val="0B1E3D"/>
          </a:solidFill>
          <a:ln/>
        </p:spPr>
      </p:sp>
      <p:sp>
        <p:nvSpPr>
          <p:cNvPr id="5" name="Text 3"/>
          <p:cNvSpPr/>
          <p:nvPr/>
        </p:nvSpPr>
        <p:spPr>
          <a:xfrm>
            <a:off x="777240" y="1965960"/>
            <a:ext cx="10637215" cy="411480"/>
          </a:xfrm>
          <a:prstGeom prst="rect">
            <a:avLst/>
          </a:prstGeom>
          <a:noFill/>
          <a:ln/>
        </p:spPr>
        <p:txBody>
          <a:bodyPr wrap="square" rtlCol="0" anchor="ctr"/>
          <a:lstStyle/>
          <a:p>
            <a:pPr marL="0" indent="0">
              <a:buNone/>
            </a:pPr>
            <a:r>
              <a:rPr lang="en-US" sz="1900" b="1" dirty="0">
                <a:solidFill>
                  <a:srgbClr val="B08D57"/>
                </a:solidFill>
                <a:latin typeface="Cambria" pitchFamily="34" charset="0"/>
                <a:ea typeface="Cambria" pitchFamily="34" charset="-122"/>
                <a:cs typeface="Cambria" pitchFamily="34" charset="-120"/>
              </a:rPr>
              <a:t>Definition</a:t>
            </a:r>
            <a:endParaRPr lang="en-US" sz="1900" dirty="0"/>
          </a:p>
        </p:txBody>
      </p:sp>
      <p:sp>
        <p:nvSpPr>
          <p:cNvPr id="6" name="Text 4"/>
          <p:cNvSpPr/>
          <p:nvPr/>
        </p:nvSpPr>
        <p:spPr>
          <a:xfrm>
            <a:off x="777240" y="2450592"/>
            <a:ext cx="10637215" cy="841248"/>
          </a:xfrm>
          <a:prstGeom prst="rect">
            <a:avLst/>
          </a:prstGeom>
          <a:noFill/>
          <a:ln/>
        </p:spPr>
        <p:txBody>
          <a:bodyPr wrap="square" rtlCol="0" anchor="t"/>
          <a:lstStyle/>
          <a:p>
            <a:pPr marL="0" indent="0">
              <a:lnSpc>
                <a:spcPts val="2645"/>
              </a:lnSpc>
              <a:buNone/>
            </a:pPr>
            <a:r>
              <a:rPr lang="en-US" sz="2300" dirty="0">
                <a:solidFill>
                  <a:srgbClr val="E7EBF3"/>
                </a:solidFill>
                <a:latin typeface="Calibri" pitchFamily="34" charset="0"/>
                <a:ea typeface="Calibri" pitchFamily="34" charset="-122"/>
                <a:cs typeface="Calibri" pitchFamily="34" charset="-120"/>
              </a:rPr>
              <a:t>A simple reflex agent selects its action based only on the CURRENT percept — it has no memory of anything sensed before.</a:t>
            </a:r>
            <a:endParaRPr lang="en-US" sz="2300" dirty="0"/>
          </a:p>
        </p:txBody>
      </p:sp>
      <p:sp>
        <p:nvSpPr>
          <p:cNvPr id="7" name="Shape 5"/>
          <p:cNvSpPr/>
          <p:nvPr/>
        </p:nvSpPr>
        <p:spPr>
          <a:xfrm>
            <a:off x="502920" y="3429000"/>
            <a:ext cx="3423818" cy="777240"/>
          </a:xfrm>
          <a:prstGeom prst="roundRect">
            <a:avLst>
              <a:gd name="adj" fmla="val 9412"/>
            </a:avLst>
          </a:prstGeom>
          <a:solidFill>
            <a:srgbClr val="F3F5F8"/>
          </a:solidFill>
          <a:ln/>
        </p:spPr>
      </p:sp>
      <p:sp>
        <p:nvSpPr>
          <p:cNvPr id="8" name="Text 6"/>
          <p:cNvSpPr/>
          <p:nvPr/>
        </p:nvSpPr>
        <p:spPr>
          <a:xfrm>
            <a:off x="576072" y="3429000"/>
            <a:ext cx="3277514" cy="777240"/>
          </a:xfrm>
          <a:prstGeom prst="rect">
            <a:avLst/>
          </a:prstGeom>
          <a:noFill/>
          <a:ln/>
        </p:spPr>
        <p:txBody>
          <a:bodyPr wrap="square" rtlCol="0" anchor="ctr"/>
          <a:lstStyle/>
          <a:p>
            <a:pPr marL="0" indent="0" algn="ctr">
              <a:lnSpc>
                <a:spcPts val="1840"/>
              </a:lnSpc>
              <a:buNone/>
            </a:pPr>
            <a:r>
              <a:rPr lang="en-US" sz="1600" b="1" dirty="0">
                <a:solidFill>
                  <a:srgbClr val="0B1E3D"/>
                </a:solidFill>
                <a:latin typeface="Calibri" pitchFamily="34" charset="0"/>
                <a:ea typeface="Calibri" pitchFamily="34" charset="-122"/>
                <a:cs typeface="Calibri" pitchFamily="34" charset="-120"/>
              </a:rPr>
              <a:t>Current Percept</a:t>
            </a:r>
            <a:endParaRPr lang="en-US" sz="1600" dirty="0"/>
          </a:p>
        </p:txBody>
      </p:sp>
      <p:sp>
        <p:nvSpPr>
          <p:cNvPr id="9" name="Text 7"/>
          <p:cNvSpPr/>
          <p:nvPr/>
        </p:nvSpPr>
        <p:spPr>
          <a:xfrm>
            <a:off x="3926738" y="3429000"/>
            <a:ext cx="457200" cy="777240"/>
          </a:xfrm>
          <a:prstGeom prst="rect">
            <a:avLst/>
          </a:prstGeom>
          <a:noFill/>
          <a:ln/>
        </p:spPr>
        <p:txBody>
          <a:bodyPr wrap="square" rtlCol="0" anchor="ctr"/>
          <a:lstStyle/>
          <a:p>
            <a:pPr marL="0" indent="0" algn="ctr">
              <a:buNone/>
            </a:pPr>
            <a:r>
              <a:rPr lang="en-US" sz="2400" b="1" dirty="0">
                <a:solidFill>
                  <a:srgbClr val="0B1E3D"/>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4383938" y="3429000"/>
            <a:ext cx="3423818" cy="777240"/>
          </a:xfrm>
          <a:prstGeom prst="roundRect">
            <a:avLst>
              <a:gd name="adj" fmla="val 9412"/>
            </a:avLst>
          </a:prstGeom>
          <a:solidFill>
            <a:srgbClr val="F3F5F8"/>
          </a:solidFill>
          <a:ln/>
        </p:spPr>
      </p:sp>
      <p:sp>
        <p:nvSpPr>
          <p:cNvPr id="11" name="Text 9"/>
          <p:cNvSpPr/>
          <p:nvPr/>
        </p:nvSpPr>
        <p:spPr>
          <a:xfrm>
            <a:off x="4457090" y="3429000"/>
            <a:ext cx="3277514" cy="777240"/>
          </a:xfrm>
          <a:prstGeom prst="rect">
            <a:avLst/>
          </a:prstGeom>
          <a:noFill/>
          <a:ln/>
        </p:spPr>
        <p:txBody>
          <a:bodyPr wrap="square" rtlCol="0" anchor="ctr"/>
          <a:lstStyle/>
          <a:p>
            <a:pPr marL="0" indent="0" algn="ctr">
              <a:lnSpc>
                <a:spcPts val="1840"/>
              </a:lnSpc>
              <a:buNone/>
            </a:pPr>
            <a:r>
              <a:rPr lang="en-US" sz="1600" b="1" dirty="0">
                <a:solidFill>
                  <a:srgbClr val="0B1E3D"/>
                </a:solidFill>
                <a:latin typeface="Calibri" pitchFamily="34" charset="0"/>
                <a:ea typeface="Calibri" pitchFamily="34" charset="-122"/>
                <a:cs typeface="Calibri" pitchFamily="34" charset="-120"/>
              </a:rPr>
              <a:t>Condition</a:t>
            </a:r>
            <a:endParaRPr lang="en-US" sz="1600" dirty="0"/>
          </a:p>
        </p:txBody>
      </p:sp>
      <p:sp>
        <p:nvSpPr>
          <p:cNvPr id="12" name="Text 10"/>
          <p:cNvSpPr/>
          <p:nvPr/>
        </p:nvSpPr>
        <p:spPr>
          <a:xfrm>
            <a:off x="7807757" y="3429000"/>
            <a:ext cx="457200" cy="777240"/>
          </a:xfrm>
          <a:prstGeom prst="rect">
            <a:avLst/>
          </a:prstGeom>
          <a:noFill/>
          <a:ln/>
        </p:spPr>
        <p:txBody>
          <a:bodyPr wrap="square" rtlCol="0" anchor="ctr"/>
          <a:lstStyle/>
          <a:p>
            <a:pPr marL="0" indent="0" algn="ctr">
              <a:buNone/>
            </a:pPr>
            <a:r>
              <a:rPr lang="en-US" sz="2400" b="1" dirty="0">
                <a:solidFill>
                  <a:srgbClr val="0B1E3D"/>
                </a:solidFill>
                <a:latin typeface="Calibri" pitchFamily="34" charset="0"/>
                <a:ea typeface="Calibri" pitchFamily="34" charset="-122"/>
                <a:cs typeface="Calibri" pitchFamily="34" charset="-120"/>
              </a:rPr>
              <a:t>→</a:t>
            </a:r>
            <a:endParaRPr lang="en-US" sz="2400" dirty="0"/>
          </a:p>
        </p:txBody>
      </p:sp>
      <p:sp>
        <p:nvSpPr>
          <p:cNvPr id="13" name="Shape 11"/>
          <p:cNvSpPr/>
          <p:nvPr/>
        </p:nvSpPr>
        <p:spPr>
          <a:xfrm>
            <a:off x="8264957" y="3429000"/>
            <a:ext cx="3423818" cy="777240"/>
          </a:xfrm>
          <a:prstGeom prst="roundRect">
            <a:avLst>
              <a:gd name="adj" fmla="val 9412"/>
            </a:avLst>
          </a:prstGeom>
          <a:solidFill>
            <a:srgbClr val="F3F5F8"/>
          </a:solidFill>
          <a:ln/>
        </p:spPr>
      </p:sp>
      <p:sp>
        <p:nvSpPr>
          <p:cNvPr id="14" name="Text 12"/>
          <p:cNvSpPr/>
          <p:nvPr/>
        </p:nvSpPr>
        <p:spPr>
          <a:xfrm>
            <a:off x="8338109" y="3429000"/>
            <a:ext cx="3277514" cy="777240"/>
          </a:xfrm>
          <a:prstGeom prst="rect">
            <a:avLst/>
          </a:prstGeom>
          <a:noFill/>
          <a:ln/>
        </p:spPr>
        <p:txBody>
          <a:bodyPr wrap="square" rtlCol="0" anchor="ctr"/>
          <a:lstStyle/>
          <a:p>
            <a:pPr marL="0" indent="0" algn="ctr">
              <a:lnSpc>
                <a:spcPts val="1840"/>
              </a:lnSpc>
              <a:buNone/>
            </a:pPr>
            <a:r>
              <a:rPr lang="en-US" sz="1600" b="1" dirty="0">
                <a:solidFill>
                  <a:srgbClr val="0B1E3D"/>
                </a:solidFill>
                <a:latin typeface="Calibri" pitchFamily="34" charset="0"/>
                <a:ea typeface="Calibri" pitchFamily="34" charset="-122"/>
                <a:cs typeface="Calibri" pitchFamily="34" charset="-120"/>
              </a:rPr>
              <a:t>Action</a:t>
            </a:r>
            <a:endParaRPr lang="en-US" sz="1600" dirty="0"/>
          </a:p>
        </p:txBody>
      </p:sp>
      <p:sp>
        <p:nvSpPr>
          <p:cNvPr id="15" name="Shape 13"/>
          <p:cNvSpPr/>
          <p:nvPr/>
        </p:nvSpPr>
        <p:spPr>
          <a:xfrm>
            <a:off x="502920" y="4343400"/>
            <a:ext cx="11185855" cy="457200"/>
          </a:xfrm>
          <a:prstGeom prst="roundRect">
            <a:avLst>
              <a:gd name="adj" fmla="val 16000"/>
            </a:avLst>
          </a:prstGeom>
          <a:solidFill>
            <a:srgbClr val="F3F5F8"/>
          </a:solidFill>
          <a:ln w="12700">
            <a:solidFill>
              <a:srgbClr val="D8DCE3"/>
            </a:solidFill>
            <a:prstDash val="solid"/>
          </a:ln>
        </p:spPr>
      </p:sp>
      <p:sp>
        <p:nvSpPr>
          <p:cNvPr id="16" name="Text 14"/>
          <p:cNvSpPr/>
          <p:nvPr/>
        </p:nvSpPr>
        <p:spPr>
          <a:xfrm>
            <a:off x="731520" y="4343400"/>
            <a:ext cx="10728655" cy="457200"/>
          </a:xfrm>
          <a:prstGeom prst="rect">
            <a:avLst/>
          </a:prstGeom>
          <a:noFill/>
          <a:ln/>
        </p:spPr>
        <p:txBody>
          <a:bodyPr wrap="square" rtlCol="0" anchor="ctr"/>
          <a:lstStyle/>
          <a:p>
            <a:pPr marL="0" indent="0">
              <a:buNone/>
            </a:pPr>
            <a:r>
              <a:rPr lang="en-US" sz="1700" b="1" dirty="0">
                <a:solidFill>
                  <a:srgbClr val="0B1E3D"/>
                </a:solidFill>
              </a:rPr>
              <a:t>Rule:  </a:t>
            </a:r>
            <a:r>
              <a:rPr lang="en-US" sz="1600" dirty="0">
                <a:solidFill>
                  <a:srgbClr val="1A1F2B"/>
                </a:solidFill>
                <a:latin typeface="Courier New" pitchFamily="34" charset="0"/>
                <a:ea typeface="Courier New" pitchFamily="34" charset="-122"/>
                <a:cs typeface="Courier New" pitchFamily="34" charset="-120"/>
              </a:rPr>
              <a:t>IF temperature &lt; threshold THEN heater = ON</a:t>
            </a:r>
            <a:endParaRPr lang="en-US" sz="1700" dirty="0"/>
          </a:p>
        </p:txBody>
      </p:sp>
      <p:sp>
        <p:nvSpPr>
          <p:cNvPr id="17" name="Text 15"/>
          <p:cNvSpPr/>
          <p:nvPr/>
        </p:nvSpPr>
        <p:spPr>
          <a:xfrm>
            <a:off x="502920" y="4937760"/>
            <a:ext cx="11185855" cy="548640"/>
          </a:xfrm>
          <a:prstGeom prst="rect">
            <a:avLst/>
          </a:prstGeom>
          <a:noFill/>
          <a:ln/>
        </p:spPr>
        <p:txBody>
          <a:bodyPr wrap="square" rtlCol="0" anchor="ctr"/>
          <a:lstStyle/>
          <a:p>
            <a:pPr marL="0" indent="0">
              <a:lnSpc>
                <a:spcPts val="2250"/>
              </a:lnSpc>
              <a:buNone/>
            </a:pPr>
            <a:r>
              <a:rPr lang="en-US" sz="1800" b="1" dirty="0">
                <a:solidFill>
                  <a:srgbClr val="0B1E3D"/>
                </a:solidFill>
                <a:latin typeface="Calibri" pitchFamily="34" charset="0"/>
                <a:ea typeface="Calibri" pitchFamily="34" charset="-122"/>
                <a:cs typeface="Calibri" pitchFamily="34" charset="-120"/>
              </a:rPr>
              <a:t>Real-life examples:  </a:t>
            </a:r>
            <a:r>
              <a:rPr lang="en-US" sz="1800" dirty="0">
                <a:solidFill>
                  <a:srgbClr val="1A1F2B"/>
                </a:solidFill>
                <a:latin typeface="Calibri" pitchFamily="34" charset="0"/>
                <a:ea typeface="Calibri" pitchFamily="34" charset="-122"/>
                <a:cs typeface="Calibri" pitchFamily="34" charset="-120"/>
              </a:rPr>
              <a:t>basic thermostats, automatic doors, motion-triggered lights, basic obstacle avoidance.</a:t>
            </a:r>
            <a:endParaRPr lang="en-US" sz="1800" dirty="0"/>
          </a:p>
        </p:txBody>
      </p:sp>
      <p:sp>
        <p:nvSpPr>
          <p:cNvPr id="18" name="Text 16"/>
          <p:cNvSpPr/>
          <p:nvPr/>
        </p:nvSpPr>
        <p:spPr>
          <a:xfrm>
            <a:off x="502920" y="5577840"/>
            <a:ext cx="11185855" cy="685800"/>
          </a:xfrm>
          <a:prstGeom prst="rect">
            <a:avLst/>
          </a:prstGeom>
          <a:noFill/>
          <a:ln/>
        </p:spPr>
        <p:txBody>
          <a:bodyPr wrap="square" rtlCol="0" anchor="ctr"/>
          <a:lstStyle/>
          <a:p>
            <a:pPr marL="0" indent="0">
              <a:lnSpc>
                <a:spcPts val="2250"/>
              </a:lnSpc>
              <a:buNone/>
            </a:pPr>
            <a:r>
              <a:rPr lang="en-US" sz="1800" b="1" dirty="0">
                <a:solidFill>
                  <a:srgbClr val="2E7D5B"/>
                </a:solidFill>
                <a:latin typeface="Calibri" pitchFamily="34" charset="0"/>
                <a:ea typeface="Calibri" pitchFamily="34" charset="-122"/>
                <a:cs typeface="Calibri" pitchFamily="34" charset="-120"/>
              </a:rPr>
              <a:t>Strength:  </a:t>
            </a:r>
            <a:r>
              <a:rPr lang="en-US" sz="1800" dirty="0">
                <a:solidFill>
                  <a:srgbClr val="1A1F2B"/>
                </a:solidFill>
                <a:latin typeface="Calibri" pitchFamily="34" charset="0"/>
                <a:ea typeface="Calibri" pitchFamily="34" charset="-122"/>
                <a:cs typeface="Calibri" pitchFamily="34" charset="-120"/>
              </a:rPr>
              <a:t>fast, cheap, and simple to build.   </a:t>
            </a:r>
            <a:r>
              <a:rPr lang="en-US" sz="1800" b="1" dirty="0">
                <a:solidFill>
                  <a:srgbClr val="9B3A3A"/>
                </a:solidFill>
                <a:latin typeface="Calibri" pitchFamily="34" charset="0"/>
                <a:ea typeface="Calibri" pitchFamily="34" charset="-122"/>
                <a:cs typeface="Calibri" pitchFamily="34" charset="-120"/>
              </a:rPr>
              <a:t>Limitation:  </a:t>
            </a:r>
            <a:r>
              <a:rPr lang="en-US" sz="1800" dirty="0">
                <a:solidFill>
                  <a:srgbClr val="1A1F2B"/>
                </a:solidFill>
                <a:latin typeface="Calibri" pitchFamily="34" charset="0"/>
                <a:ea typeface="Calibri" pitchFamily="34" charset="-122"/>
                <a:cs typeface="Calibri" pitchFamily="34" charset="-120"/>
              </a:rPr>
              <a:t>no memory — struggles when the environment is only partially observable.</a:t>
            </a:r>
            <a:endParaRPr lang="en-US" sz="1800" dirty="0"/>
          </a:p>
        </p:txBody>
      </p:sp>
      <p:sp>
        <p:nvSpPr>
          <p:cNvPr id="19" name="Text 17"/>
          <p:cNvSpPr/>
          <p:nvPr/>
        </p:nvSpPr>
        <p:spPr>
          <a:xfrm>
            <a:off x="502920" y="6446520"/>
            <a:ext cx="8229600" cy="320040"/>
          </a:xfrm>
          <a:prstGeom prst="rect">
            <a:avLst/>
          </a:prstGeom>
          <a:noFill/>
          <a:ln/>
        </p:spPr>
        <p:txBody>
          <a:bodyPr wrap="square" rtlCol="0" anchor="ctr"/>
          <a:lstStyle/>
          <a:p>
            <a:pPr marL="0" indent="0">
              <a:buNone/>
            </a:pPr>
            <a:r>
              <a:rPr lang="en-US" sz="1400" i="1" dirty="0">
                <a:solidFill>
                  <a:srgbClr val="5A6478"/>
                </a:solidFill>
                <a:latin typeface="Calibri" pitchFamily="34" charset="0"/>
                <a:ea typeface="Calibri" pitchFamily="34" charset="-122"/>
                <a:cs typeface="Calibri" pitchFamily="34" charset="-120"/>
              </a:rPr>
              <a:t>AI — Intelligent Agents  |  E. Types of Intelligent Agents</a:t>
            </a:r>
            <a:endParaRPr lang="en-US" sz="1400" dirty="0"/>
          </a:p>
        </p:txBody>
      </p:sp>
      <p:sp>
        <p:nvSpPr>
          <p:cNvPr id="20" name="Text 18"/>
          <p:cNvSpPr/>
          <p:nvPr/>
        </p:nvSpPr>
        <p:spPr>
          <a:xfrm>
            <a:off x="10500055" y="6446520"/>
            <a:ext cx="1188720" cy="320040"/>
          </a:xfrm>
          <a:prstGeom prst="rect">
            <a:avLst/>
          </a:prstGeom>
          <a:noFill/>
          <a:ln/>
        </p:spPr>
        <p:txBody>
          <a:bodyPr wrap="square" rtlCol="0" anchor="ctr"/>
          <a:lstStyle/>
          <a:p>
            <a:pPr marL="0" indent="0" algn="r">
              <a:buNone/>
            </a:pPr>
            <a:r>
              <a:rPr lang="en-US" sz="1400" dirty="0">
                <a:solidFill>
                  <a:srgbClr val="5A6478"/>
                </a:solidFill>
                <a:latin typeface="Calibri" pitchFamily="34" charset="0"/>
                <a:ea typeface="Calibri" pitchFamily="34" charset="-122"/>
                <a:cs typeface="Calibri" pitchFamily="34" charset="-120"/>
              </a:rPr>
              <a:t>23 / 40</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1E3D"/>
        </a:solidFill>
        <a:effectLst/>
      </p:bgPr>
    </p:bg>
    <p:spTree>
      <p:nvGrpSpPr>
        <p:cNvPr id="1" name=""/>
        <p:cNvGrpSpPr/>
        <p:nvPr/>
      </p:nvGrpSpPr>
      <p:grpSpPr>
        <a:xfrm>
          <a:off x="0" y="0"/>
          <a:ext cx="0" cy="0"/>
          <a:chOff x="0" y="0"/>
          <a:chExt cx="0" cy="0"/>
        </a:xfrm>
      </p:grpSpPr>
      <p:sp>
        <p:nvSpPr>
          <p:cNvPr id="2" name="Text 0"/>
          <p:cNvSpPr/>
          <p:nvPr/>
        </p:nvSpPr>
        <p:spPr>
          <a:xfrm>
            <a:off x="502920" y="292608"/>
            <a:ext cx="11185855" cy="347472"/>
          </a:xfrm>
          <a:prstGeom prst="rect">
            <a:avLst/>
          </a:prstGeom>
          <a:noFill/>
          <a:ln/>
        </p:spPr>
        <p:txBody>
          <a:bodyPr wrap="square" rtlCol="0" anchor="ctr"/>
          <a:lstStyle/>
          <a:p>
            <a:pPr marL="0" indent="0">
              <a:buNone/>
            </a:pPr>
            <a:r>
              <a:rPr lang="en-US" sz="1500" b="1" kern="0" spc="150" dirty="0">
                <a:solidFill>
                  <a:srgbClr val="B08D57"/>
                </a:solidFill>
                <a:latin typeface="Calibri" pitchFamily="34" charset="0"/>
                <a:ea typeface="Calibri" pitchFamily="34" charset="-122"/>
                <a:cs typeface="Calibri" pitchFamily="34" charset="-120"/>
              </a:rPr>
              <a:t>E. TYPES OF INTELLIGENT AGENTS</a:t>
            </a:r>
            <a:endParaRPr lang="en-US" sz="1500" dirty="0"/>
          </a:p>
        </p:txBody>
      </p:sp>
      <p:sp>
        <p:nvSpPr>
          <p:cNvPr id="3" name="Text 1"/>
          <p:cNvSpPr txBox="1"/>
          <p:nvPr/>
        </p:nvSpPr>
        <p:spPr>
          <a:xfrm>
            <a:off x="502920" y="676656"/>
            <a:ext cx="11185855" cy="1417320"/>
          </a:xfrm>
          <a:prstGeom prst="rect">
            <a:avLst/>
          </a:prstGeom>
          <a:noFill/>
          <a:ln/>
        </p:spPr>
        <p:txBody>
          <a:bodyPr wrap="square" rtlCol="0" anchor="t"/>
          <a:lstStyle/>
          <a:p>
            <a:pPr marL="0" indent="0">
              <a:lnSpc>
                <a:spcPts val="3136"/>
              </a:lnSpc>
              <a:buNone/>
            </a:pPr>
            <a:r>
              <a:rPr lang="en-US" sz="2800" b="1" dirty="0">
                <a:solidFill>
                  <a:srgbClr val="FFFFFF"/>
                </a:solidFill>
                <a:latin typeface="Cambria" pitchFamily="34" charset="0"/>
                <a:ea typeface="Cambria" pitchFamily="34" charset="-122"/>
                <a:cs typeface="Cambria" pitchFamily="34" charset="-120"/>
              </a:rPr>
              <a:t>Simple Reflex Agent: A Detailed Example</a:t>
            </a:r>
            <a:endParaRPr lang="en-US" sz="2800" dirty="0"/>
          </a:p>
        </p:txBody>
      </p:sp>
      <p:sp>
        <p:nvSpPr>
          <p:cNvPr id="4" name="Shape 2"/>
          <p:cNvSpPr/>
          <p:nvPr/>
        </p:nvSpPr>
        <p:spPr>
          <a:xfrm>
            <a:off x="502920" y="1828800"/>
            <a:ext cx="11185855" cy="685800"/>
          </a:xfrm>
          <a:prstGeom prst="roundRect">
            <a:avLst>
              <a:gd name="adj" fmla="val 9333"/>
            </a:avLst>
          </a:prstGeom>
          <a:solidFill>
            <a:srgbClr val="13294B"/>
          </a:solidFill>
          <a:ln/>
        </p:spPr>
      </p:sp>
      <p:sp>
        <p:nvSpPr>
          <p:cNvPr id="5" name="Text 3"/>
          <p:cNvSpPr/>
          <p:nvPr/>
        </p:nvSpPr>
        <p:spPr>
          <a:xfrm>
            <a:off x="777240" y="1965960"/>
            <a:ext cx="10637215" cy="411480"/>
          </a:xfrm>
          <a:prstGeom prst="rect">
            <a:avLst/>
          </a:prstGeom>
          <a:noFill/>
          <a:ln/>
        </p:spPr>
        <p:txBody>
          <a:bodyPr wrap="square" rtlCol="0" anchor="ctr"/>
          <a:lstStyle/>
          <a:p>
            <a:pPr marL="0" indent="0">
              <a:buNone/>
            </a:pPr>
            <a:r>
              <a:rPr lang="en-US" sz="1900" b="1" dirty="0">
                <a:solidFill>
                  <a:srgbClr val="B08D57"/>
                </a:solidFill>
                <a:latin typeface="Cambria" pitchFamily="34" charset="0"/>
                <a:ea typeface="Cambria" pitchFamily="34" charset="-122"/>
                <a:cs typeface="Cambria" pitchFamily="34" charset="-120"/>
              </a:rPr>
              <a:t>Scenario: an automatic door</a:t>
            </a:r>
            <a:endParaRPr lang="en-US" sz="1900" dirty="0"/>
          </a:p>
        </p:txBody>
      </p:sp>
      <p:sp>
        <p:nvSpPr>
          <p:cNvPr id="6" name="Shape 4"/>
          <p:cNvSpPr/>
          <p:nvPr/>
        </p:nvSpPr>
        <p:spPr>
          <a:xfrm>
            <a:off x="502920" y="2697480"/>
            <a:ext cx="2556434" cy="1051560"/>
          </a:xfrm>
          <a:prstGeom prst="roundRect">
            <a:avLst>
              <a:gd name="adj" fmla="val 6957"/>
            </a:avLst>
          </a:prstGeom>
          <a:solidFill>
            <a:srgbClr val="13294B"/>
          </a:solidFill>
          <a:ln/>
        </p:spPr>
      </p:sp>
      <p:sp>
        <p:nvSpPr>
          <p:cNvPr id="7" name="Text 5"/>
          <p:cNvSpPr/>
          <p:nvPr/>
        </p:nvSpPr>
        <p:spPr>
          <a:xfrm>
            <a:off x="576072" y="2697480"/>
            <a:ext cx="2410130" cy="1051560"/>
          </a:xfrm>
          <a:prstGeom prst="rect">
            <a:avLst/>
          </a:prstGeom>
          <a:noFill/>
          <a:ln/>
        </p:spPr>
        <p:txBody>
          <a:bodyPr wrap="square" rtlCol="0" anchor="ctr"/>
          <a:lstStyle/>
          <a:p>
            <a:pPr marL="0" indent="0" algn="ctr">
              <a:lnSpc>
                <a:spcPts val="1955"/>
              </a:lnSpc>
              <a:buNone/>
            </a:pPr>
            <a:r>
              <a:rPr lang="en-US" sz="1700" b="1" dirty="0">
                <a:solidFill>
                  <a:srgbClr val="FFFFFF"/>
                </a:solidFill>
                <a:latin typeface="Calibri" pitchFamily="34" charset="0"/>
                <a:ea typeface="Calibri" pitchFamily="34" charset="-122"/>
                <a:cs typeface="Calibri" pitchFamily="34" charset="-120"/>
              </a:rPr>
              <a:t>Sensor</a:t>
            </a:r>
            <a:endParaRPr lang="en-US" sz="1700" dirty="0"/>
          </a:p>
          <a:p>
            <a:pPr marL="0" indent="0" algn="ctr">
              <a:lnSpc>
                <a:spcPts val="1955"/>
              </a:lnSpc>
              <a:buNone/>
            </a:pPr>
            <a:r>
              <a:rPr lang="en-US" sz="1500" i="1" dirty="0">
                <a:solidFill>
                  <a:srgbClr val="5A6478"/>
                </a:solidFill>
                <a:latin typeface="Calibri" pitchFamily="34" charset="0"/>
                <a:ea typeface="Calibri" pitchFamily="34" charset="-122"/>
                <a:cs typeface="Calibri" pitchFamily="34" charset="-120"/>
              </a:rPr>
              <a:t>detects motion</a:t>
            </a:r>
            <a:endParaRPr lang="en-US" sz="1700" dirty="0"/>
          </a:p>
        </p:txBody>
      </p:sp>
      <p:sp>
        <p:nvSpPr>
          <p:cNvPr id="8" name="Text 6"/>
          <p:cNvSpPr/>
          <p:nvPr/>
        </p:nvSpPr>
        <p:spPr>
          <a:xfrm>
            <a:off x="3059354" y="2697480"/>
            <a:ext cx="320040" cy="1051560"/>
          </a:xfrm>
          <a:prstGeom prst="rect">
            <a:avLst/>
          </a:prstGeom>
          <a:noFill/>
          <a:ln/>
        </p:spPr>
        <p:txBody>
          <a:bodyPr wrap="square" rtlCol="0" anchor="ctr"/>
          <a:lstStyle/>
          <a:p>
            <a:pPr marL="0" indent="0" algn="ctr">
              <a:buNone/>
            </a:pPr>
            <a:r>
              <a:rPr lang="en-US" sz="2400" b="1" dirty="0">
                <a:solidFill>
                  <a:srgbClr val="B08D57"/>
                </a:solidFill>
                <a:latin typeface="Calibri" pitchFamily="34" charset="0"/>
                <a:ea typeface="Calibri" pitchFamily="34" charset="-122"/>
                <a:cs typeface="Calibri" pitchFamily="34" charset="-120"/>
              </a:rPr>
              <a:t>→</a:t>
            </a:r>
            <a:endParaRPr lang="en-US" sz="2400" dirty="0"/>
          </a:p>
        </p:txBody>
      </p:sp>
      <p:sp>
        <p:nvSpPr>
          <p:cNvPr id="9" name="Shape 7"/>
          <p:cNvSpPr/>
          <p:nvPr/>
        </p:nvSpPr>
        <p:spPr>
          <a:xfrm>
            <a:off x="3379394" y="2697480"/>
            <a:ext cx="2556434" cy="1051560"/>
          </a:xfrm>
          <a:prstGeom prst="roundRect">
            <a:avLst>
              <a:gd name="adj" fmla="val 6957"/>
            </a:avLst>
          </a:prstGeom>
          <a:solidFill>
            <a:srgbClr val="13294B"/>
          </a:solidFill>
          <a:ln/>
        </p:spPr>
      </p:sp>
      <p:sp>
        <p:nvSpPr>
          <p:cNvPr id="10" name="Text 8"/>
          <p:cNvSpPr/>
          <p:nvPr/>
        </p:nvSpPr>
        <p:spPr>
          <a:xfrm>
            <a:off x="3452546" y="2697480"/>
            <a:ext cx="2410130" cy="1051560"/>
          </a:xfrm>
          <a:prstGeom prst="rect">
            <a:avLst/>
          </a:prstGeom>
          <a:noFill/>
          <a:ln/>
        </p:spPr>
        <p:txBody>
          <a:bodyPr wrap="square" rtlCol="0" anchor="ctr"/>
          <a:lstStyle/>
          <a:p>
            <a:pPr marL="0" indent="0" algn="ctr">
              <a:lnSpc>
                <a:spcPts val="1955"/>
              </a:lnSpc>
              <a:buNone/>
            </a:pPr>
            <a:r>
              <a:rPr lang="en-US" sz="1700" b="1" dirty="0">
                <a:solidFill>
                  <a:srgbClr val="FFFFFF"/>
                </a:solidFill>
                <a:latin typeface="Calibri" pitchFamily="34" charset="0"/>
                <a:ea typeface="Calibri" pitchFamily="34" charset="-122"/>
                <a:cs typeface="Calibri" pitchFamily="34" charset="-120"/>
              </a:rPr>
              <a:t>Percept</a:t>
            </a:r>
            <a:endParaRPr lang="en-US" sz="1700" dirty="0"/>
          </a:p>
          <a:p>
            <a:pPr marL="0" indent="0" algn="ctr">
              <a:lnSpc>
                <a:spcPts val="1955"/>
              </a:lnSpc>
              <a:buNone/>
            </a:pPr>
            <a:r>
              <a:rPr lang="en-US" sz="1500" i="1" dirty="0">
                <a:solidFill>
                  <a:srgbClr val="5A6478"/>
                </a:solidFill>
                <a:latin typeface="Calibri" pitchFamily="34" charset="0"/>
                <a:ea typeface="Calibri" pitchFamily="34" charset="-122"/>
                <a:cs typeface="Calibri" pitchFamily="34" charset="-120"/>
              </a:rPr>
              <a:t>“person detected”</a:t>
            </a:r>
            <a:endParaRPr lang="en-US" sz="1700" dirty="0"/>
          </a:p>
        </p:txBody>
      </p:sp>
      <p:sp>
        <p:nvSpPr>
          <p:cNvPr id="11" name="Text 9"/>
          <p:cNvSpPr/>
          <p:nvPr/>
        </p:nvSpPr>
        <p:spPr>
          <a:xfrm>
            <a:off x="5935828" y="2697480"/>
            <a:ext cx="320040" cy="1051560"/>
          </a:xfrm>
          <a:prstGeom prst="rect">
            <a:avLst/>
          </a:prstGeom>
          <a:noFill/>
          <a:ln/>
        </p:spPr>
        <p:txBody>
          <a:bodyPr wrap="square" rtlCol="0" anchor="ctr"/>
          <a:lstStyle/>
          <a:p>
            <a:pPr marL="0" indent="0" algn="ctr">
              <a:buNone/>
            </a:pPr>
            <a:r>
              <a:rPr lang="en-US" sz="2400" b="1" dirty="0">
                <a:solidFill>
                  <a:srgbClr val="B08D57"/>
                </a:solidFill>
                <a:latin typeface="Calibri" pitchFamily="34" charset="0"/>
                <a:ea typeface="Calibri" pitchFamily="34" charset="-122"/>
                <a:cs typeface="Calibri" pitchFamily="34" charset="-120"/>
              </a:rPr>
              <a:t>→</a:t>
            </a:r>
            <a:endParaRPr lang="en-US" sz="2400" dirty="0"/>
          </a:p>
        </p:txBody>
      </p:sp>
      <p:sp>
        <p:nvSpPr>
          <p:cNvPr id="12" name="Shape 10"/>
          <p:cNvSpPr/>
          <p:nvPr/>
        </p:nvSpPr>
        <p:spPr>
          <a:xfrm>
            <a:off x="6255868" y="2697480"/>
            <a:ext cx="2556434" cy="1051560"/>
          </a:xfrm>
          <a:prstGeom prst="roundRect">
            <a:avLst>
              <a:gd name="adj" fmla="val 6957"/>
            </a:avLst>
          </a:prstGeom>
          <a:solidFill>
            <a:srgbClr val="13294B"/>
          </a:solidFill>
          <a:ln/>
        </p:spPr>
      </p:sp>
      <p:sp>
        <p:nvSpPr>
          <p:cNvPr id="13" name="Text 11"/>
          <p:cNvSpPr/>
          <p:nvPr/>
        </p:nvSpPr>
        <p:spPr>
          <a:xfrm>
            <a:off x="6329020" y="2697480"/>
            <a:ext cx="2410130" cy="1051560"/>
          </a:xfrm>
          <a:prstGeom prst="rect">
            <a:avLst/>
          </a:prstGeom>
          <a:noFill/>
          <a:ln/>
        </p:spPr>
        <p:txBody>
          <a:bodyPr wrap="square" rtlCol="0" anchor="ctr"/>
          <a:lstStyle/>
          <a:p>
            <a:pPr marL="0" indent="0" algn="ctr">
              <a:lnSpc>
                <a:spcPts val="1955"/>
              </a:lnSpc>
              <a:buNone/>
            </a:pPr>
            <a:r>
              <a:rPr lang="en-US" sz="1700" b="1" dirty="0">
                <a:solidFill>
                  <a:srgbClr val="FFFFFF"/>
                </a:solidFill>
                <a:latin typeface="Calibri" pitchFamily="34" charset="0"/>
                <a:ea typeface="Calibri" pitchFamily="34" charset="-122"/>
                <a:cs typeface="Calibri" pitchFamily="34" charset="-120"/>
              </a:rPr>
              <a:t>Rule</a:t>
            </a:r>
            <a:endParaRPr lang="en-US" sz="1700" dirty="0"/>
          </a:p>
          <a:p>
            <a:pPr marL="0" indent="0" algn="ctr">
              <a:lnSpc>
                <a:spcPts val="1955"/>
              </a:lnSpc>
              <a:buNone/>
            </a:pPr>
            <a:r>
              <a:rPr lang="en-US" sz="1500" i="1" dirty="0">
                <a:solidFill>
                  <a:srgbClr val="5A6478"/>
                </a:solidFill>
                <a:latin typeface="Calibri" pitchFamily="34" charset="0"/>
                <a:ea typeface="Calibri" pitchFamily="34" charset="-122"/>
                <a:cs typeface="Calibri" pitchFamily="34" charset="-120"/>
              </a:rPr>
              <a:t>IF...THEN...</a:t>
            </a:r>
            <a:endParaRPr lang="en-US" sz="1700" dirty="0"/>
          </a:p>
        </p:txBody>
      </p:sp>
      <p:sp>
        <p:nvSpPr>
          <p:cNvPr id="14" name="Text 12"/>
          <p:cNvSpPr/>
          <p:nvPr/>
        </p:nvSpPr>
        <p:spPr>
          <a:xfrm>
            <a:off x="8812301" y="2697480"/>
            <a:ext cx="320040" cy="1051560"/>
          </a:xfrm>
          <a:prstGeom prst="rect">
            <a:avLst/>
          </a:prstGeom>
          <a:noFill/>
          <a:ln/>
        </p:spPr>
        <p:txBody>
          <a:bodyPr wrap="square" rtlCol="0" anchor="ctr"/>
          <a:lstStyle/>
          <a:p>
            <a:pPr marL="0" indent="0" algn="ctr">
              <a:buNone/>
            </a:pPr>
            <a:r>
              <a:rPr lang="en-US" sz="2400" b="1" dirty="0">
                <a:solidFill>
                  <a:srgbClr val="B08D57"/>
                </a:solidFill>
                <a:latin typeface="Calibri" pitchFamily="34" charset="0"/>
                <a:ea typeface="Calibri" pitchFamily="34" charset="-122"/>
                <a:cs typeface="Calibri" pitchFamily="34" charset="-120"/>
              </a:rPr>
              <a:t>→</a:t>
            </a:r>
            <a:endParaRPr lang="en-US" sz="2400" dirty="0"/>
          </a:p>
        </p:txBody>
      </p:sp>
      <p:sp>
        <p:nvSpPr>
          <p:cNvPr id="15" name="Shape 13"/>
          <p:cNvSpPr/>
          <p:nvPr/>
        </p:nvSpPr>
        <p:spPr>
          <a:xfrm>
            <a:off x="9132341" y="2697480"/>
            <a:ext cx="2556434" cy="1051560"/>
          </a:xfrm>
          <a:prstGeom prst="roundRect">
            <a:avLst>
              <a:gd name="adj" fmla="val 6957"/>
            </a:avLst>
          </a:prstGeom>
          <a:solidFill>
            <a:srgbClr val="13294B"/>
          </a:solidFill>
          <a:ln/>
        </p:spPr>
      </p:sp>
      <p:sp>
        <p:nvSpPr>
          <p:cNvPr id="16" name="Text 14"/>
          <p:cNvSpPr/>
          <p:nvPr/>
        </p:nvSpPr>
        <p:spPr>
          <a:xfrm>
            <a:off x="9205493" y="2697480"/>
            <a:ext cx="2410130" cy="1051560"/>
          </a:xfrm>
          <a:prstGeom prst="rect">
            <a:avLst/>
          </a:prstGeom>
          <a:noFill/>
          <a:ln/>
        </p:spPr>
        <p:txBody>
          <a:bodyPr wrap="square" rtlCol="0" anchor="ctr"/>
          <a:lstStyle/>
          <a:p>
            <a:pPr marL="0" indent="0" algn="ctr">
              <a:lnSpc>
                <a:spcPts val="1955"/>
              </a:lnSpc>
              <a:buNone/>
            </a:pPr>
            <a:r>
              <a:rPr lang="en-US" sz="1700" b="1" dirty="0">
                <a:solidFill>
                  <a:srgbClr val="FFFFFF"/>
                </a:solidFill>
                <a:latin typeface="Calibri" pitchFamily="34" charset="0"/>
                <a:ea typeface="Calibri" pitchFamily="34" charset="-122"/>
                <a:cs typeface="Calibri" pitchFamily="34" charset="-120"/>
              </a:rPr>
              <a:t>Action</a:t>
            </a:r>
            <a:endParaRPr lang="en-US" sz="1700" dirty="0"/>
          </a:p>
          <a:p>
            <a:pPr marL="0" indent="0" algn="ctr">
              <a:lnSpc>
                <a:spcPts val="1955"/>
              </a:lnSpc>
              <a:buNone/>
            </a:pPr>
            <a:r>
              <a:rPr lang="en-US" sz="1500" i="1" dirty="0">
                <a:solidFill>
                  <a:srgbClr val="5A6478"/>
                </a:solidFill>
                <a:latin typeface="Calibri" pitchFamily="34" charset="0"/>
                <a:ea typeface="Calibri" pitchFamily="34" charset="-122"/>
                <a:cs typeface="Calibri" pitchFamily="34" charset="-120"/>
              </a:rPr>
              <a:t>open / close</a:t>
            </a:r>
            <a:endParaRPr lang="en-US" sz="1700" dirty="0"/>
          </a:p>
        </p:txBody>
      </p:sp>
      <p:sp>
        <p:nvSpPr>
          <p:cNvPr id="17" name="Shape 15"/>
          <p:cNvSpPr/>
          <p:nvPr/>
        </p:nvSpPr>
        <p:spPr>
          <a:xfrm>
            <a:off x="502920" y="3977640"/>
            <a:ext cx="11185855" cy="502920"/>
          </a:xfrm>
          <a:prstGeom prst="roundRect">
            <a:avLst>
              <a:gd name="adj" fmla="val 14545"/>
            </a:avLst>
          </a:prstGeom>
          <a:solidFill>
            <a:srgbClr val="13294B"/>
          </a:solidFill>
          <a:ln/>
        </p:spPr>
      </p:sp>
      <p:sp>
        <p:nvSpPr>
          <p:cNvPr id="18" name="Text 16"/>
          <p:cNvSpPr/>
          <p:nvPr/>
        </p:nvSpPr>
        <p:spPr>
          <a:xfrm>
            <a:off x="731520" y="3977640"/>
            <a:ext cx="10728655" cy="502920"/>
          </a:xfrm>
          <a:prstGeom prst="rect">
            <a:avLst/>
          </a:prstGeom>
          <a:noFill/>
          <a:ln/>
        </p:spPr>
        <p:txBody>
          <a:bodyPr wrap="square" rtlCol="0" anchor="ctr"/>
          <a:lstStyle/>
          <a:p>
            <a:pPr marL="0" indent="0">
              <a:buNone/>
            </a:pPr>
            <a:r>
              <a:rPr lang="en-US" sz="1700" b="1" dirty="0">
                <a:solidFill>
                  <a:srgbClr val="B08D57"/>
                </a:solidFill>
              </a:rPr>
              <a:t>Rule:  </a:t>
            </a:r>
            <a:r>
              <a:rPr lang="en-US" sz="1600" dirty="0">
                <a:solidFill>
                  <a:srgbClr val="E7EBF3"/>
                </a:solidFill>
                <a:latin typeface="Courier New" pitchFamily="34" charset="0"/>
                <a:ea typeface="Courier New" pitchFamily="34" charset="-122"/>
                <a:cs typeface="Courier New" pitchFamily="34" charset="-120"/>
              </a:rPr>
              <a:t>IF person detected THEN open door, ELSE close door</a:t>
            </a:r>
            <a:endParaRPr lang="en-US" sz="1700" dirty="0"/>
          </a:p>
        </p:txBody>
      </p:sp>
      <p:sp>
        <p:nvSpPr>
          <p:cNvPr id="19" name="Text 17"/>
          <p:cNvSpPr/>
          <p:nvPr/>
        </p:nvSpPr>
        <p:spPr>
          <a:xfrm>
            <a:off x="502920" y="4663440"/>
            <a:ext cx="11185855" cy="1463040"/>
          </a:xfrm>
          <a:prstGeom prst="rect">
            <a:avLst/>
          </a:prstGeom>
          <a:noFill/>
          <a:ln/>
        </p:spPr>
        <p:txBody>
          <a:bodyPr wrap="square" lIns="0" tIns="0" rIns="0" bIns="0" rtlCol="0" anchor="t"/>
          <a:lstStyle/>
          <a:p>
            <a:pPr marL="228600" indent="-228600">
              <a:buSzPct val="100000"/>
              <a:buChar char="▪"/>
            </a:pPr>
            <a:r>
              <a:rPr lang="en-US" sz="1800" b="1" dirty="0">
                <a:solidFill>
                  <a:srgbClr val="B08D57"/>
                </a:solidFill>
                <a:latin typeface="Calibri" pitchFamily="34" charset="0"/>
                <a:ea typeface="Calibri" pitchFamily="34" charset="-122"/>
                <a:cs typeface="Calibri" pitchFamily="34" charset="-120"/>
              </a:rPr>
              <a:t>Why no world model is needed — </a:t>
            </a:r>
            <a:r>
              <a:rPr lang="en-US" sz="1800" dirty="0">
                <a:solidFill>
                  <a:srgbClr val="E7EBF3"/>
                </a:solidFill>
                <a:latin typeface="Calibri" pitchFamily="34" charset="0"/>
                <a:ea typeface="Calibri" pitchFamily="34" charset="-122"/>
                <a:cs typeface="Calibri" pitchFamily="34" charset="-120"/>
              </a:rPr>
              <a:t>the correct action depends only on whether a person is detected RIGHT NOW, never on what was detected earlier.</a:t>
            </a:r>
            <a:endParaRPr lang="en-US" sz="1800" dirty="0"/>
          </a:p>
          <a:p>
            <a:pPr marL="228600" indent="-228600">
              <a:buSzPct val="100000"/>
              <a:buChar char="▪"/>
            </a:pPr>
            <a:r>
              <a:rPr lang="en-US" sz="1800" b="1" dirty="0">
                <a:solidFill>
                  <a:srgbClr val="B08D57"/>
                </a:solidFill>
                <a:latin typeface="Calibri" pitchFamily="34" charset="0"/>
                <a:ea typeface="Calibri" pitchFamily="34" charset="-122"/>
                <a:cs typeface="Calibri" pitchFamily="34" charset="-120"/>
              </a:rPr>
              <a:t>Limitation to discuss — </a:t>
            </a:r>
            <a:r>
              <a:rPr lang="en-US" sz="1800" dirty="0">
                <a:solidFill>
                  <a:srgbClr val="E7EBF3"/>
                </a:solidFill>
                <a:latin typeface="Calibri" pitchFamily="34" charset="0"/>
                <a:ea typeface="Calibri" pitchFamily="34" charset="-122"/>
                <a:cs typeface="Calibri" pitchFamily="34" charset="-120"/>
              </a:rPr>
              <a:t>what should the door do if the motion sensor briefly fails or misfires?</a:t>
            </a:r>
            <a:endParaRPr lang="en-US" sz="1800" dirty="0"/>
          </a:p>
        </p:txBody>
      </p:sp>
      <p:sp>
        <p:nvSpPr>
          <p:cNvPr id="20" name="Text 18"/>
          <p:cNvSpPr/>
          <p:nvPr/>
        </p:nvSpPr>
        <p:spPr>
          <a:xfrm>
            <a:off x="502920" y="6446520"/>
            <a:ext cx="8229600" cy="320040"/>
          </a:xfrm>
          <a:prstGeom prst="rect">
            <a:avLst/>
          </a:prstGeom>
          <a:noFill/>
          <a:ln/>
        </p:spPr>
        <p:txBody>
          <a:bodyPr wrap="square" rtlCol="0" anchor="ctr"/>
          <a:lstStyle/>
          <a:p>
            <a:pPr marL="0" indent="0">
              <a:buNone/>
            </a:pPr>
            <a:r>
              <a:rPr lang="en-US" sz="1400" i="1" dirty="0">
                <a:solidFill>
                  <a:srgbClr val="8B96AC"/>
                </a:solidFill>
                <a:latin typeface="Calibri" pitchFamily="34" charset="0"/>
                <a:ea typeface="Calibri" pitchFamily="34" charset="-122"/>
                <a:cs typeface="Calibri" pitchFamily="34" charset="-120"/>
              </a:rPr>
              <a:t>AI — Intelligent Agents  |  E. Types of Intelligent Agents</a:t>
            </a:r>
            <a:endParaRPr lang="en-US" sz="1400" dirty="0"/>
          </a:p>
        </p:txBody>
      </p:sp>
      <p:sp>
        <p:nvSpPr>
          <p:cNvPr id="21" name="Text 19"/>
          <p:cNvSpPr/>
          <p:nvPr/>
        </p:nvSpPr>
        <p:spPr>
          <a:xfrm>
            <a:off x="10500055" y="6446520"/>
            <a:ext cx="1188720" cy="320040"/>
          </a:xfrm>
          <a:prstGeom prst="rect">
            <a:avLst/>
          </a:prstGeom>
          <a:noFill/>
          <a:ln/>
        </p:spPr>
        <p:txBody>
          <a:bodyPr wrap="square" rtlCol="0" anchor="ctr"/>
          <a:lstStyle/>
          <a:p>
            <a:pPr marL="0" indent="0" algn="r">
              <a:buNone/>
            </a:pPr>
            <a:r>
              <a:rPr lang="en-US" sz="1400" dirty="0">
                <a:solidFill>
                  <a:srgbClr val="8B96AC"/>
                </a:solidFill>
                <a:latin typeface="Calibri" pitchFamily="34" charset="0"/>
                <a:ea typeface="Calibri" pitchFamily="34" charset="-122"/>
                <a:cs typeface="Calibri" pitchFamily="34" charset="-120"/>
              </a:rPr>
              <a:t>24 / 40</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85855" cy="347472"/>
          </a:xfrm>
          <a:prstGeom prst="rect">
            <a:avLst/>
          </a:prstGeom>
          <a:noFill/>
          <a:ln/>
        </p:spPr>
        <p:txBody>
          <a:bodyPr wrap="square" rtlCol="0" anchor="ctr"/>
          <a:lstStyle/>
          <a:p>
            <a:pPr marL="0" indent="0">
              <a:buNone/>
            </a:pPr>
            <a:r>
              <a:rPr lang="en-US" sz="1500" b="1" kern="0" spc="150" dirty="0">
                <a:solidFill>
                  <a:srgbClr val="B08D57"/>
                </a:solidFill>
                <a:latin typeface="Calibri" pitchFamily="34" charset="0"/>
                <a:ea typeface="Calibri" pitchFamily="34" charset="-122"/>
                <a:cs typeface="Calibri" pitchFamily="34" charset="-120"/>
              </a:rPr>
              <a:t>E. TYPES OF INTELLIGENT AGENTS</a:t>
            </a:r>
            <a:endParaRPr lang="en-US" sz="1500" dirty="0"/>
          </a:p>
        </p:txBody>
      </p:sp>
      <p:sp>
        <p:nvSpPr>
          <p:cNvPr id="3" name="Text 1"/>
          <p:cNvSpPr txBox="1"/>
          <p:nvPr/>
        </p:nvSpPr>
        <p:spPr>
          <a:xfrm>
            <a:off x="502920" y="676656"/>
            <a:ext cx="11185855" cy="1417320"/>
          </a:xfrm>
          <a:prstGeom prst="rect">
            <a:avLst/>
          </a:prstGeom>
          <a:noFill/>
          <a:ln/>
        </p:spPr>
        <p:txBody>
          <a:bodyPr wrap="square" rtlCol="0" anchor="t"/>
          <a:lstStyle/>
          <a:p>
            <a:pPr marL="0" indent="0">
              <a:lnSpc>
                <a:spcPts val="3584"/>
              </a:lnSpc>
              <a:buNone/>
            </a:pPr>
            <a:r>
              <a:rPr lang="en-US" sz="3200" b="1" dirty="0">
                <a:solidFill>
                  <a:srgbClr val="0B1E3D"/>
                </a:solidFill>
                <a:latin typeface="Cambria" pitchFamily="34" charset="0"/>
                <a:ea typeface="Cambria" pitchFamily="34" charset="-122"/>
                <a:cs typeface="Cambria" pitchFamily="34" charset="-120"/>
              </a:rPr>
              <a:t>Model-Based Reflex Agents</a:t>
            </a:r>
            <a:endParaRPr lang="en-US" sz="3200" dirty="0"/>
          </a:p>
        </p:txBody>
      </p:sp>
      <p:sp>
        <p:nvSpPr>
          <p:cNvPr id="4" name="Text 2"/>
          <p:cNvSpPr/>
          <p:nvPr/>
        </p:nvSpPr>
        <p:spPr>
          <a:xfrm>
            <a:off x="502920" y="1828800"/>
            <a:ext cx="11185855" cy="640080"/>
          </a:xfrm>
          <a:prstGeom prst="rect">
            <a:avLst/>
          </a:prstGeom>
          <a:noFill/>
          <a:ln/>
        </p:spPr>
        <p:txBody>
          <a:bodyPr wrap="square" lIns="0" tIns="0" rIns="0" bIns="0" rtlCol="0" anchor="t"/>
          <a:lstStyle/>
          <a:p>
            <a:pPr marL="228600" indent="-228600">
              <a:spcAft>
                <a:spcPts val="1200"/>
              </a:spcAft>
              <a:buSzPct val="100000"/>
              <a:buChar char="▪"/>
            </a:pPr>
            <a:r>
              <a:rPr lang="en-US" sz="2000" dirty="0">
                <a:solidFill>
                  <a:srgbClr val="1A1F2B"/>
                </a:solidFill>
                <a:latin typeface="Calibri" pitchFamily="34" charset="0"/>
                <a:ea typeface="Calibri" pitchFamily="34" charset="-122"/>
                <a:cs typeface="Calibri" pitchFamily="34" charset="-120"/>
              </a:rPr>
              <a:t>Simple reflex agents fail when the environment is only PARTIALLY OBSERVABLE — the current percept alone does not tell the whole story.</a:t>
            </a:r>
            <a:endParaRPr lang="en-US" sz="2000" dirty="0"/>
          </a:p>
        </p:txBody>
      </p:sp>
      <p:sp>
        <p:nvSpPr>
          <p:cNvPr id="5" name="Shape 3"/>
          <p:cNvSpPr/>
          <p:nvPr/>
        </p:nvSpPr>
        <p:spPr>
          <a:xfrm>
            <a:off x="502920" y="2606040"/>
            <a:ext cx="2556434" cy="1051560"/>
          </a:xfrm>
          <a:prstGeom prst="roundRect">
            <a:avLst>
              <a:gd name="adj" fmla="val 6957"/>
            </a:avLst>
          </a:prstGeom>
          <a:solidFill>
            <a:srgbClr val="F3F5F8"/>
          </a:solidFill>
          <a:ln/>
        </p:spPr>
      </p:sp>
      <p:sp>
        <p:nvSpPr>
          <p:cNvPr id="6" name="Text 4"/>
          <p:cNvSpPr/>
          <p:nvPr/>
        </p:nvSpPr>
        <p:spPr>
          <a:xfrm>
            <a:off x="576072" y="2606040"/>
            <a:ext cx="2410130" cy="1051560"/>
          </a:xfrm>
          <a:prstGeom prst="rect">
            <a:avLst/>
          </a:prstGeom>
          <a:noFill/>
          <a:ln/>
        </p:spPr>
        <p:txBody>
          <a:bodyPr wrap="square" rtlCol="0" anchor="ctr"/>
          <a:lstStyle/>
          <a:p>
            <a:pPr marL="0" indent="0" algn="ctr">
              <a:lnSpc>
                <a:spcPts val="1725"/>
              </a:lnSpc>
              <a:buNone/>
            </a:pPr>
            <a:r>
              <a:rPr lang="en-US" sz="1500" b="1" dirty="0">
                <a:solidFill>
                  <a:srgbClr val="0B1E3D"/>
                </a:solidFill>
                <a:latin typeface="Calibri" pitchFamily="34" charset="0"/>
                <a:ea typeface="Calibri" pitchFamily="34" charset="-122"/>
                <a:cs typeface="Calibri" pitchFamily="34" charset="-120"/>
              </a:rPr>
              <a:t>Current Percept</a:t>
            </a:r>
            <a:endParaRPr lang="en-US" sz="1500" dirty="0"/>
          </a:p>
        </p:txBody>
      </p:sp>
      <p:sp>
        <p:nvSpPr>
          <p:cNvPr id="7" name="Text 5"/>
          <p:cNvSpPr/>
          <p:nvPr/>
        </p:nvSpPr>
        <p:spPr>
          <a:xfrm>
            <a:off x="3059354" y="2606040"/>
            <a:ext cx="320040" cy="1051560"/>
          </a:xfrm>
          <a:prstGeom prst="rect">
            <a:avLst/>
          </a:prstGeom>
          <a:noFill/>
          <a:ln/>
        </p:spPr>
        <p:txBody>
          <a:bodyPr wrap="square" rtlCol="0" anchor="ctr"/>
          <a:lstStyle/>
          <a:p>
            <a:pPr marL="0" indent="0" algn="ctr">
              <a:buNone/>
            </a:pPr>
            <a:r>
              <a:rPr lang="en-US" sz="2400" b="1" dirty="0">
                <a:solidFill>
                  <a:srgbClr val="0B1E3D"/>
                </a:solidFill>
                <a:latin typeface="Calibri" pitchFamily="34" charset="0"/>
                <a:ea typeface="Calibri" pitchFamily="34" charset="-122"/>
                <a:cs typeface="Calibri" pitchFamily="34" charset="-120"/>
              </a:rPr>
              <a:t>→</a:t>
            </a:r>
            <a:endParaRPr lang="en-US" sz="2400" dirty="0"/>
          </a:p>
        </p:txBody>
      </p:sp>
      <p:sp>
        <p:nvSpPr>
          <p:cNvPr id="8" name="Shape 6"/>
          <p:cNvSpPr/>
          <p:nvPr/>
        </p:nvSpPr>
        <p:spPr>
          <a:xfrm>
            <a:off x="3379394" y="2606040"/>
            <a:ext cx="2556434" cy="1051560"/>
          </a:xfrm>
          <a:prstGeom prst="roundRect">
            <a:avLst>
              <a:gd name="adj" fmla="val 6957"/>
            </a:avLst>
          </a:prstGeom>
          <a:solidFill>
            <a:srgbClr val="F3F5F8"/>
          </a:solidFill>
          <a:ln/>
        </p:spPr>
      </p:sp>
      <p:sp>
        <p:nvSpPr>
          <p:cNvPr id="9" name="Text 7"/>
          <p:cNvSpPr/>
          <p:nvPr/>
        </p:nvSpPr>
        <p:spPr>
          <a:xfrm>
            <a:off x="3452546" y="2606040"/>
            <a:ext cx="2410130" cy="1051560"/>
          </a:xfrm>
          <a:prstGeom prst="rect">
            <a:avLst/>
          </a:prstGeom>
          <a:noFill/>
          <a:ln/>
        </p:spPr>
        <p:txBody>
          <a:bodyPr wrap="square" rtlCol="0" anchor="ctr"/>
          <a:lstStyle/>
          <a:p>
            <a:pPr marL="0" indent="0" algn="ctr">
              <a:lnSpc>
                <a:spcPts val="1725"/>
              </a:lnSpc>
              <a:buNone/>
            </a:pPr>
            <a:r>
              <a:rPr lang="en-US" sz="1500" b="1" dirty="0">
                <a:solidFill>
                  <a:srgbClr val="0B1E3D"/>
                </a:solidFill>
                <a:latin typeface="Calibri" pitchFamily="34" charset="0"/>
                <a:ea typeface="Calibri" pitchFamily="34" charset="-122"/>
                <a:cs typeface="Calibri" pitchFamily="34" charset="-120"/>
              </a:rPr>
              <a:t>Internal State</a:t>
            </a:r>
            <a:endParaRPr lang="en-US" sz="1500" dirty="0"/>
          </a:p>
          <a:p>
            <a:pPr marL="0" indent="0" algn="ctr">
              <a:lnSpc>
                <a:spcPts val="1725"/>
              </a:lnSpc>
              <a:buNone/>
            </a:pPr>
            <a:r>
              <a:rPr lang="en-US" sz="1500" i="1" dirty="0">
                <a:solidFill>
                  <a:srgbClr val="5A6478"/>
                </a:solidFill>
                <a:latin typeface="Calibri" pitchFamily="34" charset="0"/>
                <a:ea typeface="Calibri" pitchFamily="34" charset="-122"/>
                <a:cs typeface="Calibri" pitchFamily="34" charset="-120"/>
              </a:rPr>
              <a:t>+ World Model</a:t>
            </a:r>
            <a:endParaRPr lang="en-US" sz="1500" dirty="0"/>
          </a:p>
        </p:txBody>
      </p:sp>
      <p:sp>
        <p:nvSpPr>
          <p:cNvPr id="10" name="Text 8"/>
          <p:cNvSpPr/>
          <p:nvPr/>
        </p:nvSpPr>
        <p:spPr>
          <a:xfrm>
            <a:off x="5935828" y="2606040"/>
            <a:ext cx="320040" cy="1051560"/>
          </a:xfrm>
          <a:prstGeom prst="rect">
            <a:avLst/>
          </a:prstGeom>
          <a:noFill/>
          <a:ln/>
        </p:spPr>
        <p:txBody>
          <a:bodyPr wrap="square" rtlCol="0" anchor="ctr"/>
          <a:lstStyle/>
          <a:p>
            <a:pPr marL="0" indent="0" algn="ctr">
              <a:buNone/>
            </a:pPr>
            <a:r>
              <a:rPr lang="en-US" sz="2400" b="1" dirty="0">
                <a:solidFill>
                  <a:srgbClr val="0B1E3D"/>
                </a:solidFill>
                <a:latin typeface="Calibri" pitchFamily="34" charset="0"/>
                <a:ea typeface="Calibri" pitchFamily="34" charset="-122"/>
                <a:cs typeface="Calibri" pitchFamily="34" charset="-120"/>
              </a:rPr>
              <a:t>→</a:t>
            </a:r>
            <a:endParaRPr lang="en-US" sz="2400" dirty="0"/>
          </a:p>
        </p:txBody>
      </p:sp>
      <p:sp>
        <p:nvSpPr>
          <p:cNvPr id="11" name="Shape 9"/>
          <p:cNvSpPr/>
          <p:nvPr/>
        </p:nvSpPr>
        <p:spPr>
          <a:xfrm>
            <a:off x="6255868" y="2606040"/>
            <a:ext cx="2556434" cy="1051560"/>
          </a:xfrm>
          <a:prstGeom prst="roundRect">
            <a:avLst>
              <a:gd name="adj" fmla="val 6957"/>
            </a:avLst>
          </a:prstGeom>
          <a:solidFill>
            <a:srgbClr val="F3F5F8"/>
          </a:solidFill>
          <a:ln/>
        </p:spPr>
      </p:sp>
      <p:sp>
        <p:nvSpPr>
          <p:cNvPr id="12" name="Text 10"/>
          <p:cNvSpPr/>
          <p:nvPr/>
        </p:nvSpPr>
        <p:spPr>
          <a:xfrm>
            <a:off x="6329020" y="2606040"/>
            <a:ext cx="2410130" cy="1051560"/>
          </a:xfrm>
          <a:prstGeom prst="rect">
            <a:avLst/>
          </a:prstGeom>
          <a:noFill/>
          <a:ln/>
        </p:spPr>
        <p:txBody>
          <a:bodyPr wrap="square" rtlCol="0" anchor="ctr"/>
          <a:lstStyle/>
          <a:p>
            <a:pPr marL="0" indent="0" algn="ctr">
              <a:lnSpc>
                <a:spcPts val="1725"/>
              </a:lnSpc>
              <a:buNone/>
            </a:pPr>
            <a:r>
              <a:rPr lang="en-US" sz="1500" b="1" dirty="0">
                <a:solidFill>
                  <a:srgbClr val="0B1E3D"/>
                </a:solidFill>
                <a:latin typeface="Calibri" pitchFamily="34" charset="0"/>
                <a:ea typeface="Calibri" pitchFamily="34" charset="-122"/>
                <a:cs typeface="Calibri" pitchFamily="34" charset="-120"/>
              </a:rPr>
              <a:t>Decision</a:t>
            </a:r>
            <a:endParaRPr lang="en-US" sz="1500" dirty="0"/>
          </a:p>
        </p:txBody>
      </p:sp>
      <p:sp>
        <p:nvSpPr>
          <p:cNvPr id="13" name="Text 11"/>
          <p:cNvSpPr/>
          <p:nvPr/>
        </p:nvSpPr>
        <p:spPr>
          <a:xfrm>
            <a:off x="8812301" y="2606040"/>
            <a:ext cx="320040" cy="1051560"/>
          </a:xfrm>
          <a:prstGeom prst="rect">
            <a:avLst/>
          </a:prstGeom>
          <a:noFill/>
          <a:ln/>
        </p:spPr>
        <p:txBody>
          <a:bodyPr wrap="square" rtlCol="0" anchor="ctr"/>
          <a:lstStyle/>
          <a:p>
            <a:pPr marL="0" indent="0" algn="ctr">
              <a:buNone/>
            </a:pPr>
            <a:r>
              <a:rPr lang="en-US" sz="2400" b="1" dirty="0">
                <a:solidFill>
                  <a:srgbClr val="0B1E3D"/>
                </a:solidFill>
                <a:latin typeface="Calibri" pitchFamily="34" charset="0"/>
                <a:ea typeface="Calibri" pitchFamily="34" charset="-122"/>
                <a:cs typeface="Calibri" pitchFamily="34" charset="-120"/>
              </a:rPr>
              <a:t>→</a:t>
            </a:r>
            <a:endParaRPr lang="en-US" sz="2400" dirty="0"/>
          </a:p>
        </p:txBody>
      </p:sp>
      <p:sp>
        <p:nvSpPr>
          <p:cNvPr id="14" name="Shape 12"/>
          <p:cNvSpPr/>
          <p:nvPr/>
        </p:nvSpPr>
        <p:spPr>
          <a:xfrm>
            <a:off x="9132341" y="2606040"/>
            <a:ext cx="2556434" cy="1051560"/>
          </a:xfrm>
          <a:prstGeom prst="roundRect">
            <a:avLst>
              <a:gd name="adj" fmla="val 6957"/>
            </a:avLst>
          </a:prstGeom>
          <a:solidFill>
            <a:srgbClr val="F3F5F8"/>
          </a:solidFill>
          <a:ln/>
        </p:spPr>
      </p:sp>
      <p:sp>
        <p:nvSpPr>
          <p:cNvPr id="15" name="Text 13"/>
          <p:cNvSpPr/>
          <p:nvPr/>
        </p:nvSpPr>
        <p:spPr>
          <a:xfrm>
            <a:off x="9205493" y="2606040"/>
            <a:ext cx="2410130" cy="1051560"/>
          </a:xfrm>
          <a:prstGeom prst="rect">
            <a:avLst/>
          </a:prstGeom>
          <a:noFill/>
          <a:ln/>
        </p:spPr>
        <p:txBody>
          <a:bodyPr wrap="square" rtlCol="0" anchor="ctr"/>
          <a:lstStyle/>
          <a:p>
            <a:pPr marL="0" indent="0" algn="ctr">
              <a:lnSpc>
                <a:spcPts val="1725"/>
              </a:lnSpc>
              <a:buNone/>
            </a:pPr>
            <a:r>
              <a:rPr lang="en-US" sz="1500" b="1" dirty="0">
                <a:solidFill>
                  <a:srgbClr val="0B1E3D"/>
                </a:solidFill>
                <a:latin typeface="Calibri" pitchFamily="34" charset="0"/>
                <a:ea typeface="Calibri" pitchFamily="34" charset="-122"/>
                <a:cs typeface="Calibri" pitchFamily="34" charset="-120"/>
              </a:rPr>
              <a:t>Action</a:t>
            </a:r>
            <a:endParaRPr lang="en-US" sz="1500" dirty="0"/>
          </a:p>
        </p:txBody>
      </p:sp>
      <p:sp>
        <p:nvSpPr>
          <p:cNvPr id="16" name="Shape 14"/>
          <p:cNvSpPr/>
          <p:nvPr/>
        </p:nvSpPr>
        <p:spPr>
          <a:xfrm>
            <a:off x="502920" y="3931920"/>
            <a:ext cx="11185855" cy="1965960"/>
          </a:xfrm>
          <a:prstGeom prst="roundRect">
            <a:avLst>
              <a:gd name="adj" fmla="val 3256"/>
            </a:avLst>
          </a:prstGeom>
          <a:solidFill>
            <a:srgbClr val="F3F5F8"/>
          </a:solidFill>
          <a:ln w="12700">
            <a:solidFill>
              <a:srgbClr val="D8DCE3"/>
            </a:solidFill>
            <a:prstDash val="solid"/>
          </a:ln>
        </p:spPr>
      </p:sp>
      <p:sp>
        <p:nvSpPr>
          <p:cNvPr id="17" name="Text 15"/>
          <p:cNvSpPr/>
          <p:nvPr/>
        </p:nvSpPr>
        <p:spPr>
          <a:xfrm>
            <a:off x="777240" y="4069080"/>
            <a:ext cx="10637215" cy="411480"/>
          </a:xfrm>
          <a:prstGeom prst="rect">
            <a:avLst/>
          </a:prstGeom>
          <a:noFill/>
          <a:ln/>
        </p:spPr>
        <p:txBody>
          <a:bodyPr wrap="square" rtlCol="0" anchor="ctr"/>
          <a:lstStyle/>
          <a:p>
            <a:pPr marL="0" indent="0">
              <a:buNone/>
            </a:pPr>
            <a:r>
              <a:rPr lang="en-US" sz="1900" b="1" dirty="0">
                <a:solidFill>
                  <a:srgbClr val="0B1E3D"/>
                </a:solidFill>
                <a:latin typeface="Cambria" pitchFamily="34" charset="0"/>
                <a:ea typeface="Cambria" pitchFamily="34" charset="-122"/>
                <a:cs typeface="Cambria" pitchFamily="34" charset="-120"/>
              </a:rPr>
              <a:t>Example: a robot vacuum that remembers</a:t>
            </a:r>
            <a:endParaRPr lang="en-US" sz="1900" dirty="0"/>
          </a:p>
        </p:txBody>
      </p:sp>
      <p:sp>
        <p:nvSpPr>
          <p:cNvPr id="18" name="Text 16"/>
          <p:cNvSpPr/>
          <p:nvPr/>
        </p:nvSpPr>
        <p:spPr>
          <a:xfrm>
            <a:off x="777240" y="4553712"/>
            <a:ext cx="10637215" cy="123444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A1F2B"/>
                </a:solidFill>
                <a:latin typeface="Calibri" pitchFamily="34" charset="0"/>
                <a:ea typeface="Calibri" pitchFamily="34" charset="-122"/>
                <a:cs typeface="Calibri" pitchFamily="34" charset="-120"/>
              </a:rPr>
              <a:t>Which areas it has already cleaned (avoids repeating them)</a:t>
            </a:r>
            <a:endParaRPr lang="en-US" sz="1800" dirty="0"/>
          </a:p>
          <a:p>
            <a:pPr marL="228600" indent="-228600">
              <a:spcAft>
                <a:spcPts val="800"/>
              </a:spcAft>
              <a:buSzPct val="100000"/>
              <a:buChar char="▪"/>
            </a:pPr>
            <a:r>
              <a:rPr lang="en-US" sz="1800" dirty="0">
                <a:solidFill>
                  <a:srgbClr val="1A1F2B"/>
                </a:solidFill>
                <a:latin typeface="Calibri" pitchFamily="34" charset="0"/>
                <a:ea typeface="Calibri" pitchFamily="34" charset="-122"/>
                <a:cs typeface="Calibri" pitchFamily="34" charset="-120"/>
              </a:rPr>
              <a:t>Where obstacles and furniture are located</a:t>
            </a:r>
            <a:endParaRPr lang="en-US" sz="1800" dirty="0"/>
          </a:p>
          <a:p>
            <a:pPr marL="228600" indent="-228600">
              <a:spcAft>
                <a:spcPts val="800"/>
              </a:spcAft>
              <a:buSzPct val="100000"/>
              <a:buChar char="▪"/>
            </a:pPr>
            <a:r>
              <a:rPr lang="en-US" sz="1800" dirty="0">
                <a:solidFill>
                  <a:srgbClr val="1A1F2B"/>
                </a:solidFill>
                <a:latin typeface="Calibri" pitchFamily="34" charset="0"/>
                <a:ea typeface="Calibri" pitchFamily="34" charset="-122"/>
                <a:cs typeface="Calibri" pitchFamily="34" charset="-120"/>
              </a:rPr>
              <a:t>Its approximate map of the room, built up over time</a:t>
            </a:r>
            <a:endParaRPr lang="en-US" sz="1800" dirty="0"/>
          </a:p>
        </p:txBody>
      </p:sp>
      <p:sp>
        <p:nvSpPr>
          <p:cNvPr id="19" name="Text 17"/>
          <p:cNvSpPr/>
          <p:nvPr/>
        </p:nvSpPr>
        <p:spPr>
          <a:xfrm>
            <a:off x="502920" y="6446520"/>
            <a:ext cx="8229600" cy="320040"/>
          </a:xfrm>
          <a:prstGeom prst="rect">
            <a:avLst/>
          </a:prstGeom>
          <a:noFill/>
          <a:ln/>
        </p:spPr>
        <p:txBody>
          <a:bodyPr wrap="square" rtlCol="0" anchor="ctr"/>
          <a:lstStyle/>
          <a:p>
            <a:pPr marL="0" indent="0">
              <a:buNone/>
            </a:pPr>
            <a:r>
              <a:rPr lang="en-US" sz="1400" i="1" dirty="0">
                <a:solidFill>
                  <a:srgbClr val="5A6478"/>
                </a:solidFill>
                <a:latin typeface="Calibri" pitchFamily="34" charset="0"/>
                <a:ea typeface="Calibri" pitchFamily="34" charset="-122"/>
                <a:cs typeface="Calibri" pitchFamily="34" charset="-120"/>
              </a:rPr>
              <a:t>AI — Intelligent Agents  |  E. Types of Intelligent Agents</a:t>
            </a:r>
            <a:endParaRPr lang="en-US" sz="1400" dirty="0"/>
          </a:p>
        </p:txBody>
      </p:sp>
      <p:sp>
        <p:nvSpPr>
          <p:cNvPr id="20" name="Text 18"/>
          <p:cNvSpPr/>
          <p:nvPr/>
        </p:nvSpPr>
        <p:spPr>
          <a:xfrm>
            <a:off x="10500055" y="6446520"/>
            <a:ext cx="1188720" cy="320040"/>
          </a:xfrm>
          <a:prstGeom prst="rect">
            <a:avLst/>
          </a:prstGeom>
          <a:noFill/>
          <a:ln/>
        </p:spPr>
        <p:txBody>
          <a:bodyPr wrap="square" rtlCol="0" anchor="ctr"/>
          <a:lstStyle/>
          <a:p>
            <a:pPr marL="0" indent="0" algn="r">
              <a:buNone/>
            </a:pPr>
            <a:r>
              <a:rPr lang="en-US" sz="1400" dirty="0">
                <a:solidFill>
                  <a:srgbClr val="5A6478"/>
                </a:solidFill>
                <a:latin typeface="Calibri" pitchFamily="34" charset="0"/>
                <a:ea typeface="Calibri" pitchFamily="34" charset="-122"/>
                <a:cs typeface="Calibri" pitchFamily="34" charset="-120"/>
              </a:rPr>
              <a:t>25 / 40</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85855" cy="347472"/>
          </a:xfrm>
          <a:prstGeom prst="rect">
            <a:avLst/>
          </a:prstGeom>
          <a:noFill/>
          <a:ln/>
        </p:spPr>
        <p:txBody>
          <a:bodyPr wrap="square" rtlCol="0" anchor="ctr"/>
          <a:lstStyle/>
          <a:p>
            <a:pPr marL="0" indent="0">
              <a:buNone/>
            </a:pPr>
            <a:r>
              <a:rPr lang="en-US" sz="1500" b="1" kern="0" spc="150" dirty="0">
                <a:solidFill>
                  <a:srgbClr val="B08D57"/>
                </a:solidFill>
                <a:latin typeface="Calibri" pitchFamily="34" charset="0"/>
                <a:ea typeface="Calibri" pitchFamily="34" charset="-122"/>
                <a:cs typeface="Calibri" pitchFamily="34" charset="-120"/>
              </a:rPr>
              <a:t>E. TYPES OF INTELLIGENT AGENTS</a:t>
            </a:r>
            <a:endParaRPr lang="en-US" sz="1500" dirty="0"/>
          </a:p>
        </p:txBody>
      </p:sp>
      <p:sp>
        <p:nvSpPr>
          <p:cNvPr id="3" name="Text 1"/>
          <p:cNvSpPr txBox="1"/>
          <p:nvPr/>
        </p:nvSpPr>
        <p:spPr>
          <a:xfrm>
            <a:off x="502920" y="676656"/>
            <a:ext cx="11185855" cy="1417320"/>
          </a:xfrm>
          <a:prstGeom prst="rect">
            <a:avLst/>
          </a:prstGeom>
          <a:noFill/>
          <a:ln/>
        </p:spPr>
        <p:txBody>
          <a:bodyPr wrap="square" rtlCol="0" anchor="t"/>
          <a:lstStyle/>
          <a:p>
            <a:pPr marL="0" indent="0">
              <a:lnSpc>
                <a:spcPts val="3136"/>
              </a:lnSpc>
              <a:buNone/>
            </a:pPr>
            <a:r>
              <a:rPr lang="en-US" sz="2800" b="1" dirty="0">
                <a:solidFill>
                  <a:srgbClr val="0B1E3D"/>
                </a:solidFill>
                <a:latin typeface="Cambria" pitchFamily="34" charset="0"/>
                <a:ea typeface="Cambria" pitchFamily="34" charset="-122"/>
                <a:cs typeface="Cambria" pitchFamily="34" charset="-120"/>
              </a:rPr>
              <a:t>Model-Based Agent: A Real-Life Example</a:t>
            </a:r>
            <a:endParaRPr lang="en-US" sz="2800" dirty="0"/>
          </a:p>
        </p:txBody>
      </p:sp>
      <p:sp>
        <p:nvSpPr>
          <p:cNvPr id="4" name="Shape 2"/>
          <p:cNvSpPr/>
          <p:nvPr/>
        </p:nvSpPr>
        <p:spPr>
          <a:xfrm>
            <a:off x="502920" y="1828800"/>
            <a:ext cx="5577840" cy="566928"/>
          </a:xfrm>
          <a:prstGeom prst="roundRect">
            <a:avLst>
              <a:gd name="adj" fmla="val 12903"/>
            </a:avLst>
          </a:prstGeom>
          <a:solidFill>
            <a:srgbClr val="F3F5F8"/>
          </a:solidFill>
          <a:ln/>
        </p:spPr>
      </p:sp>
      <p:sp>
        <p:nvSpPr>
          <p:cNvPr id="5" name="Text 3"/>
          <p:cNvSpPr/>
          <p:nvPr/>
        </p:nvSpPr>
        <p:spPr>
          <a:xfrm>
            <a:off x="594360" y="1828800"/>
            <a:ext cx="5394960" cy="566928"/>
          </a:xfrm>
          <a:prstGeom prst="rect">
            <a:avLst/>
          </a:prstGeom>
          <a:noFill/>
          <a:ln/>
        </p:spPr>
        <p:txBody>
          <a:bodyPr wrap="square" rtlCol="0" anchor="ctr"/>
          <a:lstStyle/>
          <a:p>
            <a:pPr marL="0" indent="0" algn="ctr">
              <a:buNone/>
            </a:pPr>
            <a:r>
              <a:rPr lang="en-US" sz="1600" b="1" dirty="0">
                <a:solidFill>
                  <a:srgbClr val="0B1E3D"/>
                </a:solidFill>
                <a:latin typeface="Calibri" pitchFamily="34" charset="0"/>
                <a:ea typeface="Calibri" pitchFamily="34" charset="-122"/>
                <a:cs typeface="Calibri" pitchFamily="34" charset="-120"/>
              </a:rPr>
              <a:t>Sensors</a:t>
            </a:r>
            <a:endParaRPr lang="en-US" sz="1600" dirty="0"/>
          </a:p>
        </p:txBody>
      </p:sp>
      <p:sp>
        <p:nvSpPr>
          <p:cNvPr id="6" name="Text 4"/>
          <p:cNvSpPr/>
          <p:nvPr/>
        </p:nvSpPr>
        <p:spPr>
          <a:xfrm>
            <a:off x="502920" y="2395728"/>
            <a:ext cx="5577840" cy="219456"/>
          </a:xfrm>
          <a:prstGeom prst="rect">
            <a:avLst/>
          </a:prstGeom>
          <a:noFill/>
          <a:ln/>
        </p:spPr>
        <p:txBody>
          <a:bodyPr wrap="square" rtlCol="0" anchor="ctr"/>
          <a:lstStyle/>
          <a:p>
            <a:pPr marL="0" indent="0" algn="ctr">
              <a:buNone/>
            </a:pPr>
            <a:r>
              <a:rPr lang="en-US" sz="2000" b="1" dirty="0">
                <a:solidFill>
                  <a:srgbClr val="0B1E3D"/>
                </a:solidFill>
                <a:latin typeface="Calibri" pitchFamily="34" charset="0"/>
                <a:ea typeface="Calibri" pitchFamily="34" charset="-122"/>
                <a:cs typeface="Calibri" pitchFamily="34" charset="-120"/>
              </a:rPr>
              <a:t>↓</a:t>
            </a:r>
            <a:endParaRPr lang="en-US" sz="2000" dirty="0"/>
          </a:p>
        </p:txBody>
      </p:sp>
      <p:sp>
        <p:nvSpPr>
          <p:cNvPr id="7" name="Shape 5"/>
          <p:cNvSpPr/>
          <p:nvPr/>
        </p:nvSpPr>
        <p:spPr>
          <a:xfrm>
            <a:off x="502920" y="2615184"/>
            <a:ext cx="5577840" cy="566928"/>
          </a:xfrm>
          <a:prstGeom prst="roundRect">
            <a:avLst>
              <a:gd name="adj" fmla="val 12903"/>
            </a:avLst>
          </a:prstGeom>
          <a:solidFill>
            <a:srgbClr val="F3F5F8"/>
          </a:solidFill>
          <a:ln/>
        </p:spPr>
      </p:sp>
      <p:sp>
        <p:nvSpPr>
          <p:cNvPr id="8" name="Text 6"/>
          <p:cNvSpPr/>
          <p:nvPr/>
        </p:nvSpPr>
        <p:spPr>
          <a:xfrm>
            <a:off x="594360" y="2615184"/>
            <a:ext cx="5394960" cy="566928"/>
          </a:xfrm>
          <a:prstGeom prst="rect">
            <a:avLst/>
          </a:prstGeom>
          <a:noFill/>
          <a:ln/>
        </p:spPr>
        <p:txBody>
          <a:bodyPr wrap="square" rtlCol="0" anchor="ctr"/>
          <a:lstStyle/>
          <a:p>
            <a:pPr marL="0" indent="0" algn="ctr">
              <a:buNone/>
            </a:pPr>
            <a:r>
              <a:rPr lang="en-US" sz="1600" b="1" dirty="0">
                <a:solidFill>
                  <a:srgbClr val="0B1E3D"/>
                </a:solidFill>
                <a:latin typeface="Calibri" pitchFamily="34" charset="0"/>
                <a:ea typeface="Calibri" pitchFamily="34" charset="-122"/>
                <a:cs typeface="Calibri" pitchFamily="34" charset="-120"/>
              </a:rPr>
              <a:t>Current Percept</a:t>
            </a:r>
            <a:endParaRPr lang="en-US" sz="1600" dirty="0"/>
          </a:p>
        </p:txBody>
      </p:sp>
      <p:sp>
        <p:nvSpPr>
          <p:cNvPr id="9" name="Text 7"/>
          <p:cNvSpPr/>
          <p:nvPr/>
        </p:nvSpPr>
        <p:spPr>
          <a:xfrm>
            <a:off x="502920" y="3182112"/>
            <a:ext cx="5577840" cy="219456"/>
          </a:xfrm>
          <a:prstGeom prst="rect">
            <a:avLst/>
          </a:prstGeom>
          <a:noFill/>
          <a:ln/>
        </p:spPr>
        <p:txBody>
          <a:bodyPr wrap="square" rtlCol="0" anchor="ctr"/>
          <a:lstStyle/>
          <a:p>
            <a:pPr marL="0" indent="0" algn="ctr">
              <a:buNone/>
            </a:pPr>
            <a:r>
              <a:rPr lang="en-US" sz="2000" b="1" dirty="0">
                <a:solidFill>
                  <a:srgbClr val="0B1E3D"/>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502920" y="3401568"/>
            <a:ext cx="5577840" cy="566928"/>
          </a:xfrm>
          <a:prstGeom prst="roundRect">
            <a:avLst>
              <a:gd name="adj" fmla="val 12903"/>
            </a:avLst>
          </a:prstGeom>
          <a:solidFill>
            <a:srgbClr val="F3F5F8"/>
          </a:solidFill>
          <a:ln/>
        </p:spPr>
      </p:sp>
      <p:sp>
        <p:nvSpPr>
          <p:cNvPr id="11" name="Text 9"/>
          <p:cNvSpPr/>
          <p:nvPr/>
        </p:nvSpPr>
        <p:spPr>
          <a:xfrm>
            <a:off x="594360" y="3401568"/>
            <a:ext cx="5394960" cy="566928"/>
          </a:xfrm>
          <a:prstGeom prst="rect">
            <a:avLst/>
          </a:prstGeom>
          <a:noFill/>
          <a:ln/>
        </p:spPr>
        <p:txBody>
          <a:bodyPr wrap="square" rtlCol="0" anchor="ctr"/>
          <a:lstStyle/>
          <a:p>
            <a:pPr marL="0" indent="0" algn="ctr">
              <a:buNone/>
            </a:pPr>
            <a:r>
              <a:rPr lang="en-US" sz="1500" b="1" dirty="0">
                <a:solidFill>
                  <a:srgbClr val="0B1E3D"/>
                </a:solidFill>
                <a:latin typeface="Calibri" pitchFamily="34" charset="0"/>
                <a:ea typeface="Calibri" pitchFamily="34" charset="-122"/>
                <a:cs typeface="Calibri" pitchFamily="34" charset="-120"/>
              </a:rPr>
              <a:t>Internal State / World Model</a:t>
            </a:r>
            <a:endParaRPr lang="en-US" sz="1500" dirty="0"/>
          </a:p>
        </p:txBody>
      </p:sp>
      <p:sp>
        <p:nvSpPr>
          <p:cNvPr id="12" name="Text 10"/>
          <p:cNvSpPr/>
          <p:nvPr/>
        </p:nvSpPr>
        <p:spPr>
          <a:xfrm>
            <a:off x="502920" y="3968496"/>
            <a:ext cx="5577840" cy="219456"/>
          </a:xfrm>
          <a:prstGeom prst="rect">
            <a:avLst/>
          </a:prstGeom>
          <a:noFill/>
          <a:ln/>
        </p:spPr>
        <p:txBody>
          <a:bodyPr wrap="square" rtlCol="0" anchor="ctr"/>
          <a:lstStyle/>
          <a:p>
            <a:pPr marL="0" indent="0" algn="ctr">
              <a:buNone/>
            </a:pPr>
            <a:r>
              <a:rPr lang="en-US" sz="2000" b="1" dirty="0">
                <a:solidFill>
                  <a:srgbClr val="0B1E3D"/>
                </a:solidFill>
                <a:latin typeface="Calibri" pitchFamily="34" charset="0"/>
                <a:ea typeface="Calibri" pitchFamily="34" charset="-122"/>
                <a:cs typeface="Calibri" pitchFamily="34" charset="-120"/>
              </a:rPr>
              <a:t>↓</a:t>
            </a:r>
            <a:endParaRPr lang="en-US" sz="2000" dirty="0"/>
          </a:p>
        </p:txBody>
      </p:sp>
      <p:sp>
        <p:nvSpPr>
          <p:cNvPr id="13" name="Shape 11"/>
          <p:cNvSpPr/>
          <p:nvPr/>
        </p:nvSpPr>
        <p:spPr>
          <a:xfrm>
            <a:off x="502920" y="4187952"/>
            <a:ext cx="5577840" cy="566928"/>
          </a:xfrm>
          <a:prstGeom prst="roundRect">
            <a:avLst>
              <a:gd name="adj" fmla="val 12903"/>
            </a:avLst>
          </a:prstGeom>
          <a:solidFill>
            <a:srgbClr val="F3F5F8"/>
          </a:solidFill>
          <a:ln/>
        </p:spPr>
      </p:sp>
      <p:sp>
        <p:nvSpPr>
          <p:cNvPr id="14" name="Text 12"/>
          <p:cNvSpPr/>
          <p:nvPr/>
        </p:nvSpPr>
        <p:spPr>
          <a:xfrm>
            <a:off x="594360" y="4187952"/>
            <a:ext cx="5394960" cy="566928"/>
          </a:xfrm>
          <a:prstGeom prst="rect">
            <a:avLst/>
          </a:prstGeom>
          <a:noFill/>
          <a:ln/>
        </p:spPr>
        <p:txBody>
          <a:bodyPr wrap="square" rtlCol="0" anchor="ctr"/>
          <a:lstStyle/>
          <a:p>
            <a:pPr marL="0" indent="0" algn="ctr">
              <a:buNone/>
            </a:pPr>
            <a:r>
              <a:rPr lang="en-US" sz="1450" b="1" dirty="0">
                <a:solidFill>
                  <a:srgbClr val="0B1E3D"/>
                </a:solidFill>
                <a:latin typeface="Calibri" pitchFamily="34" charset="0"/>
                <a:ea typeface="Calibri" pitchFamily="34" charset="-122"/>
                <a:cs typeface="Calibri" pitchFamily="34" charset="-120"/>
              </a:rPr>
              <a:t>Action (move, clean, return to dock)</a:t>
            </a:r>
            <a:endParaRPr lang="en-US" sz="1450" dirty="0"/>
          </a:p>
        </p:txBody>
      </p:sp>
      <p:sp>
        <p:nvSpPr>
          <p:cNvPr id="15" name="Shape 13"/>
          <p:cNvSpPr/>
          <p:nvPr/>
        </p:nvSpPr>
        <p:spPr>
          <a:xfrm>
            <a:off x="6355080" y="1828800"/>
            <a:ext cx="5333695" cy="1783080"/>
          </a:xfrm>
          <a:prstGeom prst="roundRect">
            <a:avLst>
              <a:gd name="adj" fmla="val 3590"/>
            </a:avLst>
          </a:prstGeom>
          <a:solidFill>
            <a:srgbClr val="F3F5F8"/>
          </a:solidFill>
          <a:ln w="12700">
            <a:solidFill>
              <a:srgbClr val="D8DCE3"/>
            </a:solidFill>
            <a:prstDash val="solid"/>
          </a:ln>
        </p:spPr>
      </p:sp>
      <p:sp>
        <p:nvSpPr>
          <p:cNvPr id="16" name="Text 14"/>
          <p:cNvSpPr/>
          <p:nvPr/>
        </p:nvSpPr>
        <p:spPr>
          <a:xfrm>
            <a:off x="6629400" y="1965960"/>
            <a:ext cx="4785055" cy="411480"/>
          </a:xfrm>
          <a:prstGeom prst="rect">
            <a:avLst/>
          </a:prstGeom>
          <a:noFill/>
          <a:ln/>
        </p:spPr>
        <p:txBody>
          <a:bodyPr wrap="square" rtlCol="0" anchor="ctr"/>
          <a:lstStyle/>
          <a:p>
            <a:pPr marL="0" indent="0">
              <a:buNone/>
            </a:pPr>
            <a:r>
              <a:rPr lang="en-US" sz="1800" b="1" dirty="0">
                <a:solidFill>
                  <a:srgbClr val="0B1E3D"/>
                </a:solidFill>
                <a:latin typeface="Cambria" pitchFamily="34" charset="0"/>
                <a:ea typeface="Cambria" pitchFamily="34" charset="-122"/>
                <a:cs typeface="Cambria" pitchFamily="34" charset="-120"/>
              </a:rPr>
              <a:t>Simple Reflex Robot</a:t>
            </a:r>
            <a:endParaRPr lang="en-US" sz="1800" dirty="0"/>
          </a:p>
        </p:txBody>
      </p:sp>
      <p:sp>
        <p:nvSpPr>
          <p:cNvPr id="17" name="Text 15"/>
          <p:cNvSpPr/>
          <p:nvPr/>
        </p:nvSpPr>
        <p:spPr>
          <a:xfrm>
            <a:off x="6583680" y="2450592"/>
            <a:ext cx="4876495" cy="1069848"/>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1A1F2B"/>
                </a:solidFill>
                <a:latin typeface="Calibri" pitchFamily="34" charset="0"/>
                <a:ea typeface="Calibri" pitchFamily="34" charset="-122"/>
                <a:cs typeface="Calibri" pitchFamily="34" charset="-120"/>
              </a:rPr>
              <a:t>Reacts to bump/obstacle only</a:t>
            </a:r>
            <a:endParaRPr lang="en-US" sz="1600" dirty="0"/>
          </a:p>
          <a:p>
            <a:pPr marL="228600" indent="-228600">
              <a:spcAft>
                <a:spcPts val="800"/>
              </a:spcAft>
              <a:buSzPct val="100000"/>
              <a:buChar char="▪"/>
            </a:pPr>
            <a:r>
              <a:rPr lang="en-US" sz="1600" dirty="0">
                <a:solidFill>
                  <a:srgbClr val="1A1F2B"/>
                </a:solidFill>
                <a:latin typeface="Calibri" pitchFamily="34" charset="0"/>
                <a:ea typeface="Calibri" pitchFamily="34" charset="-122"/>
                <a:cs typeface="Calibri" pitchFamily="34" charset="-120"/>
              </a:rPr>
              <a:t>May revisit the same spot repeatedly</a:t>
            </a:r>
            <a:endParaRPr lang="en-US" sz="1600" dirty="0"/>
          </a:p>
          <a:p>
            <a:pPr marL="228600" indent="-228600">
              <a:spcAft>
                <a:spcPts val="800"/>
              </a:spcAft>
              <a:buSzPct val="100000"/>
              <a:buChar char="▪"/>
            </a:pPr>
            <a:r>
              <a:rPr lang="en-US" sz="1600" dirty="0">
                <a:solidFill>
                  <a:srgbClr val="1A1F2B"/>
                </a:solidFill>
                <a:latin typeface="Calibri" pitchFamily="34" charset="0"/>
                <a:ea typeface="Calibri" pitchFamily="34" charset="-122"/>
                <a:cs typeface="Calibri" pitchFamily="34" charset="-120"/>
              </a:rPr>
              <a:t>No memory of the room</a:t>
            </a:r>
            <a:endParaRPr lang="en-US" sz="1600" dirty="0"/>
          </a:p>
        </p:txBody>
      </p:sp>
      <p:sp>
        <p:nvSpPr>
          <p:cNvPr id="18" name="Shape 16"/>
          <p:cNvSpPr/>
          <p:nvPr/>
        </p:nvSpPr>
        <p:spPr>
          <a:xfrm>
            <a:off x="6355080" y="3794760"/>
            <a:ext cx="5333695" cy="1783080"/>
          </a:xfrm>
          <a:prstGeom prst="roundRect">
            <a:avLst>
              <a:gd name="adj" fmla="val 3590"/>
            </a:avLst>
          </a:prstGeom>
          <a:solidFill>
            <a:srgbClr val="0B1E3D"/>
          </a:solidFill>
          <a:ln/>
        </p:spPr>
      </p:sp>
      <p:sp>
        <p:nvSpPr>
          <p:cNvPr id="19" name="Text 17"/>
          <p:cNvSpPr/>
          <p:nvPr/>
        </p:nvSpPr>
        <p:spPr>
          <a:xfrm>
            <a:off x="6629400" y="3931920"/>
            <a:ext cx="4785055" cy="411480"/>
          </a:xfrm>
          <a:prstGeom prst="rect">
            <a:avLst/>
          </a:prstGeom>
          <a:noFill/>
          <a:ln/>
        </p:spPr>
        <p:txBody>
          <a:bodyPr wrap="square" rtlCol="0" anchor="ctr"/>
          <a:lstStyle/>
          <a:p>
            <a:pPr marL="0" indent="0">
              <a:buNone/>
            </a:pPr>
            <a:r>
              <a:rPr lang="en-US" sz="1800" b="1" dirty="0">
                <a:solidFill>
                  <a:srgbClr val="B08D57"/>
                </a:solidFill>
                <a:latin typeface="Cambria" pitchFamily="34" charset="0"/>
                <a:ea typeface="Cambria" pitchFamily="34" charset="-122"/>
                <a:cs typeface="Cambria" pitchFamily="34" charset="-120"/>
              </a:rPr>
              <a:t>Model-Based Robot</a:t>
            </a:r>
            <a:endParaRPr lang="en-US" sz="1800" dirty="0"/>
          </a:p>
        </p:txBody>
      </p:sp>
      <p:sp>
        <p:nvSpPr>
          <p:cNvPr id="20" name="Text 18"/>
          <p:cNvSpPr/>
          <p:nvPr/>
        </p:nvSpPr>
        <p:spPr>
          <a:xfrm>
            <a:off x="6583680" y="4416552"/>
            <a:ext cx="4876495" cy="1069848"/>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E7EBF3"/>
                </a:solidFill>
                <a:latin typeface="Calibri" pitchFamily="34" charset="0"/>
                <a:ea typeface="Calibri" pitchFamily="34" charset="-122"/>
                <a:cs typeface="Calibri" pitchFamily="34" charset="-120"/>
              </a:rPr>
              <a:t>Remembers visited areas</a:t>
            </a:r>
            <a:endParaRPr lang="en-US" sz="1600" dirty="0"/>
          </a:p>
          <a:p>
            <a:pPr marL="228600" indent="-228600">
              <a:spcAft>
                <a:spcPts val="800"/>
              </a:spcAft>
              <a:buSzPct val="100000"/>
              <a:buChar char="▪"/>
            </a:pPr>
            <a:r>
              <a:rPr lang="en-US" sz="1600" dirty="0">
                <a:solidFill>
                  <a:srgbClr val="E7EBF3"/>
                </a:solidFill>
                <a:latin typeface="Calibri" pitchFamily="34" charset="0"/>
                <a:ea typeface="Calibri" pitchFamily="34" charset="-122"/>
                <a:cs typeface="Calibri" pitchFamily="34" charset="-120"/>
              </a:rPr>
              <a:t>Builds an approximate map</a:t>
            </a:r>
            <a:endParaRPr lang="en-US" sz="1600" dirty="0"/>
          </a:p>
          <a:p>
            <a:pPr marL="228600" indent="-228600">
              <a:spcAft>
                <a:spcPts val="800"/>
              </a:spcAft>
              <a:buSzPct val="100000"/>
              <a:buChar char="▪"/>
            </a:pPr>
            <a:r>
              <a:rPr lang="en-US" sz="1600" dirty="0">
                <a:solidFill>
                  <a:srgbClr val="E7EBF3"/>
                </a:solidFill>
                <a:latin typeface="Calibri" pitchFamily="34" charset="0"/>
                <a:ea typeface="Calibri" pitchFamily="34" charset="-122"/>
                <a:cs typeface="Calibri" pitchFamily="34" charset="-120"/>
              </a:rPr>
              <a:t>Tracks battery state over time</a:t>
            </a:r>
            <a:endParaRPr lang="en-US" sz="1600" dirty="0"/>
          </a:p>
        </p:txBody>
      </p:sp>
      <p:sp>
        <p:nvSpPr>
          <p:cNvPr id="21" name="Text 19"/>
          <p:cNvSpPr/>
          <p:nvPr/>
        </p:nvSpPr>
        <p:spPr>
          <a:xfrm>
            <a:off x="502920" y="6446520"/>
            <a:ext cx="8229600" cy="320040"/>
          </a:xfrm>
          <a:prstGeom prst="rect">
            <a:avLst/>
          </a:prstGeom>
          <a:noFill/>
          <a:ln/>
        </p:spPr>
        <p:txBody>
          <a:bodyPr wrap="square" rtlCol="0" anchor="ctr"/>
          <a:lstStyle/>
          <a:p>
            <a:pPr marL="0" indent="0">
              <a:buNone/>
            </a:pPr>
            <a:r>
              <a:rPr lang="en-US" sz="1400" i="1" dirty="0">
                <a:solidFill>
                  <a:srgbClr val="5A6478"/>
                </a:solidFill>
                <a:latin typeface="Calibri" pitchFamily="34" charset="0"/>
                <a:ea typeface="Calibri" pitchFamily="34" charset="-122"/>
                <a:cs typeface="Calibri" pitchFamily="34" charset="-120"/>
              </a:rPr>
              <a:t>AI — Intelligent Agents  |  E. Types of Intelligent Agents</a:t>
            </a:r>
            <a:endParaRPr lang="en-US" sz="1400" dirty="0"/>
          </a:p>
        </p:txBody>
      </p:sp>
      <p:sp>
        <p:nvSpPr>
          <p:cNvPr id="22" name="Text 20"/>
          <p:cNvSpPr/>
          <p:nvPr/>
        </p:nvSpPr>
        <p:spPr>
          <a:xfrm>
            <a:off x="10500055" y="6446520"/>
            <a:ext cx="1188720" cy="320040"/>
          </a:xfrm>
          <a:prstGeom prst="rect">
            <a:avLst/>
          </a:prstGeom>
          <a:noFill/>
          <a:ln/>
        </p:spPr>
        <p:txBody>
          <a:bodyPr wrap="square" rtlCol="0" anchor="ctr"/>
          <a:lstStyle/>
          <a:p>
            <a:pPr marL="0" indent="0" algn="r">
              <a:buNone/>
            </a:pPr>
            <a:r>
              <a:rPr lang="en-US" sz="1400" dirty="0">
                <a:solidFill>
                  <a:srgbClr val="5A6478"/>
                </a:solidFill>
                <a:latin typeface="Calibri" pitchFamily="34" charset="0"/>
                <a:ea typeface="Calibri" pitchFamily="34" charset="-122"/>
                <a:cs typeface="Calibri" pitchFamily="34" charset="-120"/>
              </a:rPr>
              <a:t>26 / 40</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85855" cy="347472"/>
          </a:xfrm>
          <a:prstGeom prst="rect">
            <a:avLst/>
          </a:prstGeom>
          <a:noFill/>
          <a:ln/>
        </p:spPr>
        <p:txBody>
          <a:bodyPr wrap="square" rtlCol="0" anchor="ctr"/>
          <a:lstStyle/>
          <a:p>
            <a:pPr marL="0" indent="0">
              <a:buNone/>
            </a:pPr>
            <a:r>
              <a:rPr lang="en-US" sz="1500" b="1" kern="0" spc="150" dirty="0">
                <a:solidFill>
                  <a:srgbClr val="B08D57"/>
                </a:solidFill>
                <a:latin typeface="Calibri" pitchFamily="34" charset="0"/>
                <a:ea typeface="Calibri" pitchFamily="34" charset="-122"/>
                <a:cs typeface="Calibri" pitchFamily="34" charset="-120"/>
              </a:rPr>
              <a:t>E. TYPES OF INTELLIGENT AGENTS</a:t>
            </a:r>
            <a:endParaRPr lang="en-US" sz="1500" dirty="0"/>
          </a:p>
        </p:txBody>
      </p:sp>
      <p:sp>
        <p:nvSpPr>
          <p:cNvPr id="3" name="Text 1"/>
          <p:cNvSpPr txBox="1"/>
          <p:nvPr/>
        </p:nvSpPr>
        <p:spPr>
          <a:xfrm>
            <a:off x="502920" y="676656"/>
            <a:ext cx="11185855" cy="1417320"/>
          </a:xfrm>
          <a:prstGeom prst="rect">
            <a:avLst/>
          </a:prstGeom>
          <a:noFill/>
          <a:ln/>
        </p:spPr>
        <p:txBody>
          <a:bodyPr wrap="square" rtlCol="0" anchor="t"/>
          <a:lstStyle/>
          <a:p>
            <a:pPr marL="0" indent="0">
              <a:lnSpc>
                <a:spcPts val="3584"/>
              </a:lnSpc>
              <a:buNone/>
            </a:pPr>
            <a:r>
              <a:rPr lang="en-US" sz="3200" b="1" dirty="0">
                <a:solidFill>
                  <a:srgbClr val="0B1E3D"/>
                </a:solidFill>
                <a:latin typeface="Cambria" pitchFamily="34" charset="0"/>
                <a:ea typeface="Cambria" pitchFamily="34" charset="-122"/>
                <a:cs typeface="Cambria" pitchFamily="34" charset="-120"/>
              </a:rPr>
              <a:t>Goal-Based Agents</a:t>
            </a:r>
            <a:endParaRPr lang="en-US" sz="3200" dirty="0"/>
          </a:p>
        </p:txBody>
      </p:sp>
      <p:sp>
        <p:nvSpPr>
          <p:cNvPr id="4" name="Shape 2"/>
          <p:cNvSpPr/>
          <p:nvPr/>
        </p:nvSpPr>
        <p:spPr>
          <a:xfrm>
            <a:off x="502920" y="1828800"/>
            <a:ext cx="11185855" cy="1463040"/>
          </a:xfrm>
          <a:prstGeom prst="roundRect">
            <a:avLst>
              <a:gd name="adj" fmla="val 4375"/>
            </a:avLst>
          </a:prstGeom>
          <a:solidFill>
            <a:srgbClr val="0B1E3D"/>
          </a:solidFill>
          <a:ln/>
        </p:spPr>
      </p:sp>
      <p:sp>
        <p:nvSpPr>
          <p:cNvPr id="5" name="Text 3"/>
          <p:cNvSpPr/>
          <p:nvPr/>
        </p:nvSpPr>
        <p:spPr>
          <a:xfrm>
            <a:off x="777240" y="1965960"/>
            <a:ext cx="10637215" cy="411480"/>
          </a:xfrm>
          <a:prstGeom prst="rect">
            <a:avLst/>
          </a:prstGeom>
          <a:noFill/>
          <a:ln/>
        </p:spPr>
        <p:txBody>
          <a:bodyPr wrap="square" rtlCol="0" anchor="ctr"/>
          <a:lstStyle/>
          <a:p>
            <a:pPr marL="0" indent="0">
              <a:buNone/>
            </a:pPr>
            <a:r>
              <a:rPr lang="en-US" sz="1900" b="1" dirty="0">
                <a:solidFill>
                  <a:srgbClr val="B08D57"/>
                </a:solidFill>
                <a:latin typeface="Cambria" pitchFamily="34" charset="0"/>
                <a:ea typeface="Cambria" pitchFamily="34" charset="-122"/>
                <a:cs typeface="Cambria" pitchFamily="34" charset="-120"/>
              </a:rPr>
              <a:t>Definition</a:t>
            </a:r>
            <a:endParaRPr lang="en-US" sz="1900" dirty="0"/>
          </a:p>
        </p:txBody>
      </p:sp>
      <p:sp>
        <p:nvSpPr>
          <p:cNvPr id="6" name="Text 4"/>
          <p:cNvSpPr/>
          <p:nvPr/>
        </p:nvSpPr>
        <p:spPr>
          <a:xfrm>
            <a:off x="777240" y="2450592"/>
            <a:ext cx="10637215" cy="841248"/>
          </a:xfrm>
          <a:prstGeom prst="rect">
            <a:avLst/>
          </a:prstGeom>
          <a:noFill/>
          <a:ln/>
        </p:spPr>
        <p:txBody>
          <a:bodyPr wrap="square" rtlCol="0" anchor="t"/>
          <a:lstStyle/>
          <a:p>
            <a:pPr marL="0" indent="0">
              <a:lnSpc>
                <a:spcPts val="2645"/>
              </a:lnSpc>
              <a:buNone/>
            </a:pPr>
            <a:r>
              <a:rPr lang="en-US" sz="2300" dirty="0">
                <a:solidFill>
                  <a:srgbClr val="E7EBF3"/>
                </a:solidFill>
                <a:latin typeface="Calibri" pitchFamily="34" charset="0"/>
                <a:ea typeface="Calibri" pitchFamily="34" charset="-122"/>
                <a:cs typeface="Calibri" pitchFamily="34" charset="-120"/>
              </a:rPr>
              <a:t>A goal-based agent considers the FUTURE consequences of its actions, choosing ones that are expected to achieve a desired goal.</a:t>
            </a:r>
            <a:endParaRPr lang="en-US" sz="2300" dirty="0"/>
          </a:p>
        </p:txBody>
      </p:sp>
      <p:sp>
        <p:nvSpPr>
          <p:cNvPr id="7" name="Shape 5"/>
          <p:cNvSpPr/>
          <p:nvPr/>
        </p:nvSpPr>
        <p:spPr>
          <a:xfrm>
            <a:off x="502920" y="3429000"/>
            <a:ext cx="2577008" cy="868680"/>
          </a:xfrm>
          <a:prstGeom prst="roundRect">
            <a:avLst>
              <a:gd name="adj" fmla="val 8421"/>
            </a:avLst>
          </a:prstGeom>
          <a:solidFill>
            <a:srgbClr val="F3F5F8"/>
          </a:solidFill>
          <a:ln/>
        </p:spPr>
      </p:sp>
      <p:sp>
        <p:nvSpPr>
          <p:cNvPr id="8" name="Text 6"/>
          <p:cNvSpPr/>
          <p:nvPr/>
        </p:nvSpPr>
        <p:spPr>
          <a:xfrm>
            <a:off x="576072" y="3429000"/>
            <a:ext cx="2430704" cy="868680"/>
          </a:xfrm>
          <a:prstGeom prst="rect">
            <a:avLst/>
          </a:prstGeom>
          <a:noFill/>
          <a:ln/>
        </p:spPr>
        <p:txBody>
          <a:bodyPr wrap="square" rtlCol="0" anchor="ctr"/>
          <a:lstStyle/>
          <a:p>
            <a:pPr marL="0" indent="0" algn="ctr">
              <a:lnSpc>
                <a:spcPts val="1840"/>
              </a:lnSpc>
              <a:buNone/>
            </a:pPr>
            <a:r>
              <a:rPr lang="en-US" sz="1600" b="1" dirty="0">
                <a:solidFill>
                  <a:srgbClr val="0B1E3D"/>
                </a:solidFill>
                <a:latin typeface="Calibri" pitchFamily="34" charset="0"/>
                <a:ea typeface="Calibri" pitchFamily="34" charset="-122"/>
                <a:cs typeface="Calibri" pitchFamily="34" charset="-120"/>
              </a:rPr>
              <a:t>Current State</a:t>
            </a:r>
            <a:endParaRPr lang="en-US" sz="1600" dirty="0"/>
          </a:p>
          <a:p>
            <a:pPr marL="0" indent="0" algn="ctr">
              <a:lnSpc>
                <a:spcPts val="1840"/>
              </a:lnSpc>
              <a:buNone/>
            </a:pPr>
            <a:r>
              <a:rPr lang="en-US" sz="1500" i="1" dirty="0">
                <a:solidFill>
                  <a:srgbClr val="5A6478"/>
                </a:solidFill>
                <a:latin typeface="Calibri" pitchFamily="34" charset="0"/>
                <a:ea typeface="Calibri" pitchFamily="34" charset="-122"/>
                <a:cs typeface="Calibri" pitchFamily="34" charset="-120"/>
              </a:rPr>
              <a:t>+ Goal</a:t>
            </a:r>
            <a:endParaRPr lang="en-US" sz="1600" dirty="0"/>
          </a:p>
        </p:txBody>
      </p:sp>
      <p:sp>
        <p:nvSpPr>
          <p:cNvPr id="9" name="Text 7"/>
          <p:cNvSpPr/>
          <p:nvPr/>
        </p:nvSpPr>
        <p:spPr>
          <a:xfrm>
            <a:off x="3079928" y="3429000"/>
            <a:ext cx="292608" cy="868680"/>
          </a:xfrm>
          <a:prstGeom prst="rect">
            <a:avLst/>
          </a:prstGeom>
          <a:noFill/>
          <a:ln/>
        </p:spPr>
        <p:txBody>
          <a:bodyPr wrap="square" rtlCol="0" anchor="ctr"/>
          <a:lstStyle/>
          <a:p>
            <a:pPr marL="0" indent="0" algn="ctr">
              <a:buNone/>
            </a:pPr>
            <a:r>
              <a:rPr lang="en-US" sz="2400" b="1" dirty="0">
                <a:solidFill>
                  <a:srgbClr val="0B1E3D"/>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3372536" y="3429000"/>
            <a:ext cx="2577008" cy="868680"/>
          </a:xfrm>
          <a:prstGeom prst="roundRect">
            <a:avLst>
              <a:gd name="adj" fmla="val 8421"/>
            </a:avLst>
          </a:prstGeom>
          <a:solidFill>
            <a:srgbClr val="F3F5F8"/>
          </a:solidFill>
          <a:ln/>
        </p:spPr>
      </p:sp>
      <p:sp>
        <p:nvSpPr>
          <p:cNvPr id="11" name="Text 9"/>
          <p:cNvSpPr/>
          <p:nvPr/>
        </p:nvSpPr>
        <p:spPr>
          <a:xfrm>
            <a:off x="3445688" y="3429000"/>
            <a:ext cx="2430704" cy="868680"/>
          </a:xfrm>
          <a:prstGeom prst="rect">
            <a:avLst/>
          </a:prstGeom>
          <a:noFill/>
          <a:ln/>
        </p:spPr>
        <p:txBody>
          <a:bodyPr wrap="square" rtlCol="0" anchor="ctr"/>
          <a:lstStyle/>
          <a:p>
            <a:pPr marL="0" indent="0" algn="ctr">
              <a:lnSpc>
                <a:spcPts val="1840"/>
              </a:lnSpc>
              <a:buNone/>
            </a:pPr>
            <a:r>
              <a:rPr lang="en-US" sz="1600" b="1" dirty="0">
                <a:solidFill>
                  <a:srgbClr val="0B1E3D"/>
                </a:solidFill>
                <a:latin typeface="Calibri" pitchFamily="34" charset="0"/>
                <a:ea typeface="Calibri" pitchFamily="34" charset="-122"/>
                <a:cs typeface="Calibri" pitchFamily="34" charset="-120"/>
              </a:rPr>
              <a:t>Possible Actions</a:t>
            </a:r>
            <a:endParaRPr lang="en-US" sz="1600" dirty="0"/>
          </a:p>
        </p:txBody>
      </p:sp>
      <p:sp>
        <p:nvSpPr>
          <p:cNvPr id="12" name="Text 10"/>
          <p:cNvSpPr/>
          <p:nvPr/>
        </p:nvSpPr>
        <p:spPr>
          <a:xfrm>
            <a:off x="5949544" y="3429000"/>
            <a:ext cx="292608" cy="868680"/>
          </a:xfrm>
          <a:prstGeom prst="rect">
            <a:avLst/>
          </a:prstGeom>
          <a:noFill/>
          <a:ln/>
        </p:spPr>
        <p:txBody>
          <a:bodyPr wrap="square" rtlCol="0" anchor="ctr"/>
          <a:lstStyle/>
          <a:p>
            <a:pPr marL="0" indent="0" algn="ctr">
              <a:buNone/>
            </a:pPr>
            <a:r>
              <a:rPr lang="en-US" sz="2400" b="1" dirty="0">
                <a:solidFill>
                  <a:srgbClr val="0B1E3D"/>
                </a:solidFill>
                <a:latin typeface="Calibri" pitchFamily="34" charset="0"/>
                <a:ea typeface="Calibri" pitchFamily="34" charset="-122"/>
                <a:cs typeface="Calibri" pitchFamily="34" charset="-120"/>
              </a:rPr>
              <a:t>→</a:t>
            </a:r>
            <a:endParaRPr lang="en-US" sz="2400" dirty="0"/>
          </a:p>
        </p:txBody>
      </p:sp>
      <p:sp>
        <p:nvSpPr>
          <p:cNvPr id="13" name="Shape 11"/>
          <p:cNvSpPr/>
          <p:nvPr/>
        </p:nvSpPr>
        <p:spPr>
          <a:xfrm>
            <a:off x="6242152" y="3429000"/>
            <a:ext cx="2577008" cy="868680"/>
          </a:xfrm>
          <a:prstGeom prst="roundRect">
            <a:avLst>
              <a:gd name="adj" fmla="val 8421"/>
            </a:avLst>
          </a:prstGeom>
          <a:solidFill>
            <a:srgbClr val="F3F5F8"/>
          </a:solidFill>
          <a:ln/>
        </p:spPr>
      </p:sp>
      <p:sp>
        <p:nvSpPr>
          <p:cNvPr id="14" name="Text 12"/>
          <p:cNvSpPr/>
          <p:nvPr/>
        </p:nvSpPr>
        <p:spPr>
          <a:xfrm>
            <a:off x="6315304" y="3429000"/>
            <a:ext cx="2430704" cy="868680"/>
          </a:xfrm>
          <a:prstGeom prst="rect">
            <a:avLst/>
          </a:prstGeom>
          <a:noFill/>
          <a:ln/>
        </p:spPr>
        <p:txBody>
          <a:bodyPr wrap="square" rtlCol="0" anchor="ctr"/>
          <a:lstStyle/>
          <a:p>
            <a:pPr marL="0" indent="0" algn="ctr">
              <a:lnSpc>
                <a:spcPts val="1725"/>
              </a:lnSpc>
              <a:buNone/>
            </a:pPr>
            <a:r>
              <a:rPr lang="en-US" sz="1500" b="1" dirty="0">
                <a:solidFill>
                  <a:srgbClr val="0B1E3D"/>
                </a:solidFill>
                <a:latin typeface="Calibri" pitchFamily="34" charset="0"/>
                <a:ea typeface="Calibri" pitchFamily="34" charset="-122"/>
                <a:cs typeface="Calibri" pitchFamily="34" charset="-120"/>
              </a:rPr>
              <a:t>Search / Planning</a:t>
            </a:r>
            <a:endParaRPr lang="en-US" sz="1500" dirty="0"/>
          </a:p>
        </p:txBody>
      </p:sp>
      <p:sp>
        <p:nvSpPr>
          <p:cNvPr id="15" name="Text 13"/>
          <p:cNvSpPr/>
          <p:nvPr/>
        </p:nvSpPr>
        <p:spPr>
          <a:xfrm>
            <a:off x="8819159" y="3429000"/>
            <a:ext cx="292608" cy="868680"/>
          </a:xfrm>
          <a:prstGeom prst="rect">
            <a:avLst/>
          </a:prstGeom>
          <a:noFill/>
          <a:ln/>
        </p:spPr>
        <p:txBody>
          <a:bodyPr wrap="square" rtlCol="0" anchor="ctr"/>
          <a:lstStyle/>
          <a:p>
            <a:pPr marL="0" indent="0" algn="ctr">
              <a:buNone/>
            </a:pPr>
            <a:r>
              <a:rPr lang="en-US" sz="2400" b="1" dirty="0">
                <a:solidFill>
                  <a:srgbClr val="0B1E3D"/>
                </a:solidFill>
                <a:latin typeface="Calibri" pitchFamily="34" charset="0"/>
                <a:ea typeface="Calibri" pitchFamily="34" charset="-122"/>
                <a:cs typeface="Calibri" pitchFamily="34" charset="-120"/>
              </a:rPr>
              <a:t>→</a:t>
            </a:r>
            <a:endParaRPr lang="en-US" sz="2400" dirty="0"/>
          </a:p>
        </p:txBody>
      </p:sp>
      <p:sp>
        <p:nvSpPr>
          <p:cNvPr id="16" name="Shape 14"/>
          <p:cNvSpPr/>
          <p:nvPr/>
        </p:nvSpPr>
        <p:spPr>
          <a:xfrm>
            <a:off x="9111767" y="3429000"/>
            <a:ext cx="2577008" cy="868680"/>
          </a:xfrm>
          <a:prstGeom prst="roundRect">
            <a:avLst>
              <a:gd name="adj" fmla="val 8421"/>
            </a:avLst>
          </a:prstGeom>
          <a:solidFill>
            <a:srgbClr val="F3F5F8"/>
          </a:solidFill>
          <a:ln/>
        </p:spPr>
      </p:sp>
      <p:sp>
        <p:nvSpPr>
          <p:cNvPr id="17" name="Text 15"/>
          <p:cNvSpPr/>
          <p:nvPr/>
        </p:nvSpPr>
        <p:spPr>
          <a:xfrm>
            <a:off x="9184919" y="3429000"/>
            <a:ext cx="2430704" cy="868680"/>
          </a:xfrm>
          <a:prstGeom prst="rect">
            <a:avLst/>
          </a:prstGeom>
          <a:noFill/>
          <a:ln/>
        </p:spPr>
        <p:txBody>
          <a:bodyPr wrap="square" rtlCol="0" anchor="ctr"/>
          <a:lstStyle/>
          <a:p>
            <a:pPr marL="0" indent="0" algn="ctr">
              <a:lnSpc>
                <a:spcPts val="1725"/>
              </a:lnSpc>
              <a:buNone/>
            </a:pPr>
            <a:r>
              <a:rPr lang="en-US" sz="1500" b="1" dirty="0">
                <a:solidFill>
                  <a:srgbClr val="0B1E3D"/>
                </a:solidFill>
                <a:latin typeface="Calibri" pitchFamily="34" charset="0"/>
                <a:ea typeface="Calibri" pitchFamily="34" charset="-122"/>
                <a:cs typeface="Calibri" pitchFamily="34" charset="-120"/>
              </a:rPr>
              <a:t>Selected Action</a:t>
            </a:r>
            <a:endParaRPr lang="en-US" sz="1500" dirty="0"/>
          </a:p>
        </p:txBody>
      </p:sp>
      <p:sp>
        <p:nvSpPr>
          <p:cNvPr id="18" name="Text 16"/>
          <p:cNvSpPr/>
          <p:nvPr/>
        </p:nvSpPr>
        <p:spPr>
          <a:xfrm>
            <a:off x="502920" y="4480560"/>
            <a:ext cx="11185855" cy="777240"/>
          </a:xfrm>
          <a:prstGeom prst="rect">
            <a:avLst/>
          </a:prstGeom>
          <a:noFill/>
          <a:ln/>
        </p:spPr>
        <p:txBody>
          <a:bodyPr wrap="square" rtlCol="0" anchor="ctr"/>
          <a:lstStyle/>
          <a:p>
            <a:pPr marL="0" indent="0">
              <a:lnSpc>
                <a:spcPts val="2375"/>
              </a:lnSpc>
              <a:buNone/>
            </a:pPr>
            <a:r>
              <a:rPr lang="en-US" sz="1900" b="1" dirty="0">
                <a:solidFill>
                  <a:srgbClr val="0B1E3D"/>
                </a:solidFill>
                <a:latin typeface="Calibri" pitchFamily="34" charset="0"/>
                <a:ea typeface="Calibri" pitchFamily="34" charset="-122"/>
                <a:cs typeface="Calibri" pitchFamily="34" charset="-120"/>
              </a:rPr>
              <a:t>Example — GPS navigation:  </a:t>
            </a:r>
            <a:r>
              <a:rPr lang="en-US" sz="1900" dirty="0">
                <a:solidFill>
                  <a:srgbClr val="1A1F2B"/>
                </a:solidFill>
                <a:latin typeface="Calibri" pitchFamily="34" charset="0"/>
                <a:ea typeface="Calibri" pitchFamily="34" charset="-122"/>
                <a:cs typeface="Calibri" pitchFamily="34" charset="-120"/>
              </a:rPr>
              <a:t>the goal is “reach the destination.” The system considers multiple alternative routes and selects one expected to achieve that goal.</a:t>
            </a:r>
            <a:endParaRPr lang="en-US" sz="1900" dirty="0"/>
          </a:p>
        </p:txBody>
      </p:sp>
      <p:sp>
        <p:nvSpPr>
          <p:cNvPr id="19" name="Text 17"/>
          <p:cNvSpPr/>
          <p:nvPr/>
        </p:nvSpPr>
        <p:spPr>
          <a:xfrm>
            <a:off x="502920" y="5349240"/>
            <a:ext cx="11185855" cy="914400"/>
          </a:xfrm>
          <a:prstGeom prst="rect">
            <a:avLst/>
          </a:prstGeom>
          <a:noFill/>
          <a:ln/>
        </p:spPr>
        <p:txBody>
          <a:bodyPr wrap="square" rtlCol="0" anchor="ctr"/>
          <a:lstStyle/>
          <a:p>
            <a:pPr marL="0" indent="0">
              <a:lnSpc>
                <a:spcPts val="2375"/>
              </a:lnSpc>
              <a:buNone/>
            </a:pPr>
            <a:r>
              <a:rPr lang="en-US" sz="1900" b="1" dirty="0">
                <a:solidFill>
                  <a:srgbClr val="0B1E3D"/>
                </a:solidFill>
                <a:latin typeface="Calibri" pitchFamily="34" charset="0"/>
                <a:ea typeface="Calibri" pitchFamily="34" charset="-122"/>
                <a:cs typeface="Calibri" pitchFamily="34" charset="-120"/>
              </a:rPr>
              <a:t>Key contrast:  </a:t>
            </a:r>
            <a:r>
              <a:rPr lang="en-US" sz="1900" dirty="0">
                <a:solidFill>
                  <a:srgbClr val="1A1F2B"/>
                </a:solidFill>
                <a:latin typeface="Calibri" pitchFamily="34" charset="0"/>
                <a:ea typeface="Calibri" pitchFamily="34" charset="-122"/>
                <a:cs typeface="Calibri" pitchFamily="34" charset="-120"/>
              </a:rPr>
              <a:t>a model-based agent asks “what is true now?”; a goal-based agent also asks “what sequence of actions gets me where I want to be?” — far more flexible than fixed rules.</a:t>
            </a:r>
            <a:endParaRPr lang="en-US" sz="1900" dirty="0"/>
          </a:p>
        </p:txBody>
      </p:sp>
      <p:sp>
        <p:nvSpPr>
          <p:cNvPr id="20" name="Text 18"/>
          <p:cNvSpPr/>
          <p:nvPr/>
        </p:nvSpPr>
        <p:spPr>
          <a:xfrm>
            <a:off x="502920" y="6446520"/>
            <a:ext cx="8229600" cy="320040"/>
          </a:xfrm>
          <a:prstGeom prst="rect">
            <a:avLst/>
          </a:prstGeom>
          <a:noFill/>
          <a:ln/>
        </p:spPr>
        <p:txBody>
          <a:bodyPr wrap="square" rtlCol="0" anchor="ctr"/>
          <a:lstStyle/>
          <a:p>
            <a:pPr marL="0" indent="0">
              <a:buNone/>
            </a:pPr>
            <a:r>
              <a:rPr lang="en-US" sz="1400" i="1" dirty="0">
                <a:solidFill>
                  <a:srgbClr val="5A6478"/>
                </a:solidFill>
                <a:latin typeface="Calibri" pitchFamily="34" charset="0"/>
                <a:ea typeface="Calibri" pitchFamily="34" charset="-122"/>
                <a:cs typeface="Calibri" pitchFamily="34" charset="-120"/>
              </a:rPr>
              <a:t>AI — Intelligent Agents  |  E. Types of Intelligent Agents</a:t>
            </a:r>
            <a:endParaRPr lang="en-US" sz="1400" dirty="0"/>
          </a:p>
        </p:txBody>
      </p:sp>
      <p:sp>
        <p:nvSpPr>
          <p:cNvPr id="21" name="Text 19"/>
          <p:cNvSpPr/>
          <p:nvPr/>
        </p:nvSpPr>
        <p:spPr>
          <a:xfrm>
            <a:off x="10500055" y="6446520"/>
            <a:ext cx="1188720" cy="320040"/>
          </a:xfrm>
          <a:prstGeom prst="rect">
            <a:avLst/>
          </a:prstGeom>
          <a:noFill/>
          <a:ln/>
        </p:spPr>
        <p:txBody>
          <a:bodyPr wrap="square" rtlCol="0" anchor="ctr"/>
          <a:lstStyle/>
          <a:p>
            <a:pPr marL="0" indent="0" algn="r">
              <a:buNone/>
            </a:pPr>
            <a:r>
              <a:rPr lang="en-US" sz="1400" dirty="0">
                <a:solidFill>
                  <a:srgbClr val="5A6478"/>
                </a:solidFill>
                <a:latin typeface="Calibri" pitchFamily="34" charset="0"/>
                <a:ea typeface="Calibri" pitchFamily="34" charset="-122"/>
                <a:cs typeface="Calibri" pitchFamily="34" charset="-120"/>
              </a:rPr>
              <a:t>27 / 40</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85855" cy="347472"/>
          </a:xfrm>
          <a:prstGeom prst="rect">
            <a:avLst/>
          </a:prstGeom>
          <a:noFill/>
          <a:ln/>
        </p:spPr>
        <p:txBody>
          <a:bodyPr wrap="square" rtlCol="0" anchor="ctr"/>
          <a:lstStyle/>
          <a:p>
            <a:pPr marL="0" indent="0">
              <a:buNone/>
            </a:pPr>
            <a:r>
              <a:rPr lang="en-US" sz="1500" b="1" kern="0" spc="150" dirty="0">
                <a:solidFill>
                  <a:srgbClr val="B08D57"/>
                </a:solidFill>
                <a:latin typeface="Calibri" pitchFamily="34" charset="0"/>
                <a:ea typeface="Calibri" pitchFamily="34" charset="-122"/>
                <a:cs typeface="Calibri" pitchFamily="34" charset="-120"/>
              </a:rPr>
              <a:t>E. TYPES OF INTELLIGENT AGENTS</a:t>
            </a:r>
            <a:endParaRPr lang="en-US" sz="1500" dirty="0"/>
          </a:p>
        </p:txBody>
      </p:sp>
      <p:sp>
        <p:nvSpPr>
          <p:cNvPr id="3" name="Text 1"/>
          <p:cNvSpPr txBox="1"/>
          <p:nvPr/>
        </p:nvSpPr>
        <p:spPr>
          <a:xfrm>
            <a:off x="502920" y="676656"/>
            <a:ext cx="11185855" cy="1417320"/>
          </a:xfrm>
          <a:prstGeom prst="rect">
            <a:avLst/>
          </a:prstGeom>
          <a:noFill/>
          <a:ln/>
        </p:spPr>
        <p:txBody>
          <a:bodyPr wrap="square" rtlCol="0" anchor="t"/>
          <a:lstStyle/>
          <a:p>
            <a:pPr marL="0" indent="0">
              <a:lnSpc>
                <a:spcPts val="3136"/>
              </a:lnSpc>
              <a:buNone/>
            </a:pPr>
            <a:r>
              <a:rPr lang="en-US" sz="2800" b="1" dirty="0">
                <a:solidFill>
                  <a:srgbClr val="0B1E3D"/>
                </a:solidFill>
                <a:latin typeface="Cambria" pitchFamily="34" charset="0"/>
                <a:ea typeface="Cambria" pitchFamily="34" charset="-122"/>
                <a:cs typeface="Cambria" pitchFamily="34" charset="-120"/>
              </a:rPr>
              <a:t>Goal-Based Agent: Real-Life Examples</a:t>
            </a:r>
            <a:endParaRPr lang="en-US" sz="28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02920" y="1965960"/>
          <a:ext cx="11185855" cy="914400"/>
        </p:xfrm>
        <a:graphic>
          <a:graphicData uri="http://schemas.openxmlformats.org/drawingml/2006/table">
            <a:tbl>
              <a:tblPr/>
              <a:tblGrid>
                <a:gridCol w="2743200">
                  <a:extLst>
                    <a:ext uri="{9D8B030D-6E8A-4147-A177-3AD203B41FA5}">
                      <a16:colId xmlns:a16="http://schemas.microsoft.com/office/drawing/2014/main" val="20000"/>
                    </a:ext>
                  </a:extLst>
                </a:gridCol>
                <a:gridCol w="2816352">
                  <a:extLst>
                    <a:ext uri="{9D8B030D-6E8A-4147-A177-3AD203B41FA5}">
                      <a16:colId xmlns:a16="http://schemas.microsoft.com/office/drawing/2014/main" val="20001"/>
                    </a:ext>
                  </a:extLst>
                </a:gridCol>
                <a:gridCol w="2816352">
                  <a:extLst>
                    <a:ext uri="{9D8B030D-6E8A-4147-A177-3AD203B41FA5}">
                      <a16:colId xmlns:a16="http://schemas.microsoft.com/office/drawing/2014/main" val="20002"/>
                    </a:ext>
                  </a:extLst>
                </a:gridCol>
                <a:gridCol w="2807208">
                  <a:extLst>
                    <a:ext uri="{9D8B030D-6E8A-4147-A177-3AD203B41FA5}">
                      <a16:colId xmlns:a16="http://schemas.microsoft.com/office/drawing/2014/main" val="20003"/>
                    </a:ext>
                  </a:extLst>
                </a:gridCol>
              </a:tblGrid>
              <a:tr h="457200">
                <a:tc>
                  <a:txBody>
                    <a:bodyPr/>
                    <a:lstStyle/>
                    <a:p>
                      <a:pPr marL="0" indent="0" algn="ctr">
                        <a:buNone/>
                      </a:pPr>
                      <a:r>
                        <a:rPr lang="en-US" sz="1800" b="1" dirty="0">
                          <a:solidFill>
                            <a:srgbClr val="FFFFFF"/>
                          </a:solidFill>
                        </a:rPr>
                        <a:t>System</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0B1E3D"/>
                    </a:solidFill>
                  </a:tcPr>
                </a:tc>
                <a:tc>
                  <a:txBody>
                    <a:bodyPr/>
                    <a:lstStyle/>
                    <a:p>
                      <a:pPr marL="0" indent="0" algn="ctr">
                        <a:buNone/>
                      </a:pPr>
                      <a:r>
                        <a:rPr lang="en-US" sz="1800" b="1" dirty="0">
                          <a:solidFill>
                            <a:srgbClr val="FFFFFF"/>
                          </a:solidFill>
                        </a:rPr>
                        <a:t>Current State</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0B1E3D"/>
                    </a:solidFill>
                  </a:tcPr>
                </a:tc>
                <a:tc>
                  <a:txBody>
                    <a:bodyPr/>
                    <a:lstStyle/>
                    <a:p>
                      <a:pPr marL="0" indent="0" algn="ctr">
                        <a:buNone/>
                      </a:pPr>
                      <a:r>
                        <a:rPr lang="en-US" sz="1800" b="1" dirty="0">
                          <a:solidFill>
                            <a:srgbClr val="FFFFFF"/>
                          </a:solidFill>
                        </a:rPr>
                        <a:t>Goal</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0B1E3D"/>
                    </a:solidFill>
                  </a:tcPr>
                </a:tc>
                <a:tc>
                  <a:txBody>
                    <a:bodyPr/>
                    <a:lstStyle/>
                    <a:p>
                      <a:pPr marL="0" indent="0" algn="ctr">
                        <a:buNone/>
                      </a:pPr>
                      <a:r>
                        <a:rPr lang="en-US" sz="1800" b="1" dirty="0">
                          <a:solidFill>
                            <a:srgbClr val="FFFFFF"/>
                          </a:solidFill>
                        </a:rPr>
                        <a:t>Possible Actions</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0B1E3D"/>
                    </a:solidFill>
                  </a:tcPr>
                </a:tc>
                <a:extLst>
                  <a:ext uri="{0D108BD9-81ED-4DB2-BD59-A6C34878D82A}">
                    <a16:rowId xmlns:a16="http://schemas.microsoft.com/office/drawing/2014/main" val="10000"/>
                  </a:ext>
                </a:extLst>
              </a:tr>
              <a:tr h="621792">
                <a:tc>
                  <a:txBody>
                    <a:bodyPr/>
                    <a:lstStyle/>
                    <a:p>
                      <a:pPr marL="0" indent="0" algn="l">
                        <a:buNone/>
                      </a:pPr>
                      <a:r>
                        <a:rPr lang="en-US" sz="1800" b="1" dirty="0">
                          <a:solidFill>
                            <a:srgbClr val="1A1F2B"/>
                          </a:solidFill>
                        </a:rPr>
                        <a:t>GPS route planning</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A1F2B"/>
                          </a:solidFill>
                        </a:rPr>
                        <a:t>Current location</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A1F2B"/>
                          </a:solidFill>
                        </a:rPr>
                        <a:t>Reach destination</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A1F2B"/>
                          </a:solidFill>
                        </a:rPr>
                        <a:t>Alternative routes</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21792">
                <a:tc>
                  <a:txBody>
                    <a:bodyPr/>
                    <a:lstStyle/>
                    <a:p>
                      <a:pPr marL="0" indent="0" algn="l">
                        <a:buNone/>
                      </a:pPr>
                      <a:r>
                        <a:rPr lang="en-US" sz="1800" b="1" dirty="0">
                          <a:solidFill>
                            <a:srgbClr val="1A1F2B"/>
                          </a:solidFill>
                        </a:rPr>
                        <a:t>Chess-playing AI</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3F5F8"/>
                    </a:solidFill>
                  </a:tcPr>
                </a:tc>
                <a:tc>
                  <a:txBody>
                    <a:bodyPr/>
                    <a:lstStyle/>
                    <a:p>
                      <a:pPr marL="0" indent="0" algn="ctr">
                        <a:buNone/>
                      </a:pPr>
                      <a:r>
                        <a:rPr lang="en-US" sz="1800" dirty="0">
                          <a:solidFill>
                            <a:srgbClr val="1A1F2B"/>
                          </a:solidFill>
                        </a:rPr>
                        <a:t>Board position</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3F5F8"/>
                    </a:solidFill>
                  </a:tcPr>
                </a:tc>
                <a:tc>
                  <a:txBody>
                    <a:bodyPr/>
                    <a:lstStyle/>
                    <a:p>
                      <a:pPr marL="0" indent="0" algn="ctr">
                        <a:buNone/>
                      </a:pPr>
                      <a:r>
                        <a:rPr lang="en-US" sz="1800" dirty="0">
                          <a:solidFill>
                            <a:srgbClr val="1A1F2B"/>
                          </a:solidFill>
                        </a:rPr>
                        <a:t>Checkmate opponent</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3F5F8"/>
                    </a:solidFill>
                  </a:tcPr>
                </a:tc>
                <a:tc>
                  <a:txBody>
                    <a:bodyPr/>
                    <a:lstStyle/>
                    <a:p>
                      <a:pPr marL="0" indent="0" algn="ctr">
                        <a:buNone/>
                      </a:pPr>
                      <a:r>
                        <a:rPr lang="en-US" sz="1800" dirty="0">
                          <a:solidFill>
                            <a:srgbClr val="1A1F2B"/>
                          </a:solidFill>
                        </a:rPr>
                        <a:t>Legal moves</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3F5F8"/>
                    </a:solidFill>
                  </a:tcPr>
                </a:tc>
                <a:extLst>
                  <a:ext uri="{0D108BD9-81ED-4DB2-BD59-A6C34878D82A}">
                    <a16:rowId xmlns:a16="http://schemas.microsoft.com/office/drawing/2014/main" val="10002"/>
                  </a:ext>
                </a:extLst>
              </a:tr>
              <a:tr h="621792">
                <a:tc>
                  <a:txBody>
                    <a:bodyPr/>
                    <a:lstStyle/>
                    <a:p>
                      <a:pPr marL="0" indent="0" algn="l">
                        <a:buNone/>
                      </a:pPr>
                      <a:r>
                        <a:rPr lang="en-US" sz="1800" b="1" dirty="0">
                          <a:solidFill>
                            <a:srgbClr val="1A1F2B"/>
                          </a:solidFill>
                        </a:rPr>
                        <a:t>Warehouse robot</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A1F2B"/>
                          </a:solidFill>
                        </a:rPr>
                        <a:t>Robot's position</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A1F2B"/>
                          </a:solidFill>
                        </a:rPr>
                        <a:t>Deliver item to bay</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A1F2B"/>
                          </a:solidFill>
                        </a:rPr>
                        <a:t>Move, turn, lift</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21792">
                <a:tc>
                  <a:txBody>
                    <a:bodyPr/>
                    <a:lstStyle/>
                    <a:p>
                      <a:pPr marL="0" indent="0" algn="l">
                        <a:buNone/>
                      </a:pPr>
                      <a:r>
                        <a:rPr lang="en-US" sz="1800" b="1" dirty="0">
                          <a:solidFill>
                            <a:srgbClr val="1A1F2B"/>
                          </a:solidFill>
                        </a:rPr>
                        <a:t>Puzzle-solving system</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3F5F8"/>
                    </a:solidFill>
                  </a:tcPr>
                </a:tc>
                <a:tc>
                  <a:txBody>
                    <a:bodyPr/>
                    <a:lstStyle/>
                    <a:p>
                      <a:pPr marL="0" indent="0" algn="ctr">
                        <a:buNone/>
                      </a:pPr>
                      <a:r>
                        <a:rPr lang="en-US" sz="1800" dirty="0">
                          <a:solidFill>
                            <a:srgbClr val="1A1F2B"/>
                          </a:solidFill>
                        </a:rPr>
                        <a:t>Current arrangement</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3F5F8"/>
                    </a:solidFill>
                  </a:tcPr>
                </a:tc>
                <a:tc>
                  <a:txBody>
                    <a:bodyPr/>
                    <a:lstStyle/>
                    <a:p>
                      <a:pPr marL="0" indent="0" algn="ctr">
                        <a:buNone/>
                      </a:pPr>
                      <a:r>
                        <a:rPr lang="en-US" sz="1800" dirty="0">
                          <a:solidFill>
                            <a:srgbClr val="1A1F2B"/>
                          </a:solidFill>
                        </a:rPr>
                        <a:t>Solved configuration</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3F5F8"/>
                    </a:solidFill>
                  </a:tcPr>
                </a:tc>
                <a:tc>
                  <a:txBody>
                    <a:bodyPr/>
                    <a:lstStyle/>
                    <a:p>
                      <a:pPr marL="0" indent="0" algn="ctr">
                        <a:buNone/>
                      </a:pPr>
                      <a:r>
                        <a:rPr lang="en-US" sz="1800" dirty="0">
                          <a:solidFill>
                            <a:srgbClr val="1A1F2B"/>
                          </a:solidFill>
                        </a:rPr>
                        <a:t>Valid moves</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3F5F8"/>
                    </a:solidFill>
                  </a:tcPr>
                </a:tc>
                <a:extLst>
                  <a:ext uri="{0D108BD9-81ED-4DB2-BD59-A6C34878D82A}">
                    <a16:rowId xmlns:a16="http://schemas.microsoft.com/office/drawing/2014/main" val="10004"/>
                  </a:ext>
                </a:extLst>
              </a:tr>
            </a:tbl>
          </a:graphicData>
        </a:graphic>
      </p:graphicFrame>
      <p:sp>
        <p:nvSpPr>
          <p:cNvPr id="5" name="Text 2"/>
          <p:cNvSpPr/>
          <p:nvPr/>
        </p:nvSpPr>
        <p:spPr>
          <a:xfrm>
            <a:off x="502920" y="5029200"/>
            <a:ext cx="11185855" cy="1005840"/>
          </a:xfrm>
          <a:prstGeom prst="rect">
            <a:avLst/>
          </a:prstGeom>
          <a:noFill/>
          <a:ln/>
        </p:spPr>
        <p:txBody>
          <a:bodyPr wrap="square" rtlCol="0" anchor="ctr"/>
          <a:lstStyle/>
          <a:p>
            <a:pPr marL="0" indent="0">
              <a:lnSpc>
                <a:spcPts val="2375"/>
              </a:lnSpc>
              <a:buNone/>
            </a:pPr>
            <a:r>
              <a:rPr lang="en-US" sz="1900" b="1" dirty="0">
                <a:solidFill>
                  <a:srgbClr val="0B1E3D"/>
                </a:solidFill>
                <a:latin typeface="Calibri" pitchFamily="34" charset="0"/>
                <a:ea typeface="Calibri" pitchFamily="34" charset="-122"/>
                <a:cs typeface="Calibri" pitchFamily="34" charset="-120"/>
              </a:rPr>
              <a:t>GPS, fully worked:  </a:t>
            </a:r>
            <a:r>
              <a:rPr lang="en-US" sz="1900" dirty="0">
                <a:solidFill>
                  <a:srgbClr val="1A1F2B"/>
                </a:solidFill>
                <a:latin typeface="Calibri" pitchFamily="34" charset="0"/>
                <a:ea typeface="Calibri" pitchFamily="34" charset="-122"/>
                <a:cs typeface="Calibri" pitchFamily="34" charset="-120"/>
              </a:rPr>
              <a:t>starting from the current location, the system searches over alternative routes and selects the one expected to reach the destination — this planning process connects directly to the search algorithms in the next lecture.</a:t>
            </a:r>
            <a:endParaRPr lang="en-US" sz="1900" dirty="0"/>
          </a:p>
        </p:txBody>
      </p:sp>
      <p:sp>
        <p:nvSpPr>
          <p:cNvPr id="6" name="Text 3"/>
          <p:cNvSpPr/>
          <p:nvPr/>
        </p:nvSpPr>
        <p:spPr>
          <a:xfrm>
            <a:off x="502920" y="6446520"/>
            <a:ext cx="8229600" cy="320040"/>
          </a:xfrm>
          <a:prstGeom prst="rect">
            <a:avLst/>
          </a:prstGeom>
          <a:noFill/>
          <a:ln/>
        </p:spPr>
        <p:txBody>
          <a:bodyPr wrap="square" rtlCol="0" anchor="ctr"/>
          <a:lstStyle/>
          <a:p>
            <a:pPr marL="0" indent="0">
              <a:buNone/>
            </a:pPr>
            <a:r>
              <a:rPr lang="en-US" sz="1400" i="1" dirty="0">
                <a:solidFill>
                  <a:srgbClr val="5A6478"/>
                </a:solidFill>
                <a:latin typeface="Calibri" pitchFamily="34" charset="0"/>
                <a:ea typeface="Calibri" pitchFamily="34" charset="-122"/>
                <a:cs typeface="Calibri" pitchFamily="34" charset="-120"/>
              </a:rPr>
              <a:t>AI — Intelligent Agents  |  E. Types of Intelligent Agents</a:t>
            </a:r>
            <a:endParaRPr lang="en-US" sz="1400" dirty="0"/>
          </a:p>
        </p:txBody>
      </p:sp>
      <p:sp>
        <p:nvSpPr>
          <p:cNvPr id="7" name="Text 4"/>
          <p:cNvSpPr/>
          <p:nvPr/>
        </p:nvSpPr>
        <p:spPr>
          <a:xfrm>
            <a:off x="10500055" y="6446520"/>
            <a:ext cx="1188720" cy="320040"/>
          </a:xfrm>
          <a:prstGeom prst="rect">
            <a:avLst/>
          </a:prstGeom>
          <a:noFill/>
          <a:ln/>
        </p:spPr>
        <p:txBody>
          <a:bodyPr wrap="square" rtlCol="0" anchor="ctr"/>
          <a:lstStyle/>
          <a:p>
            <a:pPr marL="0" indent="0" algn="r">
              <a:buNone/>
            </a:pPr>
            <a:r>
              <a:rPr lang="en-US" sz="1400" dirty="0">
                <a:solidFill>
                  <a:srgbClr val="5A6478"/>
                </a:solidFill>
                <a:latin typeface="Calibri" pitchFamily="34" charset="0"/>
                <a:ea typeface="Calibri" pitchFamily="34" charset="-122"/>
                <a:cs typeface="Calibri" pitchFamily="34" charset="-120"/>
              </a:rPr>
              <a:t>28 / 40</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85855" cy="347472"/>
          </a:xfrm>
          <a:prstGeom prst="rect">
            <a:avLst/>
          </a:prstGeom>
          <a:noFill/>
          <a:ln/>
        </p:spPr>
        <p:txBody>
          <a:bodyPr wrap="square" rtlCol="0" anchor="ctr"/>
          <a:lstStyle/>
          <a:p>
            <a:pPr marL="0" indent="0">
              <a:buNone/>
            </a:pPr>
            <a:r>
              <a:rPr lang="en-US" sz="1500" b="1" kern="0" spc="150" dirty="0">
                <a:solidFill>
                  <a:srgbClr val="B08D57"/>
                </a:solidFill>
                <a:latin typeface="Calibri" pitchFamily="34" charset="0"/>
                <a:ea typeface="Calibri" pitchFamily="34" charset="-122"/>
                <a:cs typeface="Calibri" pitchFamily="34" charset="-120"/>
              </a:rPr>
              <a:t>E. TYPES OF INTELLIGENT AGENTS</a:t>
            </a:r>
            <a:endParaRPr lang="en-US" sz="1500" dirty="0"/>
          </a:p>
        </p:txBody>
      </p:sp>
      <p:sp>
        <p:nvSpPr>
          <p:cNvPr id="3" name="Text 1"/>
          <p:cNvSpPr txBox="1"/>
          <p:nvPr/>
        </p:nvSpPr>
        <p:spPr>
          <a:xfrm>
            <a:off x="502920" y="676656"/>
            <a:ext cx="11185855" cy="1417320"/>
          </a:xfrm>
          <a:prstGeom prst="rect">
            <a:avLst/>
          </a:prstGeom>
          <a:noFill/>
          <a:ln/>
        </p:spPr>
        <p:txBody>
          <a:bodyPr wrap="square" rtlCol="0" anchor="t"/>
          <a:lstStyle/>
          <a:p>
            <a:pPr marL="0" indent="0">
              <a:lnSpc>
                <a:spcPts val="3584"/>
              </a:lnSpc>
              <a:buNone/>
            </a:pPr>
            <a:r>
              <a:rPr lang="en-US" sz="3200" b="1" dirty="0">
                <a:solidFill>
                  <a:srgbClr val="0B1E3D"/>
                </a:solidFill>
                <a:latin typeface="Cambria" pitchFamily="34" charset="0"/>
                <a:ea typeface="Cambria" pitchFamily="34" charset="-122"/>
                <a:cs typeface="Cambria" pitchFamily="34" charset="-120"/>
              </a:rPr>
              <a:t>Utility-Based Agents</a:t>
            </a:r>
            <a:endParaRPr lang="en-US" sz="3200" dirty="0"/>
          </a:p>
        </p:txBody>
      </p:sp>
      <p:sp>
        <p:nvSpPr>
          <p:cNvPr id="4" name="Text 2"/>
          <p:cNvSpPr/>
          <p:nvPr/>
        </p:nvSpPr>
        <p:spPr>
          <a:xfrm>
            <a:off x="502920" y="1828800"/>
            <a:ext cx="11185855" cy="731520"/>
          </a:xfrm>
          <a:prstGeom prst="rect">
            <a:avLst/>
          </a:prstGeom>
          <a:noFill/>
          <a:ln/>
        </p:spPr>
        <p:txBody>
          <a:bodyPr wrap="square" lIns="0" tIns="0" rIns="0" bIns="0" rtlCol="0" anchor="t"/>
          <a:lstStyle/>
          <a:p>
            <a:pPr marL="228600" indent="-228600">
              <a:buSzPct val="100000"/>
              <a:buChar char="▪"/>
            </a:pPr>
            <a:r>
              <a:rPr lang="en-US" sz="2000" b="1" dirty="0">
                <a:solidFill>
                  <a:srgbClr val="0B1E3D"/>
                </a:solidFill>
                <a:latin typeface="Calibri" pitchFamily="34" charset="0"/>
                <a:ea typeface="Calibri" pitchFamily="34" charset="-122"/>
                <a:cs typeface="Calibri" pitchFamily="34" charset="-120"/>
              </a:rPr>
              <a:t>Why goals alone are not enough — </a:t>
            </a:r>
            <a:r>
              <a:rPr lang="en-US" sz="2000" dirty="0">
                <a:solidFill>
                  <a:srgbClr val="1A1F2B"/>
                </a:solidFill>
                <a:latin typeface="Calibri" pitchFamily="34" charset="0"/>
                <a:ea typeface="Calibri" pitchFamily="34" charset="-122"/>
                <a:cs typeface="Calibri" pitchFamily="34" charset="-120"/>
              </a:rPr>
              <a:t>two different actions can both achieve the same goal. Which one is actually BETTER?</a:t>
            </a:r>
            <a:endParaRPr lang="en-US" sz="2000" dirty="0"/>
          </a:p>
        </p:txBody>
      </p:sp>
      <p:sp>
        <p:nvSpPr>
          <p:cNvPr id="5" name="Text 3"/>
          <p:cNvSpPr/>
          <p:nvPr/>
        </p:nvSpPr>
        <p:spPr>
          <a:xfrm>
            <a:off x="502920" y="2514600"/>
            <a:ext cx="11185855" cy="594360"/>
          </a:xfrm>
          <a:prstGeom prst="rect">
            <a:avLst/>
          </a:prstGeom>
          <a:noFill/>
          <a:ln/>
        </p:spPr>
        <p:txBody>
          <a:bodyPr wrap="square" rtlCol="0" anchor="t"/>
          <a:lstStyle/>
          <a:p>
            <a:pPr marL="0" indent="0">
              <a:lnSpc>
                <a:spcPts val="2760"/>
              </a:lnSpc>
              <a:buNone/>
            </a:pPr>
            <a:r>
              <a:rPr lang="en-US" sz="2300" b="1" dirty="0">
                <a:solidFill>
                  <a:srgbClr val="0B1E3D"/>
                </a:solidFill>
                <a:latin typeface="Calibri" pitchFamily="34" charset="0"/>
                <a:ea typeface="Calibri" pitchFamily="34" charset="-122"/>
                <a:cs typeface="Calibri" pitchFamily="34" charset="-120"/>
              </a:rPr>
              <a:t>Utility  </a:t>
            </a:r>
            <a:r>
              <a:rPr lang="en-US" sz="2300" dirty="0">
                <a:solidFill>
                  <a:srgbClr val="1A1F2B"/>
                </a:solidFill>
                <a:latin typeface="Calibri" pitchFamily="34" charset="0"/>
                <a:ea typeface="Calibri" pitchFamily="34" charset="-122"/>
                <a:cs typeface="Calibri" pitchFamily="34" charset="-120"/>
              </a:rPr>
              <a:t>= a numeric measure of how DESIRABLE an outcome is, not merely whether it was achieved.</a:t>
            </a:r>
            <a:endParaRPr lang="en-US" sz="2300" dirty="0"/>
          </a:p>
        </p:txBody>
      </p:sp>
      <p:sp>
        <p:nvSpPr>
          <p:cNvPr id="6" name="Shape 4"/>
          <p:cNvSpPr/>
          <p:nvPr/>
        </p:nvSpPr>
        <p:spPr>
          <a:xfrm>
            <a:off x="502920" y="3291840"/>
            <a:ext cx="2577008" cy="960120"/>
          </a:xfrm>
          <a:prstGeom prst="roundRect">
            <a:avLst>
              <a:gd name="adj" fmla="val 7619"/>
            </a:avLst>
          </a:prstGeom>
          <a:solidFill>
            <a:srgbClr val="F3F5F8"/>
          </a:solidFill>
          <a:ln/>
        </p:spPr>
      </p:sp>
      <p:sp>
        <p:nvSpPr>
          <p:cNvPr id="7" name="Text 5"/>
          <p:cNvSpPr/>
          <p:nvPr/>
        </p:nvSpPr>
        <p:spPr>
          <a:xfrm>
            <a:off x="576072" y="3291840"/>
            <a:ext cx="2430704" cy="960120"/>
          </a:xfrm>
          <a:prstGeom prst="rect">
            <a:avLst/>
          </a:prstGeom>
          <a:noFill/>
          <a:ln/>
        </p:spPr>
        <p:txBody>
          <a:bodyPr wrap="square" rtlCol="0" anchor="ctr"/>
          <a:lstStyle/>
          <a:p>
            <a:pPr marL="0" indent="0" algn="ctr">
              <a:lnSpc>
                <a:spcPts val="1725"/>
              </a:lnSpc>
              <a:buNone/>
            </a:pPr>
            <a:r>
              <a:rPr lang="en-US" sz="1500" b="1" dirty="0">
                <a:solidFill>
                  <a:srgbClr val="0B1E3D"/>
                </a:solidFill>
                <a:latin typeface="Calibri" pitchFamily="34" charset="0"/>
                <a:ea typeface="Calibri" pitchFamily="34" charset="-122"/>
                <a:cs typeface="Calibri" pitchFamily="34" charset="-120"/>
              </a:rPr>
              <a:t>Possible Outcomes</a:t>
            </a:r>
            <a:endParaRPr lang="en-US" sz="1500" dirty="0"/>
          </a:p>
        </p:txBody>
      </p:sp>
      <p:sp>
        <p:nvSpPr>
          <p:cNvPr id="8" name="Text 6"/>
          <p:cNvSpPr/>
          <p:nvPr/>
        </p:nvSpPr>
        <p:spPr>
          <a:xfrm>
            <a:off x="3079928" y="3291840"/>
            <a:ext cx="292608" cy="960120"/>
          </a:xfrm>
          <a:prstGeom prst="rect">
            <a:avLst/>
          </a:prstGeom>
          <a:noFill/>
          <a:ln/>
        </p:spPr>
        <p:txBody>
          <a:bodyPr wrap="square" rtlCol="0" anchor="ctr"/>
          <a:lstStyle/>
          <a:p>
            <a:pPr marL="0" indent="0" algn="ctr">
              <a:buNone/>
            </a:pPr>
            <a:r>
              <a:rPr lang="en-US" sz="2400" b="1" dirty="0">
                <a:solidFill>
                  <a:srgbClr val="0B1E3D"/>
                </a:solidFill>
                <a:latin typeface="Calibri" pitchFamily="34" charset="0"/>
                <a:ea typeface="Calibri" pitchFamily="34" charset="-122"/>
                <a:cs typeface="Calibri" pitchFamily="34" charset="-120"/>
              </a:rPr>
              <a:t>→</a:t>
            </a:r>
            <a:endParaRPr lang="en-US" sz="2400" dirty="0"/>
          </a:p>
        </p:txBody>
      </p:sp>
      <p:sp>
        <p:nvSpPr>
          <p:cNvPr id="9" name="Shape 7"/>
          <p:cNvSpPr/>
          <p:nvPr/>
        </p:nvSpPr>
        <p:spPr>
          <a:xfrm>
            <a:off x="3372536" y="3291840"/>
            <a:ext cx="2577008" cy="960120"/>
          </a:xfrm>
          <a:prstGeom prst="roundRect">
            <a:avLst>
              <a:gd name="adj" fmla="val 7619"/>
            </a:avLst>
          </a:prstGeom>
          <a:solidFill>
            <a:srgbClr val="F3F5F8"/>
          </a:solidFill>
          <a:ln/>
        </p:spPr>
      </p:sp>
      <p:sp>
        <p:nvSpPr>
          <p:cNvPr id="10" name="Text 8"/>
          <p:cNvSpPr/>
          <p:nvPr/>
        </p:nvSpPr>
        <p:spPr>
          <a:xfrm>
            <a:off x="3445688" y="3291840"/>
            <a:ext cx="2430704" cy="960120"/>
          </a:xfrm>
          <a:prstGeom prst="rect">
            <a:avLst/>
          </a:prstGeom>
          <a:noFill/>
          <a:ln/>
        </p:spPr>
        <p:txBody>
          <a:bodyPr wrap="square" rtlCol="0" anchor="ctr"/>
          <a:lstStyle/>
          <a:p>
            <a:pPr marL="0" indent="0" algn="ctr">
              <a:lnSpc>
                <a:spcPts val="1725"/>
              </a:lnSpc>
              <a:buNone/>
            </a:pPr>
            <a:r>
              <a:rPr lang="en-US" sz="1500" b="1" dirty="0">
                <a:solidFill>
                  <a:srgbClr val="0B1E3D"/>
                </a:solidFill>
                <a:latin typeface="Calibri" pitchFamily="34" charset="0"/>
                <a:ea typeface="Calibri" pitchFamily="34" charset="-122"/>
                <a:cs typeface="Calibri" pitchFamily="34" charset="-120"/>
              </a:rPr>
              <a:t>Utility Evaluation</a:t>
            </a:r>
            <a:endParaRPr lang="en-US" sz="1500" dirty="0"/>
          </a:p>
        </p:txBody>
      </p:sp>
      <p:sp>
        <p:nvSpPr>
          <p:cNvPr id="11" name="Text 9"/>
          <p:cNvSpPr/>
          <p:nvPr/>
        </p:nvSpPr>
        <p:spPr>
          <a:xfrm>
            <a:off x="5949544" y="3291840"/>
            <a:ext cx="292608" cy="960120"/>
          </a:xfrm>
          <a:prstGeom prst="rect">
            <a:avLst/>
          </a:prstGeom>
          <a:noFill/>
          <a:ln/>
        </p:spPr>
        <p:txBody>
          <a:bodyPr wrap="square" rtlCol="0" anchor="ctr"/>
          <a:lstStyle/>
          <a:p>
            <a:pPr marL="0" indent="0" algn="ctr">
              <a:buNone/>
            </a:pPr>
            <a:r>
              <a:rPr lang="en-US" sz="2400" b="1" dirty="0">
                <a:solidFill>
                  <a:srgbClr val="0B1E3D"/>
                </a:solidFill>
                <a:latin typeface="Calibri" pitchFamily="34" charset="0"/>
                <a:ea typeface="Calibri" pitchFamily="34" charset="-122"/>
                <a:cs typeface="Calibri" pitchFamily="34" charset="-120"/>
              </a:rPr>
              <a:t>→</a:t>
            </a:r>
            <a:endParaRPr lang="en-US" sz="2400" dirty="0"/>
          </a:p>
        </p:txBody>
      </p:sp>
      <p:sp>
        <p:nvSpPr>
          <p:cNvPr id="12" name="Shape 10"/>
          <p:cNvSpPr/>
          <p:nvPr/>
        </p:nvSpPr>
        <p:spPr>
          <a:xfrm>
            <a:off x="6242152" y="3291840"/>
            <a:ext cx="2577008" cy="960120"/>
          </a:xfrm>
          <a:prstGeom prst="roundRect">
            <a:avLst>
              <a:gd name="adj" fmla="val 7619"/>
            </a:avLst>
          </a:prstGeom>
          <a:solidFill>
            <a:srgbClr val="F3F5F8"/>
          </a:solidFill>
          <a:ln/>
        </p:spPr>
      </p:sp>
      <p:sp>
        <p:nvSpPr>
          <p:cNvPr id="13" name="Text 11"/>
          <p:cNvSpPr/>
          <p:nvPr/>
        </p:nvSpPr>
        <p:spPr>
          <a:xfrm>
            <a:off x="6315304" y="3291840"/>
            <a:ext cx="2430704" cy="960120"/>
          </a:xfrm>
          <a:prstGeom prst="rect">
            <a:avLst/>
          </a:prstGeom>
          <a:noFill/>
          <a:ln/>
        </p:spPr>
        <p:txBody>
          <a:bodyPr wrap="square" rtlCol="0" anchor="ctr"/>
          <a:lstStyle/>
          <a:p>
            <a:pPr marL="0" indent="0" algn="ctr">
              <a:lnSpc>
                <a:spcPts val="1610"/>
              </a:lnSpc>
              <a:buNone/>
            </a:pPr>
            <a:r>
              <a:rPr lang="en-US" sz="1400" b="1" dirty="0">
                <a:solidFill>
                  <a:srgbClr val="0B1E3D"/>
                </a:solidFill>
                <a:latin typeface="Calibri" pitchFamily="34" charset="0"/>
                <a:ea typeface="Calibri" pitchFamily="34" charset="-122"/>
                <a:cs typeface="Calibri" pitchFamily="34" charset="-120"/>
              </a:rPr>
              <a:t>Best Expected Utility</a:t>
            </a:r>
            <a:endParaRPr lang="en-US" sz="1400" dirty="0"/>
          </a:p>
        </p:txBody>
      </p:sp>
      <p:sp>
        <p:nvSpPr>
          <p:cNvPr id="14" name="Text 12"/>
          <p:cNvSpPr/>
          <p:nvPr/>
        </p:nvSpPr>
        <p:spPr>
          <a:xfrm>
            <a:off x="8819159" y="3291840"/>
            <a:ext cx="292608" cy="960120"/>
          </a:xfrm>
          <a:prstGeom prst="rect">
            <a:avLst/>
          </a:prstGeom>
          <a:noFill/>
          <a:ln/>
        </p:spPr>
        <p:txBody>
          <a:bodyPr wrap="square" rtlCol="0" anchor="ctr"/>
          <a:lstStyle/>
          <a:p>
            <a:pPr marL="0" indent="0" algn="ctr">
              <a:buNone/>
            </a:pPr>
            <a:r>
              <a:rPr lang="en-US" sz="2400" b="1" dirty="0">
                <a:solidFill>
                  <a:srgbClr val="0B1E3D"/>
                </a:solidFill>
                <a:latin typeface="Calibri" pitchFamily="34" charset="0"/>
                <a:ea typeface="Calibri" pitchFamily="34" charset="-122"/>
                <a:cs typeface="Calibri" pitchFamily="34" charset="-120"/>
              </a:rPr>
              <a:t>→</a:t>
            </a:r>
            <a:endParaRPr lang="en-US" sz="2400" dirty="0"/>
          </a:p>
        </p:txBody>
      </p:sp>
      <p:sp>
        <p:nvSpPr>
          <p:cNvPr id="15" name="Shape 13"/>
          <p:cNvSpPr/>
          <p:nvPr/>
        </p:nvSpPr>
        <p:spPr>
          <a:xfrm>
            <a:off x="9111767" y="3291840"/>
            <a:ext cx="2577008" cy="960120"/>
          </a:xfrm>
          <a:prstGeom prst="roundRect">
            <a:avLst>
              <a:gd name="adj" fmla="val 7619"/>
            </a:avLst>
          </a:prstGeom>
          <a:solidFill>
            <a:srgbClr val="F3F5F8"/>
          </a:solidFill>
          <a:ln/>
        </p:spPr>
      </p:sp>
      <p:sp>
        <p:nvSpPr>
          <p:cNvPr id="16" name="Text 14"/>
          <p:cNvSpPr/>
          <p:nvPr/>
        </p:nvSpPr>
        <p:spPr>
          <a:xfrm>
            <a:off x="9184919" y="3291840"/>
            <a:ext cx="2430704" cy="960120"/>
          </a:xfrm>
          <a:prstGeom prst="rect">
            <a:avLst/>
          </a:prstGeom>
          <a:noFill/>
          <a:ln/>
        </p:spPr>
        <p:txBody>
          <a:bodyPr wrap="square" rtlCol="0" anchor="ctr"/>
          <a:lstStyle/>
          <a:p>
            <a:pPr marL="0" indent="0" algn="ctr">
              <a:lnSpc>
                <a:spcPts val="1725"/>
              </a:lnSpc>
              <a:buNone/>
            </a:pPr>
            <a:r>
              <a:rPr lang="en-US" sz="1500" b="1" dirty="0">
                <a:solidFill>
                  <a:srgbClr val="0B1E3D"/>
                </a:solidFill>
                <a:latin typeface="Calibri" pitchFamily="34" charset="0"/>
                <a:ea typeface="Calibri" pitchFamily="34" charset="-122"/>
                <a:cs typeface="Calibri" pitchFamily="34" charset="-120"/>
              </a:rPr>
              <a:t>Action</a:t>
            </a:r>
            <a:endParaRPr lang="en-US" sz="1500" dirty="0"/>
          </a:p>
        </p:txBody>
      </p:sp>
      <p:sp>
        <p:nvSpPr>
          <p:cNvPr id="17" name="Text 15"/>
          <p:cNvSpPr/>
          <p:nvPr/>
        </p:nvSpPr>
        <p:spPr>
          <a:xfrm>
            <a:off x="502920" y="4480560"/>
            <a:ext cx="11185855" cy="960120"/>
          </a:xfrm>
          <a:prstGeom prst="rect">
            <a:avLst/>
          </a:prstGeom>
          <a:noFill/>
          <a:ln/>
        </p:spPr>
        <p:txBody>
          <a:bodyPr wrap="square" rtlCol="0" anchor="ctr"/>
          <a:lstStyle/>
          <a:p>
            <a:pPr marL="0" indent="0">
              <a:lnSpc>
                <a:spcPts val="2470"/>
              </a:lnSpc>
              <a:buNone/>
            </a:pPr>
            <a:r>
              <a:rPr lang="en-US" sz="1900" b="1" dirty="0">
                <a:solidFill>
                  <a:srgbClr val="0B1E3D"/>
                </a:solidFill>
                <a:latin typeface="Calibri" pitchFamily="34" charset="0"/>
                <a:ea typeface="Calibri" pitchFamily="34" charset="-122"/>
                <a:cs typeface="Calibri" pitchFamily="34" charset="-120"/>
              </a:rPr>
              <a:t>Example — GPS again:  </a:t>
            </a:r>
            <a:r>
              <a:rPr lang="en-US" sz="1900" dirty="0">
                <a:solidFill>
                  <a:srgbClr val="1A1F2B"/>
                </a:solidFill>
                <a:latin typeface="Calibri" pitchFamily="34" charset="0"/>
                <a:ea typeface="Calibri" pitchFamily="34" charset="-122"/>
                <a:cs typeface="Calibri" pitchFamily="34" charset="-120"/>
              </a:rPr>
              <a:t>several routes all reach the destination (the goal). A utility-based GPS also weighs speed, cost, and safety to choose the BEST one, not just any working one.</a:t>
            </a:r>
            <a:endParaRPr lang="en-US" sz="1900" dirty="0"/>
          </a:p>
        </p:txBody>
      </p:sp>
      <p:sp>
        <p:nvSpPr>
          <p:cNvPr id="18" name="Shape 16"/>
          <p:cNvSpPr/>
          <p:nvPr/>
        </p:nvSpPr>
        <p:spPr>
          <a:xfrm>
            <a:off x="502920" y="5532120"/>
            <a:ext cx="11185855" cy="548640"/>
          </a:xfrm>
          <a:prstGeom prst="roundRect">
            <a:avLst>
              <a:gd name="adj" fmla="val 13333"/>
            </a:avLst>
          </a:prstGeom>
          <a:solidFill>
            <a:srgbClr val="FBF3E6"/>
          </a:solidFill>
          <a:ln w="12700">
            <a:solidFill>
              <a:srgbClr val="B08D57"/>
            </a:solidFill>
            <a:prstDash val="solid"/>
          </a:ln>
        </p:spPr>
      </p:sp>
      <p:sp>
        <p:nvSpPr>
          <p:cNvPr id="19" name="Text 17"/>
          <p:cNvSpPr/>
          <p:nvPr/>
        </p:nvSpPr>
        <p:spPr>
          <a:xfrm>
            <a:off x="502920" y="5532120"/>
            <a:ext cx="11185855" cy="548640"/>
          </a:xfrm>
          <a:prstGeom prst="rect">
            <a:avLst/>
          </a:prstGeom>
          <a:noFill/>
          <a:ln/>
        </p:spPr>
        <p:txBody>
          <a:bodyPr wrap="square" rtlCol="0" anchor="ctr"/>
          <a:lstStyle/>
          <a:p>
            <a:pPr marL="0" indent="0" algn="ctr">
              <a:buNone/>
            </a:pPr>
            <a:r>
              <a:rPr lang="en-US" sz="1700" b="1" i="1" dirty="0">
                <a:solidFill>
                  <a:srgbClr val="0B1E3D"/>
                </a:solidFill>
                <a:latin typeface="Cambria" pitchFamily="34" charset="0"/>
                <a:ea typeface="Cambria" pitchFamily="34" charset="-122"/>
                <a:cs typeface="Cambria" pitchFamily="34" charset="-120"/>
              </a:rPr>
              <a:t>Goal = did we get there?   Utility = how good was the way we got there?</a:t>
            </a:r>
            <a:endParaRPr lang="en-US" sz="1700" dirty="0"/>
          </a:p>
        </p:txBody>
      </p:sp>
      <p:sp>
        <p:nvSpPr>
          <p:cNvPr id="20" name="Text 18"/>
          <p:cNvSpPr/>
          <p:nvPr/>
        </p:nvSpPr>
        <p:spPr>
          <a:xfrm>
            <a:off x="502920" y="6446520"/>
            <a:ext cx="8229600" cy="320040"/>
          </a:xfrm>
          <a:prstGeom prst="rect">
            <a:avLst/>
          </a:prstGeom>
          <a:noFill/>
          <a:ln/>
        </p:spPr>
        <p:txBody>
          <a:bodyPr wrap="square" rtlCol="0" anchor="ctr"/>
          <a:lstStyle/>
          <a:p>
            <a:pPr marL="0" indent="0">
              <a:buNone/>
            </a:pPr>
            <a:r>
              <a:rPr lang="en-US" sz="1400" i="1" dirty="0">
                <a:solidFill>
                  <a:srgbClr val="5A6478"/>
                </a:solidFill>
                <a:latin typeface="Calibri" pitchFamily="34" charset="0"/>
                <a:ea typeface="Calibri" pitchFamily="34" charset="-122"/>
                <a:cs typeface="Calibri" pitchFamily="34" charset="-120"/>
              </a:rPr>
              <a:t>AI — Intelligent Agents  |  E. Types of Intelligent Agents</a:t>
            </a:r>
            <a:endParaRPr lang="en-US" sz="1400" dirty="0"/>
          </a:p>
        </p:txBody>
      </p:sp>
      <p:sp>
        <p:nvSpPr>
          <p:cNvPr id="21" name="Text 19"/>
          <p:cNvSpPr/>
          <p:nvPr/>
        </p:nvSpPr>
        <p:spPr>
          <a:xfrm>
            <a:off x="10500055" y="6446520"/>
            <a:ext cx="1188720" cy="320040"/>
          </a:xfrm>
          <a:prstGeom prst="rect">
            <a:avLst/>
          </a:prstGeom>
          <a:noFill/>
          <a:ln/>
        </p:spPr>
        <p:txBody>
          <a:bodyPr wrap="square" rtlCol="0" anchor="ctr"/>
          <a:lstStyle/>
          <a:p>
            <a:pPr marL="0" indent="0" algn="r">
              <a:buNone/>
            </a:pPr>
            <a:r>
              <a:rPr lang="en-US" sz="1400" dirty="0">
                <a:solidFill>
                  <a:srgbClr val="5A6478"/>
                </a:solidFill>
                <a:latin typeface="Calibri" pitchFamily="34" charset="0"/>
                <a:ea typeface="Calibri" pitchFamily="34" charset="-122"/>
                <a:cs typeface="Calibri" pitchFamily="34" charset="-120"/>
              </a:rPr>
              <a:t>29 / 40</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1E3D"/>
        </a:solidFill>
        <a:effectLst/>
      </p:bgPr>
    </p:bg>
    <p:spTree>
      <p:nvGrpSpPr>
        <p:cNvPr id="1" name=""/>
        <p:cNvGrpSpPr/>
        <p:nvPr/>
      </p:nvGrpSpPr>
      <p:grpSpPr>
        <a:xfrm>
          <a:off x="0" y="0"/>
          <a:ext cx="0" cy="0"/>
          <a:chOff x="0" y="0"/>
          <a:chExt cx="0" cy="0"/>
        </a:xfrm>
      </p:grpSpPr>
      <p:sp>
        <p:nvSpPr>
          <p:cNvPr id="2" name="Text 0"/>
          <p:cNvSpPr/>
          <p:nvPr/>
        </p:nvSpPr>
        <p:spPr>
          <a:xfrm>
            <a:off x="502920" y="292608"/>
            <a:ext cx="11185855" cy="347472"/>
          </a:xfrm>
          <a:prstGeom prst="rect">
            <a:avLst/>
          </a:prstGeom>
          <a:noFill/>
          <a:ln/>
        </p:spPr>
        <p:txBody>
          <a:bodyPr wrap="square" rtlCol="0" anchor="ctr"/>
          <a:lstStyle/>
          <a:p>
            <a:pPr marL="0" indent="0">
              <a:buNone/>
            </a:pPr>
            <a:r>
              <a:rPr lang="en-US" sz="1500" b="1" kern="0" spc="150" dirty="0">
                <a:solidFill>
                  <a:srgbClr val="B08D57"/>
                </a:solidFill>
                <a:latin typeface="Calibri" pitchFamily="34" charset="0"/>
                <a:ea typeface="Calibri" pitchFamily="34" charset="-122"/>
                <a:cs typeface="Calibri" pitchFamily="34" charset="-120"/>
              </a:rPr>
              <a:t>E. TYPES OF INTELLIGENT AGENTS</a:t>
            </a:r>
            <a:endParaRPr lang="en-US" sz="1500" dirty="0"/>
          </a:p>
        </p:txBody>
      </p:sp>
      <p:sp>
        <p:nvSpPr>
          <p:cNvPr id="3" name="Text 1"/>
          <p:cNvSpPr txBox="1"/>
          <p:nvPr/>
        </p:nvSpPr>
        <p:spPr>
          <a:xfrm>
            <a:off x="502920" y="676656"/>
            <a:ext cx="11185855" cy="1417320"/>
          </a:xfrm>
          <a:prstGeom prst="rect">
            <a:avLst/>
          </a:prstGeom>
          <a:noFill/>
          <a:ln/>
        </p:spPr>
        <p:txBody>
          <a:bodyPr wrap="square" rtlCol="0" anchor="t"/>
          <a:lstStyle/>
          <a:p>
            <a:pPr marL="0" indent="0">
              <a:lnSpc>
                <a:spcPts val="3136"/>
              </a:lnSpc>
              <a:buNone/>
            </a:pPr>
            <a:r>
              <a:rPr lang="en-US" sz="2800" b="1" dirty="0">
                <a:solidFill>
                  <a:srgbClr val="FFFFFF"/>
                </a:solidFill>
                <a:latin typeface="Cambria" pitchFamily="34" charset="0"/>
                <a:ea typeface="Cambria" pitchFamily="34" charset="-122"/>
                <a:cs typeface="Cambria" pitchFamily="34" charset="-120"/>
              </a:rPr>
              <a:t>Utility-Based Agent: A Real-Life Example</a:t>
            </a:r>
            <a:endParaRPr lang="en-US" sz="2800" dirty="0"/>
          </a:p>
        </p:txBody>
      </p:sp>
      <p:sp>
        <p:nvSpPr>
          <p:cNvPr id="4" name="Shape 2"/>
          <p:cNvSpPr/>
          <p:nvPr/>
        </p:nvSpPr>
        <p:spPr>
          <a:xfrm>
            <a:off x="502920" y="1828800"/>
            <a:ext cx="5432908" cy="2148840"/>
          </a:xfrm>
          <a:prstGeom prst="roundRect">
            <a:avLst>
              <a:gd name="adj" fmla="val 3404"/>
            </a:avLst>
          </a:prstGeom>
          <a:solidFill>
            <a:srgbClr val="13294B"/>
          </a:solidFill>
          <a:ln/>
        </p:spPr>
      </p:sp>
      <p:sp>
        <p:nvSpPr>
          <p:cNvPr id="5" name="Text 3"/>
          <p:cNvSpPr/>
          <p:nvPr/>
        </p:nvSpPr>
        <p:spPr>
          <a:xfrm>
            <a:off x="758952" y="1993392"/>
            <a:ext cx="4920844" cy="502920"/>
          </a:xfrm>
          <a:prstGeom prst="rect">
            <a:avLst/>
          </a:prstGeom>
          <a:noFill/>
          <a:ln/>
        </p:spPr>
        <p:txBody>
          <a:bodyPr wrap="square" rtlCol="0" anchor="ctr"/>
          <a:lstStyle/>
          <a:p>
            <a:pPr marL="0" indent="0">
              <a:buNone/>
            </a:pPr>
            <a:r>
              <a:rPr lang="en-US" sz="2100" b="1" dirty="0">
                <a:solidFill>
                  <a:srgbClr val="B08D57"/>
                </a:solidFill>
                <a:latin typeface="Cambria" pitchFamily="34" charset="0"/>
                <a:ea typeface="Cambria" pitchFamily="34" charset="-122"/>
                <a:cs typeface="Cambria" pitchFamily="34" charset="-120"/>
              </a:rPr>
              <a:t>Route A</a:t>
            </a:r>
            <a:endParaRPr lang="en-US" sz="2100" dirty="0"/>
          </a:p>
        </p:txBody>
      </p:sp>
      <p:sp>
        <p:nvSpPr>
          <p:cNvPr id="6" name="Text 4"/>
          <p:cNvSpPr/>
          <p:nvPr/>
        </p:nvSpPr>
        <p:spPr>
          <a:xfrm>
            <a:off x="758952" y="2423160"/>
            <a:ext cx="4920844" cy="141732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E7EBF3"/>
                </a:solidFill>
                <a:latin typeface="Calibri" pitchFamily="34" charset="0"/>
                <a:ea typeface="Calibri" pitchFamily="34" charset="-122"/>
                <a:cs typeface="Calibri" pitchFamily="34" charset="-120"/>
              </a:rPr>
              <a:t>Faster travel time</a:t>
            </a:r>
            <a:endParaRPr lang="en-US" sz="1800" dirty="0"/>
          </a:p>
          <a:p>
            <a:pPr marL="228600" indent="-228600">
              <a:spcAft>
                <a:spcPts val="800"/>
              </a:spcAft>
              <a:buSzPct val="100000"/>
              <a:buChar char="▪"/>
            </a:pPr>
            <a:r>
              <a:rPr lang="en-US" sz="1800" dirty="0">
                <a:solidFill>
                  <a:srgbClr val="E7EBF3"/>
                </a:solidFill>
                <a:latin typeface="Calibri" pitchFamily="34" charset="0"/>
                <a:ea typeface="Calibri" pitchFamily="34" charset="-122"/>
                <a:cs typeface="Calibri" pitchFamily="34" charset="-120"/>
              </a:rPr>
              <a:t>More traffic congestion</a:t>
            </a:r>
            <a:endParaRPr lang="en-US" sz="1800" dirty="0"/>
          </a:p>
          <a:p>
            <a:pPr marL="228600" indent="-228600">
              <a:spcAft>
                <a:spcPts val="800"/>
              </a:spcAft>
              <a:buSzPct val="100000"/>
              <a:buChar char="▪"/>
            </a:pPr>
            <a:r>
              <a:rPr lang="en-US" sz="1800" dirty="0">
                <a:solidFill>
                  <a:srgbClr val="E7EBF3"/>
                </a:solidFill>
                <a:latin typeface="Calibri" pitchFamily="34" charset="0"/>
                <a:ea typeface="Calibri" pitchFamily="34" charset="-122"/>
                <a:cs typeface="Calibri" pitchFamily="34" charset="-120"/>
              </a:rPr>
              <a:t>Higher accident risk</a:t>
            </a:r>
            <a:endParaRPr lang="en-US" sz="1800" dirty="0"/>
          </a:p>
        </p:txBody>
      </p:sp>
      <p:sp>
        <p:nvSpPr>
          <p:cNvPr id="7" name="Shape 5"/>
          <p:cNvSpPr/>
          <p:nvPr/>
        </p:nvSpPr>
        <p:spPr>
          <a:xfrm>
            <a:off x="6255868" y="1828800"/>
            <a:ext cx="5432908" cy="2148840"/>
          </a:xfrm>
          <a:prstGeom prst="roundRect">
            <a:avLst>
              <a:gd name="adj" fmla="val 3404"/>
            </a:avLst>
          </a:prstGeom>
          <a:solidFill>
            <a:srgbClr val="13294B"/>
          </a:solidFill>
          <a:ln/>
        </p:spPr>
      </p:sp>
      <p:sp>
        <p:nvSpPr>
          <p:cNvPr id="8" name="Text 6"/>
          <p:cNvSpPr/>
          <p:nvPr/>
        </p:nvSpPr>
        <p:spPr>
          <a:xfrm>
            <a:off x="6511900" y="1993392"/>
            <a:ext cx="4920844" cy="502920"/>
          </a:xfrm>
          <a:prstGeom prst="rect">
            <a:avLst/>
          </a:prstGeom>
          <a:noFill/>
          <a:ln/>
        </p:spPr>
        <p:txBody>
          <a:bodyPr wrap="square" rtlCol="0" anchor="ctr"/>
          <a:lstStyle/>
          <a:p>
            <a:pPr marL="0" indent="0">
              <a:buNone/>
            </a:pPr>
            <a:r>
              <a:rPr lang="en-US" sz="2100" b="1" dirty="0">
                <a:solidFill>
                  <a:srgbClr val="B08D57"/>
                </a:solidFill>
                <a:latin typeface="Cambria" pitchFamily="34" charset="0"/>
                <a:ea typeface="Cambria" pitchFamily="34" charset="-122"/>
                <a:cs typeface="Cambria" pitchFamily="34" charset="-120"/>
              </a:rPr>
              <a:t>Route B</a:t>
            </a:r>
            <a:endParaRPr lang="en-US" sz="2100" dirty="0"/>
          </a:p>
        </p:txBody>
      </p:sp>
      <p:sp>
        <p:nvSpPr>
          <p:cNvPr id="9" name="Text 7"/>
          <p:cNvSpPr/>
          <p:nvPr/>
        </p:nvSpPr>
        <p:spPr>
          <a:xfrm>
            <a:off x="6511900" y="2423160"/>
            <a:ext cx="4920844" cy="141732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E7EBF3"/>
                </a:solidFill>
                <a:latin typeface="Calibri" pitchFamily="34" charset="0"/>
                <a:ea typeface="Calibri" pitchFamily="34" charset="-122"/>
                <a:cs typeface="Calibri" pitchFamily="34" charset="-120"/>
              </a:rPr>
              <a:t>Slower travel time</a:t>
            </a:r>
            <a:endParaRPr lang="en-US" sz="1800" dirty="0"/>
          </a:p>
          <a:p>
            <a:pPr marL="228600" indent="-228600">
              <a:spcAft>
                <a:spcPts val="800"/>
              </a:spcAft>
              <a:buSzPct val="100000"/>
              <a:buChar char="▪"/>
            </a:pPr>
            <a:r>
              <a:rPr lang="en-US" sz="1800" dirty="0">
                <a:solidFill>
                  <a:srgbClr val="E7EBF3"/>
                </a:solidFill>
                <a:latin typeface="Calibri" pitchFamily="34" charset="0"/>
                <a:ea typeface="Calibri" pitchFamily="34" charset="-122"/>
                <a:cs typeface="Calibri" pitchFamily="34" charset="-120"/>
              </a:rPr>
              <a:t>Safer road conditions</a:t>
            </a:r>
            <a:endParaRPr lang="en-US" sz="1800" dirty="0"/>
          </a:p>
          <a:p>
            <a:pPr marL="228600" indent="-228600">
              <a:spcAft>
                <a:spcPts val="800"/>
              </a:spcAft>
              <a:buSzPct val="100000"/>
              <a:buChar char="▪"/>
            </a:pPr>
            <a:r>
              <a:rPr lang="en-US" sz="1800" dirty="0">
                <a:solidFill>
                  <a:srgbClr val="E7EBF3"/>
                </a:solidFill>
                <a:latin typeface="Calibri" pitchFamily="34" charset="0"/>
                <a:ea typeface="Calibri" pitchFamily="34" charset="-122"/>
                <a:cs typeface="Calibri" pitchFamily="34" charset="-120"/>
              </a:rPr>
              <a:t>Lower congestion</a:t>
            </a:r>
            <a:endParaRPr lang="en-US" sz="1800" dirty="0"/>
          </a:p>
        </p:txBody>
      </p:sp>
      <p:sp>
        <p:nvSpPr>
          <p:cNvPr id="10" name="Text 8"/>
          <p:cNvSpPr/>
          <p:nvPr/>
        </p:nvSpPr>
        <p:spPr>
          <a:xfrm>
            <a:off x="502920" y="4160520"/>
            <a:ext cx="11185855" cy="457200"/>
          </a:xfrm>
          <a:prstGeom prst="rect">
            <a:avLst/>
          </a:prstGeom>
          <a:noFill/>
          <a:ln/>
        </p:spPr>
        <p:txBody>
          <a:bodyPr wrap="square" rtlCol="0" anchor="ctr"/>
          <a:lstStyle/>
          <a:p>
            <a:pPr marL="0" indent="0" algn="ctr">
              <a:buNone/>
            </a:pPr>
            <a:r>
              <a:rPr lang="en-US" sz="1800" i="1" dirty="0">
                <a:solidFill>
                  <a:srgbClr val="C9D2E0"/>
                </a:solidFill>
                <a:latin typeface="Calibri" pitchFamily="34" charset="0"/>
                <a:ea typeface="Calibri" pitchFamily="34" charset="-122"/>
                <a:cs typeface="Calibri" pitchFamily="34" charset="-120"/>
              </a:rPr>
              <a:t>Both routes reach the destination — the goal is satisfied either way.</a:t>
            </a:r>
            <a:endParaRPr lang="en-US" sz="1800" dirty="0"/>
          </a:p>
        </p:txBody>
      </p:sp>
      <p:sp>
        <p:nvSpPr>
          <p:cNvPr id="11" name="Text 9"/>
          <p:cNvSpPr/>
          <p:nvPr/>
        </p:nvSpPr>
        <p:spPr>
          <a:xfrm>
            <a:off x="502920" y="4709160"/>
            <a:ext cx="11185855" cy="1371600"/>
          </a:xfrm>
          <a:prstGeom prst="rect">
            <a:avLst/>
          </a:prstGeom>
          <a:noFill/>
          <a:ln/>
        </p:spPr>
        <p:txBody>
          <a:bodyPr wrap="square" lIns="0" tIns="0" rIns="0" bIns="0" rtlCol="0" anchor="t"/>
          <a:lstStyle/>
          <a:p>
            <a:pPr marL="228600" indent="-228600">
              <a:buSzPct val="100000"/>
              <a:buChar char="▪"/>
            </a:pPr>
            <a:r>
              <a:rPr lang="en-US" sz="1800" b="1" dirty="0">
                <a:solidFill>
                  <a:srgbClr val="B08D57"/>
                </a:solidFill>
                <a:latin typeface="Calibri" pitchFamily="34" charset="0"/>
                <a:ea typeface="Calibri" pitchFamily="34" charset="-122"/>
                <a:cs typeface="Calibri" pitchFamily="34" charset="-120"/>
              </a:rPr>
              <a:t>Goal  </a:t>
            </a:r>
            <a:r>
              <a:rPr lang="en-US" sz="1800" dirty="0">
                <a:solidFill>
                  <a:srgbClr val="E7EBF3"/>
                </a:solidFill>
                <a:latin typeface="Calibri" pitchFamily="34" charset="0"/>
                <a:ea typeface="Calibri" pitchFamily="34" charset="-122"/>
                <a:cs typeface="Calibri" pitchFamily="34" charset="-120"/>
              </a:rPr>
              <a:t>(binary): reach the destination — both routes succeed equally.</a:t>
            </a:r>
            <a:endParaRPr lang="en-US" sz="1800" dirty="0"/>
          </a:p>
          <a:p>
            <a:pPr marL="228600" indent="-228600">
              <a:buSzPct val="100000"/>
              <a:buChar char="▪"/>
            </a:pPr>
            <a:r>
              <a:rPr lang="en-US" sz="1800" b="1" dirty="0">
                <a:solidFill>
                  <a:srgbClr val="B08D57"/>
                </a:solidFill>
                <a:latin typeface="Calibri" pitchFamily="34" charset="0"/>
                <a:ea typeface="Calibri" pitchFamily="34" charset="-122"/>
                <a:cs typeface="Calibri" pitchFamily="34" charset="-120"/>
              </a:rPr>
              <a:t>Utility  </a:t>
            </a:r>
            <a:r>
              <a:rPr lang="en-US" sz="1800" dirty="0">
                <a:solidFill>
                  <a:srgbClr val="E7EBF3"/>
                </a:solidFill>
                <a:latin typeface="Calibri" pitchFamily="34" charset="0"/>
                <a:ea typeface="Calibri" pitchFamily="34" charset="-122"/>
                <a:cs typeface="Calibri" pitchFamily="34" charset="-120"/>
              </a:rPr>
              <a:t>(a matter of degree): weighs speed against safety and congestion — the two routes are NOT equally desirable.</a:t>
            </a:r>
            <a:endParaRPr lang="en-US" sz="1800" dirty="0"/>
          </a:p>
        </p:txBody>
      </p:sp>
      <p:sp>
        <p:nvSpPr>
          <p:cNvPr id="12" name="Text 10"/>
          <p:cNvSpPr/>
          <p:nvPr/>
        </p:nvSpPr>
        <p:spPr>
          <a:xfrm>
            <a:off x="502920" y="6446520"/>
            <a:ext cx="8229600" cy="320040"/>
          </a:xfrm>
          <a:prstGeom prst="rect">
            <a:avLst/>
          </a:prstGeom>
          <a:noFill/>
          <a:ln/>
        </p:spPr>
        <p:txBody>
          <a:bodyPr wrap="square" rtlCol="0" anchor="ctr"/>
          <a:lstStyle/>
          <a:p>
            <a:pPr marL="0" indent="0">
              <a:buNone/>
            </a:pPr>
            <a:r>
              <a:rPr lang="en-US" sz="1400" i="1" dirty="0">
                <a:solidFill>
                  <a:srgbClr val="8B96AC"/>
                </a:solidFill>
                <a:latin typeface="Calibri" pitchFamily="34" charset="0"/>
                <a:ea typeface="Calibri" pitchFamily="34" charset="-122"/>
                <a:cs typeface="Calibri" pitchFamily="34" charset="-120"/>
              </a:rPr>
              <a:t>AI — Intelligent Agents  |  E. Types of Intelligent Agents</a:t>
            </a:r>
            <a:endParaRPr lang="en-US" sz="1400" dirty="0"/>
          </a:p>
        </p:txBody>
      </p:sp>
      <p:sp>
        <p:nvSpPr>
          <p:cNvPr id="13" name="Text 11"/>
          <p:cNvSpPr/>
          <p:nvPr/>
        </p:nvSpPr>
        <p:spPr>
          <a:xfrm>
            <a:off x="10500055" y="6446520"/>
            <a:ext cx="1188720" cy="320040"/>
          </a:xfrm>
          <a:prstGeom prst="rect">
            <a:avLst/>
          </a:prstGeom>
          <a:noFill/>
          <a:ln/>
        </p:spPr>
        <p:txBody>
          <a:bodyPr wrap="square" rtlCol="0" anchor="ctr"/>
          <a:lstStyle/>
          <a:p>
            <a:pPr marL="0" indent="0" algn="r">
              <a:buNone/>
            </a:pPr>
            <a:r>
              <a:rPr lang="en-US" sz="1400" dirty="0">
                <a:solidFill>
                  <a:srgbClr val="8B96AC"/>
                </a:solidFill>
                <a:latin typeface="Calibri" pitchFamily="34" charset="0"/>
                <a:ea typeface="Calibri" pitchFamily="34" charset="-122"/>
                <a:cs typeface="Calibri" pitchFamily="34" charset="-120"/>
              </a:rPr>
              <a:t>30 / 40</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85855" cy="347472"/>
          </a:xfrm>
          <a:prstGeom prst="rect">
            <a:avLst/>
          </a:prstGeom>
          <a:noFill/>
          <a:ln/>
        </p:spPr>
        <p:txBody>
          <a:bodyPr wrap="square" rtlCol="0" anchor="ctr"/>
          <a:lstStyle/>
          <a:p>
            <a:pPr marL="0" indent="0">
              <a:buNone/>
            </a:pPr>
            <a:r>
              <a:rPr lang="en-US" sz="1500" b="1" kern="0" spc="150" dirty="0">
                <a:solidFill>
                  <a:srgbClr val="B08D57"/>
                </a:solidFill>
                <a:latin typeface="Calibri" pitchFamily="34" charset="0"/>
                <a:ea typeface="Calibri" pitchFamily="34" charset="-122"/>
                <a:cs typeface="Calibri" pitchFamily="34" charset="-120"/>
              </a:rPr>
              <a:t>E. TYPES OF INTELLIGENT AGENTS</a:t>
            </a:r>
            <a:endParaRPr lang="en-US" sz="1500" dirty="0"/>
          </a:p>
        </p:txBody>
      </p:sp>
      <p:sp>
        <p:nvSpPr>
          <p:cNvPr id="3" name="Text 1"/>
          <p:cNvSpPr txBox="1"/>
          <p:nvPr/>
        </p:nvSpPr>
        <p:spPr>
          <a:xfrm>
            <a:off x="502920" y="676656"/>
            <a:ext cx="11185855" cy="1417320"/>
          </a:xfrm>
          <a:prstGeom prst="rect">
            <a:avLst/>
          </a:prstGeom>
          <a:noFill/>
          <a:ln/>
        </p:spPr>
        <p:txBody>
          <a:bodyPr wrap="square" rtlCol="0" anchor="t"/>
          <a:lstStyle/>
          <a:p>
            <a:pPr marL="0" indent="0">
              <a:lnSpc>
                <a:spcPts val="3584"/>
              </a:lnSpc>
              <a:buNone/>
            </a:pPr>
            <a:r>
              <a:rPr lang="en-US" sz="3200" b="1" dirty="0">
                <a:solidFill>
                  <a:srgbClr val="0B1E3D"/>
                </a:solidFill>
                <a:latin typeface="Cambria" pitchFamily="34" charset="0"/>
                <a:ea typeface="Cambria" pitchFamily="34" charset="-122"/>
                <a:cs typeface="Cambria" pitchFamily="34" charset="-120"/>
              </a:rPr>
              <a:t>Learning Agents</a:t>
            </a:r>
            <a:endParaRPr lang="en-US" sz="3200" dirty="0"/>
          </a:p>
        </p:txBody>
      </p:sp>
      <p:sp>
        <p:nvSpPr>
          <p:cNvPr id="4" name="Text 2"/>
          <p:cNvSpPr/>
          <p:nvPr/>
        </p:nvSpPr>
        <p:spPr>
          <a:xfrm>
            <a:off x="502920" y="1828800"/>
            <a:ext cx="11185855" cy="640080"/>
          </a:xfrm>
          <a:prstGeom prst="rect">
            <a:avLst/>
          </a:prstGeom>
          <a:noFill/>
          <a:ln/>
        </p:spPr>
        <p:txBody>
          <a:bodyPr wrap="square" lIns="0" tIns="0" rIns="0" bIns="0" rtlCol="0" anchor="t"/>
          <a:lstStyle/>
          <a:p>
            <a:pPr marL="228600" indent="-228600">
              <a:spcAft>
                <a:spcPts val="1200"/>
              </a:spcAft>
              <a:buSzPct val="100000"/>
              <a:buChar char="▪"/>
            </a:pPr>
            <a:r>
              <a:rPr lang="en-US" sz="2000" dirty="0">
                <a:solidFill>
                  <a:srgbClr val="1A1F2B"/>
                </a:solidFill>
                <a:latin typeface="Calibri" pitchFamily="34" charset="0"/>
                <a:ea typeface="Calibri" pitchFamily="34" charset="-122"/>
                <a:cs typeface="Calibri" pitchFamily="34" charset="-120"/>
              </a:rPr>
              <a:t>A learning agent improves its behavior over time from experience, rather than relying only on fixed, hand-designed rules.</a:t>
            </a:r>
            <a:endParaRPr lang="en-US" sz="2000" dirty="0"/>
          </a:p>
        </p:txBody>
      </p:sp>
      <p:sp>
        <p:nvSpPr>
          <p:cNvPr id="5" name="Shape 3"/>
          <p:cNvSpPr/>
          <p:nvPr/>
        </p:nvSpPr>
        <p:spPr>
          <a:xfrm>
            <a:off x="502920" y="2606040"/>
            <a:ext cx="5455768" cy="1668780"/>
          </a:xfrm>
          <a:prstGeom prst="roundRect">
            <a:avLst>
              <a:gd name="adj" fmla="val 4384"/>
            </a:avLst>
          </a:prstGeom>
          <a:solidFill>
            <a:srgbClr val="0B1E3D"/>
          </a:solidFill>
          <a:ln/>
        </p:spPr>
      </p:sp>
      <p:sp>
        <p:nvSpPr>
          <p:cNvPr id="6" name="Text 4"/>
          <p:cNvSpPr/>
          <p:nvPr/>
        </p:nvSpPr>
        <p:spPr>
          <a:xfrm>
            <a:off x="731520" y="2743200"/>
            <a:ext cx="4998568" cy="502920"/>
          </a:xfrm>
          <a:prstGeom prst="rect">
            <a:avLst/>
          </a:prstGeom>
          <a:noFill/>
          <a:ln/>
        </p:spPr>
        <p:txBody>
          <a:bodyPr wrap="square" rtlCol="0" anchor="ctr"/>
          <a:lstStyle/>
          <a:p>
            <a:pPr marL="0" indent="0">
              <a:buNone/>
            </a:pPr>
            <a:r>
              <a:rPr lang="en-US" sz="1800" b="1" dirty="0">
                <a:solidFill>
                  <a:srgbClr val="B08D57"/>
                </a:solidFill>
                <a:latin typeface="Cambria" pitchFamily="34" charset="0"/>
                <a:ea typeface="Cambria" pitchFamily="34" charset="-122"/>
                <a:cs typeface="Cambria" pitchFamily="34" charset="-120"/>
              </a:rPr>
              <a:t>Performance Element</a:t>
            </a:r>
            <a:endParaRPr lang="en-US" sz="2600" dirty="0"/>
          </a:p>
        </p:txBody>
      </p:sp>
      <p:sp>
        <p:nvSpPr>
          <p:cNvPr id="7" name="Text 5"/>
          <p:cNvSpPr/>
          <p:nvPr/>
        </p:nvSpPr>
        <p:spPr>
          <a:xfrm>
            <a:off x="731520" y="3264408"/>
            <a:ext cx="4998568" cy="845820"/>
          </a:xfrm>
          <a:prstGeom prst="rect">
            <a:avLst/>
          </a:prstGeom>
          <a:noFill/>
          <a:ln/>
        </p:spPr>
        <p:txBody>
          <a:bodyPr wrap="square" rtlCol="0" anchor="t"/>
          <a:lstStyle/>
          <a:p>
            <a:pPr marL="0" indent="0">
              <a:lnSpc>
                <a:spcPts val="2000"/>
              </a:lnSpc>
              <a:buNone/>
            </a:pPr>
            <a:r>
              <a:rPr lang="en-US" sz="1600" dirty="0">
                <a:solidFill>
                  <a:srgbClr val="E7EBF3"/>
                </a:solidFill>
                <a:latin typeface="Calibri" pitchFamily="34" charset="0"/>
                <a:ea typeface="Calibri" pitchFamily="34" charset="-122"/>
                <a:cs typeface="Calibri" pitchFamily="34" charset="-120"/>
              </a:rPr>
              <a:t>Selects actions — this is essentially the “agent” from the earlier architectures.</a:t>
            </a:r>
            <a:endParaRPr lang="en-US" sz="1600" dirty="0"/>
          </a:p>
        </p:txBody>
      </p:sp>
      <p:sp>
        <p:nvSpPr>
          <p:cNvPr id="8" name="Shape 6"/>
          <p:cNvSpPr/>
          <p:nvPr/>
        </p:nvSpPr>
        <p:spPr>
          <a:xfrm>
            <a:off x="6233008" y="2606040"/>
            <a:ext cx="5455768" cy="1668780"/>
          </a:xfrm>
          <a:prstGeom prst="roundRect">
            <a:avLst>
              <a:gd name="adj" fmla="val 4384"/>
            </a:avLst>
          </a:prstGeom>
          <a:solidFill>
            <a:srgbClr val="F3F5F8"/>
          </a:solidFill>
          <a:ln w="12700">
            <a:solidFill>
              <a:srgbClr val="D8DCE3"/>
            </a:solidFill>
            <a:prstDash val="solid"/>
          </a:ln>
        </p:spPr>
      </p:sp>
      <p:sp>
        <p:nvSpPr>
          <p:cNvPr id="9" name="Text 7"/>
          <p:cNvSpPr/>
          <p:nvPr/>
        </p:nvSpPr>
        <p:spPr>
          <a:xfrm>
            <a:off x="6461608" y="2743200"/>
            <a:ext cx="4998568" cy="502920"/>
          </a:xfrm>
          <a:prstGeom prst="rect">
            <a:avLst/>
          </a:prstGeom>
          <a:noFill/>
          <a:ln/>
        </p:spPr>
        <p:txBody>
          <a:bodyPr wrap="square" rtlCol="0" anchor="ctr"/>
          <a:lstStyle/>
          <a:p>
            <a:pPr marL="0" indent="0">
              <a:buNone/>
            </a:pPr>
            <a:r>
              <a:rPr lang="en-US" sz="1800" b="1" dirty="0">
                <a:solidFill>
                  <a:srgbClr val="0B1E3D"/>
                </a:solidFill>
                <a:latin typeface="Cambria" pitchFamily="34" charset="0"/>
                <a:ea typeface="Cambria" pitchFamily="34" charset="-122"/>
                <a:cs typeface="Cambria" pitchFamily="34" charset="-120"/>
              </a:rPr>
              <a:t>Learning Element</a:t>
            </a:r>
            <a:endParaRPr lang="en-US" sz="2600" dirty="0"/>
          </a:p>
        </p:txBody>
      </p:sp>
      <p:sp>
        <p:nvSpPr>
          <p:cNvPr id="10" name="Text 8"/>
          <p:cNvSpPr/>
          <p:nvPr/>
        </p:nvSpPr>
        <p:spPr>
          <a:xfrm>
            <a:off x="6461608" y="3264408"/>
            <a:ext cx="4998568" cy="845820"/>
          </a:xfrm>
          <a:prstGeom prst="rect">
            <a:avLst/>
          </a:prstGeom>
          <a:noFill/>
          <a:ln/>
        </p:spPr>
        <p:txBody>
          <a:bodyPr wrap="square" rtlCol="0" anchor="t"/>
          <a:lstStyle/>
          <a:p>
            <a:pPr marL="0" indent="0">
              <a:lnSpc>
                <a:spcPts val="2000"/>
              </a:lnSpc>
              <a:buNone/>
            </a:pPr>
            <a:r>
              <a:rPr lang="en-US" sz="1600" dirty="0">
                <a:solidFill>
                  <a:srgbClr val="1A1F2B"/>
                </a:solidFill>
                <a:latin typeface="Calibri" pitchFamily="34" charset="0"/>
                <a:ea typeface="Calibri" pitchFamily="34" charset="-122"/>
                <a:cs typeface="Calibri" pitchFamily="34" charset="-120"/>
              </a:rPr>
              <a:t>Makes improvements based on feedback about how well the agent is doing.</a:t>
            </a:r>
            <a:endParaRPr lang="en-US" sz="1600" dirty="0"/>
          </a:p>
        </p:txBody>
      </p:sp>
      <p:sp>
        <p:nvSpPr>
          <p:cNvPr id="11" name="Shape 9"/>
          <p:cNvSpPr/>
          <p:nvPr/>
        </p:nvSpPr>
        <p:spPr>
          <a:xfrm>
            <a:off x="502920" y="4549140"/>
            <a:ext cx="5455768" cy="1668780"/>
          </a:xfrm>
          <a:prstGeom prst="roundRect">
            <a:avLst>
              <a:gd name="adj" fmla="val 4384"/>
            </a:avLst>
          </a:prstGeom>
          <a:solidFill>
            <a:srgbClr val="F3F5F8"/>
          </a:solidFill>
          <a:ln w="12700">
            <a:solidFill>
              <a:srgbClr val="D8DCE3"/>
            </a:solidFill>
            <a:prstDash val="solid"/>
          </a:ln>
        </p:spPr>
      </p:sp>
      <p:sp>
        <p:nvSpPr>
          <p:cNvPr id="12" name="Text 10"/>
          <p:cNvSpPr/>
          <p:nvPr/>
        </p:nvSpPr>
        <p:spPr>
          <a:xfrm>
            <a:off x="731520" y="4686300"/>
            <a:ext cx="4998568" cy="502920"/>
          </a:xfrm>
          <a:prstGeom prst="rect">
            <a:avLst/>
          </a:prstGeom>
          <a:noFill/>
          <a:ln/>
        </p:spPr>
        <p:txBody>
          <a:bodyPr wrap="square" rtlCol="0" anchor="ctr"/>
          <a:lstStyle/>
          <a:p>
            <a:pPr marL="0" indent="0">
              <a:buNone/>
            </a:pPr>
            <a:r>
              <a:rPr lang="en-US" sz="1800" b="1" dirty="0">
                <a:solidFill>
                  <a:srgbClr val="0B1E3D"/>
                </a:solidFill>
                <a:latin typeface="Cambria" pitchFamily="34" charset="0"/>
                <a:ea typeface="Cambria" pitchFamily="34" charset="-122"/>
                <a:cs typeface="Cambria" pitchFamily="34" charset="-120"/>
              </a:rPr>
              <a:t>Critic</a:t>
            </a:r>
            <a:endParaRPr lang="en-US" sz="2600" dirty="0"/>
          </a:p>
        </p:txBody>
      </p:sp>
      <p:sp>
        <p:nvSpPr>
          <p:cNvPr id="13" name="Text 11"/>
          <p:cNvSpPr/>
          <p:nvPr/>
        </p:nvSpPr>
        <p:spPr>
          <a:xfrm>
            <a:off x="731520" y="5207508"/>
            <a:ext cx="4998568" cy="845820"/>
          </a:xfrm>
          <a:prstGeom prst="rect">
            <a:avLst/>
          </a:prstGeom>
          <a:noFill/>
          <a:ln/>
        </p:spPr>
        <p:txBody>
          <a:bodyPr wrap="square" rtlCol="0" anchor="t"/>
          <a:lstStyle/>
          <a:p>
            <a:pPr marL="0" indent="0">
              <a:lnSpc>
                <a:spcPts val="2000"/>
              </a:lnSpc>
              <a:buNone/>
            </a:pPr>
            <a:r>
              <a:rPr lang="en-US" sz="1600" dirty="0">
                <a:solidFill>
                  <a:srgbClr val="1A1F2B"/>
                </a:solidFill>
                <a:latin typeface="Calibri" pitchFamily="34" charset="0"/>
                <a:ea typeface="Calibri" pitchFamily="34" charset="-122"/>
                <a:cs typeface="Calibri" pitchFamily="34" charset="-120"/>
              </a:rPr>
              <a:t>Evaluates the agent's behavior against a fixed performance standard and gives feedback.</a:t>
            </a:r>
            <a:endParaRPr lang="en-US" sz="1600" dirty="0"/>
          </a:p>
        </p:txBody>
      </p:sp>
      <p:sp>
        <p:nvSpPr>
          <p:cNvPr id="14" name="Shape 12"/>
          <p:cNvSpPr/>
          <p:nvPr/>
        </p:nvSpPr>
        <p:spPr>
          <a:xfrm>
            <a:off x="6233008" y="4549140"/>
            <a:ext cx="5455768" cy="1668780"/>
          </a:xfrm>
          <a:prstGeom prst="roundRect">
            <a:avLst>
              <a:gd name="adj" fmla="val 4384"/>
            </a:avLst>
          </a:prstGeom>
          <a:solidFill>
            <a:srgbClr val="0B1E3D"/>
          </a:solidFill>
          <a:ln/>
        </p:spPr>
      </p:sp>
      <p:sp>
        <p:nvSpPr>
          <p:cNvPr id="15" name="Text 13"/>
          <p:cNvSpPr/>
          <p:nvPr/>
        </p:nvSpPr>
        <p:spPr>
          <a:xfrm>
            <a:off x="6461608" y="4686300"/>
            <a:ext cx="4998568" cy="502920"/>
          </a:xfrm>
          <a:prstGeom prst="rect">
            <a:avLst/>
          </a:prstGeom>
          <a:noFill/>
          <a:ln/>
        </p:spPr>
        <p:txBody>
          <a:bodyPr wrap="square" rtlCol="0" anchor="ctr"/>
          <a:lstStyle/>
          <a:p>
            <a:pPr marL="0" indent="0">
              <a:buNone/>
            </a:pPr>
            <a:r>
              <a:rPr lang="en-US" sz="1800" b="1" dirty="0">
                <a:solidFill>
                  <a:srgbClr val="B08D57"/>
                </a:solidFill>
                <a:latin typeface="Cambria" pitchFamily="34" charset="0"/>
                <a:ea typeface="Cambria" pitchFamily="34" charset="-122"/>
                <a:cs typeface="Cambria" pitchFamily="34" charset="-120"/>
              </a:rPr>
              <a:t>Problem Generator</a:t>
            </a:r>
            <a:endParaRPr lang="en-US" sz="2600" dirty="0"/>
          </a:p>
        </p:txBody>
      </p:sp>
      <p:sp>
        <p:nvSpPr>
          <p:cNvPr id="16" name="Text 14"/>
          <p:cNvSpPr/>
          <p:nvPr/>
        </p:nvSpPr>
        <p:spPr>
          <a:xfrm>
            <a:off x="6461608" y="5207508"/>
            <a:ext cx="4998568" cy="845820"/>
          </a:xfrm>
          <a:prstGeom prst="rect">
            <a:avLst/>
          </a:prstGeom>
          <a:noFill/>
          <a:ln/>
        </p:spPr>
        <p:txBody>
          <a:bodyPr wrap="square" rtlCol="0" anchor="t"/>
          <a:lstStyle/>
          <a:p>
            <a:pPr marL="0" indent="0">
              <a:lnSpc>
                <a:spcPts val="2000"/>
              </a:lnSpc>
              <a:buNone/>
            </a:pPr>
            <a:r>
              <a:rPr lang="en-US" sz="1600" dirty="0">
                <a:solidFill>
                  <a:srgbClr val="E7EBF3"/>
                </a:solidFill>
                <a:latin typeface="Calibri" pitchFamily="34" charset="0"/>
                <a:ea typeface="Calibri" pitchFamily="34" charset="-122"/>
                <a:cs typeface="Calibri" pitchFamily="34" charset="-120"/>
              </a:rPr>
              <a:t>Suggests exploratory actions that lead to new, potentially useful experiences.</a:t>
            </a:r>
            <a:endParaRPr lang="en-US" sz="1600" dirty="0"/>
          </a:p>
        </p:txBody>
      </p:sp>
      <p:sp>
        <p:nvSpPr>
          <p:cNvPr id="17" name="Text 15"/>
          <p:cNvSpPr/>
          <p:nvPr/>
        </p:nvSpPr>
        <p:spPr>
          <a:xfrm>
            <a:off x="502920" y="6446520"/>
            <a:ext cx="8229600" cy="320040"/>
          </a:xfrm>
          <a:prstGeom prst="rect">
            <a:avLst/>
          </a:prstGeom>
          <a:noFill/>
          <a:ln/>
        </p:spPr>
        <p:txBody>
          <a:bodyPr wrap="square" rtlCol="0" anchor="ctr"/>
          <a:lstStyle/>
          <a:p>
            <a:pPr marL="0" indent="0">
              <a:buNone/>
            </a:pPr>
            <a:r>
              <a:rPr lang="en-US" sz="1400" i="1" dirty="0">
                <a:solidFill>
                  <a:srgbClr val="5A6478"/>
                </a:solidFill>
                <a:latin typeface="Calibri" pitchFamily="34" charset="0"/>
                <a:ea typeface="Calibri" pitchFamily="34" charset="-122"/>
                <a:cs typeface="Calibri" pitchFamily="34" charset="-120"/>
              </a:rPr>
              <a:t>AI — Intelligent Agents  |  E. Types of Intelligent Agents</a:t>
            </a:r>
            <a:endParaRPr lang="en-US" sz="1400" dirty="0"/>
          </a:p>
        </p:txBody>
      </p:sp>
      <p:sp>
        <p:nvSpPr>
          <p:cNvPr id="18" name="Text 16"/>
          <p:cNvSpPr/>
          <p:nvPr/>
        </p:nvSpPr>
        <p:spPr>
          <a:xfrm>
            <a:off x="10500055" y="6446520"/>
            <a:ext cx="1188720" cy="320040"/>
          </a:xfrm>
          <a:prstGeom prst="rect">
            <a:avLst/>
          </a:prstGeom>
          <a:noFill/>
          <a:ln/>
        </p:spPr>
        <p:txBody>
          <a:bodyPr wrap="square" rtlCol="0" anchor="ctr"/>
          <a:lstStyle/>
          <a:p>
            <a:pPr marL="0" indent="0" algn="r">
              <a:buNone/>
            </a:pPr>
            <a:r>
              <a:rPr lang="en-US" sz="1400" dirty="0">
                <a:solidFill>
                  <a:srgbClr val="5A6478"/>
                </a:solidFill>
                <a:latin typeface="Calibri" pitchFamily="34" charset="0"/>
                <a:ea typeface="Calibri" pitchFamily="34" charset="-122"/>
                <a:cs typeface="Calibri" pitchFamily="34" charset="-120"/>
              </a:rPr>
              <a:t>31 / 40</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85855" cy="347472"/>
          </a:xfrm>
          <a:prstGeom prst="rect">
            <a:avLst/>
          </a:prstGeom>
          <a:noFill/>
          <a:ln/>
        </p:spPr>
        <p:txBody>
          <a:bodyPr wrap="square" rtlCol="0" anchor="ctr"/>
          <a:lstStyle/>
          <a:p>
            <a:pPr marL="0" indent="0">
              <a:buNone/>
            </a:pPr>
            <a:r>
              <a:rPr lang="en-US" sz="1500" b="1" kern="0" spc="150" dirty="0">
                <a:solidFill>
                  <a:srgbClr val="B08D57"/>
                </a:solidFill>
                <a:latin typeface="Calibri" pitchFamily="34" charset="0"/>
                <a:ea typeface="Calibri" pitchFamily="34" charset="-122"/>
                <a:cs typeface="Calibri" pitchFamily="34" charset="-120"/>
              </a:rPr>
              <a:t>E. TYPES OF INTELLIGENT AGENTS</a:t>
            </a:r>
            <a:endParaRPr lang="en-US" sz="1500" dirty="0"/>
          </a:p>
        </p:txBody>
      </p:sp>
      <p:sp>
        <p:nvSpPr>
          <p:cNvPr id="3" name="Text 1"/>
          <p:cNvSpPr txBox="1"/>
          <p:nvPr/>
        </p:nvSpPr>
        <p:spPr>
          <a:xfrm>
            <a:off x="502920" y="676656"/>
            <a:ext cx="11185855" cy="1417320"/>
          </a:xfrm>
          <a:prstGeom prst="rect">
            <a:avLst/>
          </a:prstGeom>
          <a:noFill/>
          <a:ln/>
        </p:spPr>
        <p:txBody>
          <a:bodyPr wrap="square" rtlCol="0" anchor="t"/>
          <a:lstStyle/>
          <a:p>
            <a:pPr marL="0" indent="0">
              <a:lnSpc>
                <a:spcPts val="3136"/>
              </a:lnSpc>
              <a:buNone/>
            </a:pPr>
            <a:r>
              <a:rPr lang="en-US" sz="2800" b="1" dirty="0">
                <a:solidFill>
                  <a:srgbClr val="0B1E3D"/>
                </a:solidFill>
                <a:latin typeface="Cambria" pitchFamily="34" charset="0"/>
                <a:ea typeface="Cambria" pitchFamily="34" charset="-122"/>
                <a:cs typeface="Cambria" pitchFamily="34" charset="-120"/>
              </a:rPr>
              <a:t>Learning Agent: Real-Life Examples</a:t>
            </a:r>
            <a:endParaRPr lang="en-US" sz="2800" dirty="0"/>
          </a:p>
        </p:txBody>
      </p:sp>
      <p:sp>
        <p:nvSpPr>
          <p:cNvPr id="4" name="Shape 2"/>
          <p:cNvSpPr/>
          <p:nvPr/>
        </p:nvSpPr>
        <p:spPr>
          <a:xfrm>
            <a:off x="502920" y="1828800"/>
            <a:ext cx="3454298" cy="914400"/>
          </a:xfrm>
          <a:prstGeom prst="roundRect">
            <a:avLst>
              <a:gd name="adj" fmla="val 8000"/>
            </a:avLst>
          </a:prstGeom>
          <a:solidFill>
            <a:srgbClr val="F3F5F8"/>
          </a:solidFill>
          <a:ln/>
        </p:spPr>
      </p:sp>
      <p:sp>
        <p:nvSpPr>
          <p:cNvPr id="5" name="Text 3"/>
          <p:cNvSpPr/>
          <p:nvPr/>
        </p:nvSpPr>
        <p:spPr>
          <a:xfrm>
            <a:off x="576072" y="1828800"/>
            <a:ext cx="3307994" cy="914400"/>
          </a:xfrm>
          <a:prstGeom prst="rect">
            <a:avLst/>
          </a:prstGeom>
          <a:noFill/>
          <a:ln/>
        </p:spPr>
        <p:txBody>
          <a:bodyPr wrap="square" rtlCol="0" anchor="ctr"/>
          <a:lstStyle/>
          <a:p>
            <a:pPr marL="0" indent="0" algn="ctr">
              <a:lnSpc>
                <a:spcPts val="1840"/>
              </a:lnSpc>
              <a:buNone/>
            </a:pPr>
            <a:r>
              <a:rPr lang="en-US" sz="1600" b="1" dirty="0">
                <a:solidFill>
                  <a:srgbClr val="0B1E3D"/>
                </a:solidFill>
                <a:latin typeface="Calibri" pitchFamily="34" charset="0"/>
                <a:ea typeface="Calibri" pitchFamily="34" charset="-122"/>
                <a:cs typeface="Calibri" pitchFamily="34" charset="-120"/>
              </a:rPr>
              <a:t>Data / Experience</a:t>
            </a:r>
            <a:endParaRPr lang="en-US" sz="1600" dirty="0"/>
          </a:p>
        </p:txBody>
      </p:sp>
      <p:sp>
        <p:nvSpPr>
          <p:cNvPr id="6" name="Text 4"/>
          <p:cNvSpPr/>
          <p:nvPr/>
        </p:nvSpPr>
        <p:spPr>
          <a:xfrm>
            <a:off x="3957218" y="1828800"/>
            <a:ext cx="411480" cy="914400"/>
          </a:xfrm>
          <a:prstGeom prst="rect">
            <a:avLst/>
          </a:prstGeom>
          <a:noFill/>
          <a:ln/>
        </p:spPr>
        <p:txBody>
          <a:bodyPr wrap="square" rtlCol="0" anchor="ctr"/>
          <a:lstStyle/>
          <a:p>
            <a:pPr marL="0" indent="0" algn="ctr">
              <a:buNone/>
            </a:pPr>
            <a:r>
              <a:rPr lang="en-US" sz="2400" b="1" dirty="0">
                <a:solidFill>
                  <a:srgbClr val="0B1E3D"/>
                </a:solidFill>
                <a:latin typeface="Calibri" pitchFamily="34" charset="0"/>
                <a:ea typeface="Calibri" pitchFamily="34" charset="-122"/>
                <a:cs typeface="Calibri" pitchFamily="34" charset="-120"/>
              </a:rPr>
              <a:t>→</a:t>
            </a:r>
            <a:endParaRPr lang="en-US" sz="2400" dirty="0"/>
          </a:p>
        </p:txBody>
      </p:sp>
      <p:sp>
        <p:nvSpPr>
          <p:cNvPr id="7" name="Shape 5"/>
          <p:cNvSpPr/>
          <p:nvPr/>
        </p:nvSpPr>
        <p:spPr>
          <a:xfrm>
            <a:off x="4368698" y="1828800"/>
            <a:ext cx="3454298" cy="914400"/>
          </a:xfrm>
          <a:prstGeom prst="roundRect">
            <a:avLst>
              <a:gd name="adj" fmla="val 8000"/>
            </a:avLst>
          </a:prstGeom>
          <a:solidFill>
            <a:srgbClr val="F3F5F8"/>
          </a:solidFill>
          <a:ln/>
        </p:spPr>
      </p:sp>
      <p:sp>
        <p:nvSpPr>
          <p:cNvPr id="8" name="Text 6"/>
          <p:cNvSpPr/>
          <p:nvPr/>
        </p:nvSpPr>
        <p:spPr>
          <a:xfrm>
            <a:off x="4441850" y="1828800"/>
            <a:ext cx="3307994" cy="914400"/>
          </a:xfrm>
          <a:prstGeom prst="rect">
            <a:avLst/>
          </a:prstGeom>
          <a:noFill/>
          <a:ln/>
        </p:spPr>
        <p:txBody>
          <a:bodyPr wrap="square" rtlCol="0" anchor="ctr"/>
          <a:lstStyle/>
          <a:p>
            <a:pPr marL="0" indent="0" algn="ctr">
              <a:lnSpc>
                <a:spcPts val="1840"/>
              </a:lnSpc>
              <a:buNone/>
            </a:pPr>
            <a:r>
              <a:rPr lang="en-US" sz="1600" b="1" dirty="0">
                <a:solidFill>
                  <a:srgbClr val="0B1E3D"/>
                </a:solidFill>
                <a:latin typeface="Calibri" pitchFamily="34" charset="0"/>
                <a:ea typeface="Calibri" pitchFamily="34" charset="-122"/>
                <a:cs typeface="Calibri" pitchFamily="34" charset="-120"/>
              </a:rPr>
              <a:t>Learning</a:t>
            </a:r>
            <a:endParaRPr lang="en-US" sz="1600" dirty="0"/>
          </a:p>
        </p:txBody>
      </p:sp>
      <p:sp>
        <p:nvSpPr>
          <p:cNvPr id="9" name="Text 7"/>
          <p:cNvSpPr/>
          <p:nvPr/>
        </p:nvSpPr>
        <p:spPr>
          <a:xfrm>
            <a:off x="7822997" y="1828800"/>
            <a:ext cx="411480" cy="914400"/>
          </a:xfrm>
          <a:prstGeom prst="rect">
            <a:avLst/>
          </a:prstGeom>
          <a:noFill/>
          <a:ln/>
        </p:spPr>
        <p:txBody>
          <a:bodyPr wrap="square" rtlCol="0" anchor="ctr"/>
          <a:lstStyle/>
          <a:p>
            <a:pPr marL="0" indent="0" algn="ctr">
              <a:buNone/>
            </a:pPr>
            <a:r>
              <a:rPr lang="en-US" sz="2400" b="1" dirty="0">
                <a:solidFill>
                  <a:srgbClr val="0B1E3D"/>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8234477" y="1828800"/>
            <a:ext cx="3454298" cy="914400"/>
          </a:xfrm>
          <a:prstGeom prst="roundRect">
            <a:avLst>
              <a:gd name="adj" fmla="val 8000"/>
            </a:avLst>
          </a:prstGeom>
          <a:solidFill>
            <a:srgbClr val="F3F5F8"/>
          </a:solidFill>
          <a:ln/>
        </p:spPr>
      </p:sp>
      <p:sp>
        <p:nvSpPr>
          <p:cNvPr id="11" name="Text 9"/>
          <p:cNvSpPr/>
          <p:nvPr/>
        </p:nvSpPr>
        <p:spPr>
          <a:xfrm>
            <a:off x="8307629" y="1828800"/>
            <a:ext cx="3307994" cy="914400"/>
          </a:xfrm>
          <a:prstGeom prst="rect">
            <a:avLst/>
          </a:prstGeom>
          <a:noFill/>
          <a:ln/>
        </p:spPr>
        <p:txBody>
          <a:bodyPr wrap="square" rtlCol="0" anchor="ctr"/>
          <a:lstStyle/>
          <a:p>
            <a:pPr marL="0" indent="0" algn="ctr">
              <a:lnSpc>
                <a:spcPts val="1725"/>
              </a:lnSpc>
              <a:buNone/>
            </a:pPr>
            <a:r>
              <a:rPr lang="en-US" sz="1500" b="1" dirty="0">
                <a:solidFill>
                  <a:srgbClr val="0B1E3D"/>
                </a:solidFill>
                <a:latin typeface="Calibri" pitchFamily="34" charset="0"/>
                <a:ea typeface="Calibri" pitchFamily="34" charset="-122"/>
                <a:cs typeface="Calibri" pitchFamily="34" charset="-120"/>
              </a:rPr>
              <a:t>Improved Behavior</a:t>
            </a:r>
            <a:endParaRPr lang="en-US" sz="1500" dirty="0"/>
          </a:p>
        </p:txBody>
      </p:sp>
      <p:sp>
        <p:nvSpPr>
          <p:cNvPr id="12" name="Text 10"/>
          <p:cNvSpPr/>
          <p:nvPr/>
        </p:nvSpPr>
        <p:spPr>
          <a:xfrm>
            <a:off x="502920" y="2971800"/>
            <a:ext cx="11185855" cy="283464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rgbClr val="1A1F2B"/>
                </a:solidFill>
                <a:latin typeface="Calibri" pitchFamily="34" charset="0"/>
                <a:ea typeface="Calibri" pitchFamily="34" charset="-122"/>
                <a:cs typeface="Calibri" pitchFamily="34" charset="-120"/>
              </a:rPr>
              <a:t>Recommendation systems — improve suggestions from viewing/purchase history</a:t>
            </a:r>
            <a:endParaRPr lang="en-US" sz="1800" dirty="0"/>
          </a:p>
          <a:p>
            <a:pPr marL="228600" indent="-228600">
              <a:spcAft>
                <a:spcPts val="1000"/>
              </a:spcAft>
              <a:buSzPct val="100000"/>
              <a:buChar char="▪"/>
            </a:pPr>
            <a:r>
              <a:rPr lang="en-US" sz="1800" dirty="0">
                <a:solidFill>
                  <a:srgbClr val="1A1F2B"/>
                </a:solidFill>
                <a:latin typeface="Calibri" pitchFamily="34" charset="0"/>
                <a:ea typeface="Calibri" pitchFamily="34" charset="-122"/>
                <a:cs typeface="Calibri" pitchFamily="34" charset="-120"/>
              </a:rPr>
              <a:t>Spam filters — improve accuracy as users mark more mail as spam or not</a:t>
            </a:r>
            <a:endParaRPr lang="en-US" sz="1800" dirty="0"/>
          </a:p>
          <a:p>
            <a:pPr marL="228600" indent="-228600">
              <a:spcAft>
                <a:spcPts val="1000"/>
              </a:spcAft>
              <a:buSzPct val="100000"/>
              <a:buChar char="▪"/>
            </a:pPr>
            <a:r>
              <a:rPr lang="en-US" sz="1800" dirty="0">
                <a:solidFill>
                  <a:srgbClr val="1A1F2B"/>
                </a:solidFill>
                <a:latin typeface="Calibri" pitchFamily="34" charset="0"/>
                <a:ea typeface="Calibri" pitchFamily="34" charset="-122"/>
                <a:cs typeface="Calibri" pitchFamily="34" charset="-120"/>
              </a:rPr>
              <a:t>Autonomous driving systems — refine perception and driving policy from data</a:t>
            </a:r>
            <a:endParaRPr lang="en-US" sz="1800" dirty="0"/>
          </a:p>
          <a:p>
            <a:pPr marL="228600" indent="-228600">
              <a:spcAft>
                <a:spcPts val="1000"/>
              </a:spcAft>
              <a:buSzPct val="100000"/>
              <a:buChar char="▪"/>
            </a:pPr>
            <a:r>
              <a:rPr lang="en-US" sz="1800" dirty="0">
                <a:solidFill>
                  <a:srgbClr val="1A1F2B"/>
                </a:solidFill>
                <a:latin typeface="Calibri" pitchFamily="34" charset="0"/>
                <a:ea typeface="Calibri" pitchFamily="34" charset="-122"/>
                <a:cs typeface="Calibri" pitchFamily="34" charset="-120"/>
              </a:rPr>
              <a:t>Voice assistants — adapt to a speaker's accent and vocabulary over time</a:t>
            </a:r>
            <a:endParaRPr lang="en-US" sz="1800" dirty="0"/>
          </a:p>
          <a:p>
            <a:pPr marL="228600" indent="-228600">
              <a:spcAft>
                <a:spcPts val="1000"/>
              </a:spcAft>
              <a:buSzPct val="100000"/>
              <a:buChar char="▪"/>
            </a:pPr>
            <a:r>
              <a:rPr lang="en-US" sz="1800" dirty="0">
                <a:solidFill>
                  <a:srgbClr val="1A1F2B"/>
                </a:solidFill>
                <a:latin typeface="Calibri" pitchFamily="34" charset="0"/>
                <a:ea typeface="Calibri" pitchFamily="34" charset="-122"/>
                <a:cs typeface="Calibri" pitchFamily="34" charset="-120"/>
              </a:rPr>
              <a:t>Game-playing agents — improve strategy through repeated play</a:t>
            </a:r>
            <a:endParaRPr lang="en-US" sz="1800" dirty="0"/>
          </a:p>
        </p:txBody>
      </p:sp>
      <p:sp>
        <p:nvSpPr>
          <p:cNvPr id="13" name="Text 11"/>
          <p:cNvSpPr/>
          <p:nvPr/>
        </p:nvSpPr>
        <p:spPr>
          <a:xfrm>
            <a:off x="502920" y="5897880"/>
            <a:ext cx="11185855" cy="365760"/>
          </a:xfrm>
          <a:prstGeom prst="rect">
            <a:avLst/>
          </a:prstGeom>
          <a:noFill/>
          <a:ln/>
        </p:spPr>
        <p:txBody>
          <a:bodyPr wrap="square" rtlCol="0" anchor="ctr"/>
          <a:lstStyle/>
          <a:p>
            <a:pPr marL="0" indent="0">
              <a:buNone/>
            </a:pPr>
            <a:r>
              <a:rPr lang="en-US" sz="1500" i="1" dirty="0">
                <a:solidFill>
                  <a:srgbClr val="5A6478"/>
                </a:solidFill>
                <a:latin typeface="Calibri" pitchFamily="34" charset="0"/>
                <a:ea typeface="Calibri" pitchFamily="34" charset="-122"/>
                <a:cs typeface="Calibri" pitchFamily="34" charset="-120"/>
              </a:rPr>
              <a:t>We are not covering the specific learning algorithms behind these systems today — only the architectural pattern.</a:t>
            </a:r>
            <a:endParaRPr lang="en-US" sz="1500" dirty="0"/>
          </a:p>
        </p:txBody>
      </p:sp>
      <p:sp>
        <p:nvSpPr>
          <p:cNvPr id="14" name="Text 12"/>
          <p:cNvSpPr/>
          <p:nvPr/>
        </p:nvSpPr>
        <p:spPr>
          <a:xfrm>
            <a:off x="502920" y="6446520"/>
            <a:ext cx="8229600" cy="320040"/>
          </a:xfrm>
          <a:prstGeom prst="rect">
            <a:avLst/>
          </a:prstGeom>
          <a:noFill/>
          <a:ln/>
        </p:spPr>
        <p:txBody>
          <a:bodyPr wrap="square" rtlCol="0" anchor="ctr"/>
          <a:lstStyle/>
          <a:p>
            <a:pPr marL="0" indent="0">
              <a:buNone/>
            </a:pPr>
            <a:r>
              <a:rPr lang="en-US" sz="1400" i="1" dirty="0">
                <a:solidFill>
                  <a:srgbClr val="5A6478"/>
                </a:solidFill>
                <a:latin typeface="Calibri" pitchFamily="34" charset="0"/>
                <a:ea typeface="Calibri" pitchFamily="34" charset="-122"/>
                <a:cs typeface="Calibri" pitchFamily="34" charset="-120"/>
              </a:rPr>
              <a:t>AI — Intelligent Agents  |  E. Types of Intelligent Agents</a:t>
            </a:r>
            <a:endParaRPr lang="en-US" sz="1400" dirty="0"/>
          </a:p>
        </p:txBody>
      </p:sp>
      <p:sp>
        <p:nvSpPr>
          <p:cNvPr id="15" name="Text 13"/>
          <p:cNvSpPr/>
          <p:nvPr/>
        </p:nvSpPr>
        <p:spPr>
          <a:xfrm>
            <a:off x="10500055" y="6446520"/>
            <a:ext cx="1188720" cy="320040"/>
          </a:xfrm>
          <a:prstGeom prst="rect">
            <a:avLst/>
          </a:prstGeom>
          <a:noFill/>
          <a:ln/>
        </p:spPr>
        <p:txBody>
          <a:bodyPr wrap="square" rtlCol="0" anchor="ctr"/>
          <a:lstStyle/>
          <a:p>
            <a:pPr marL="0" indent="0" algn="r">
              <a:buNone/>
            </a:pPr>
            <a:r>
              <a:rPr lang="en-US" sz="1400" dirty="0">
                <a:solidFill>
                  <a:srgbClr val="5A6478"/>
                </a:solidFill>
                <a:latin typeface="Calibri" pitchFamily="34" charset="0"/>
                <a:ea typeface="Calibri" pitchFamily="34" charset="-122"/>
                <a:cs typeface="Calibri" pitchFamily="34" charset="-120"/>
              </a:rPr>
              <a:t>32 / 40</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85855" cy="347472"/>
          </a:xfrm>
          <a:prstGeom prst="rect">
            <a:avLst/>
          </a:prstGeom>
          <a:noFill/>
          <a:ln/>
        </p:spPr>
        <p:txBody>
          <a:bodyPr wrap="square" rtlCol="0" anchor="ctr"/>
          <a:lstStyle/>
          <a:p>
            <a:pPr marL="0" indent="0">
              <a:buNone/>
            </a:pPr>
            <a:r>
              <a:rPr lang="en-US" sz="1500" b="1" kern="0" spc="150" dirty="0">
                <a:solidFill>
                  <a:srgbClr val="B08D57"/>
                </a:solidFill>
                <a:latin typeface="Calibri" pitchFamily="34" charset="0"/>
                <a:ea typeface="Calibri" pitchFamily="34" charset="-122"/>
                <a:cs typeface="Calibri" pitchFamily="34" charset="-120"/>
              </a:rPr>
              <a:t>E. TYPES OF INTELLIGENT AGENTS</a:t>
            </a:r>
            <a:endParaRPr lang="en-US" sz="1500" dirty="0"/>
          </a:p>
        </p:txBody>
      </p:sp>
      <p:sp>
        <p:nvSpPr>
          <p:cNvPr id="3" name="Text 1"/>
          <p:cNvSpPr txBox="1"/>
          <p:nvPr/>
        </p:nvSpPr>
        <p:spPr>
          <a:xfrm>
            <a:off x="502920" y="676656"/>
            <a:ext cx="11185855" cy="1417320"/>
          </a:xfrm>
          <a:prstGeom prst="rect">
            <a:avLst/>
          </a:prstGeom>
          <a:noFill/>
          <a:ln/>
        </p:spPr>
        <p:txBody>
          <a:bodyPr wrap="square" rtlCol="0" anchor="t"/>
          <a:lstStyle/>
          <a:p>
            <a:pPr marL="0" indent="0">
              <a:lnSpc>
                <a:spcPts val="3584"/>
              </a:lnSpc>
              <a:buNone/>
            </a:pPr>
            <a:r>
              <a:rPr lang="en-US" sz="3200" b="1" dirty="0">
                <a:solidFill>
                  <a:srgbClr val="0B1E3D"/>
                </a:solidFill>
                <a:latin typeface="Cambria" pitchFamily="34" charset="0"/>
                <a:ea typeface="Cambria" pitchFamily="34" charset="-122"/>
                <a:cs typeface="Cambria" pitchFamily="34" charset="-120"/>
              </a:rPr>
              <a:t>Compare the Five Agent Types</a:t>
            </a:r>
            <a:endParaRPr lang="en-US" sz="32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11185855" cy="914400"/>
        </p:xfrm>
        <a:graphic>
          <a:graphicData uri="http://schemas.openxmlformats.org/drawingml/2006/table">
            <a:tbl>
              <a:tblPr/>
              <a:tblGrid>
                <a:gridCol w="233172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234440">
                  <a:extLst>
                    <a:ext uri="{9D8B030D-6E8A-4147-A177-3AD203B41FA5}">
                      <a16:colId xmlns:a16="http://schemas.microsoft.com/office/drawing/2014/main" val="20005"/>
                    </a:ext>
                  </a:extLst>
                </a:gridCol>
              </a:tblGrid>
              <a:tr h="502920">
                <a:tc>
                  <a:txBody>
                    <a:bodyPr/>
                    <a:lstStyle/>
                    <a:p>
                      <a:pPr marL="0" indent="0" algn="ctr">
                        <a:buNone/>
                      </a:pPr>
                      <a:r>
                        <a:rPr lang="en-US" sz="1800" b="1" dirty="0">
                          <a:solidFill>
                            <a:srgbClr val="FFFFFF"/>
                          </a:solidFill>
                        </a:rPr>
                        <a:t>Agent Type</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0B1E3D"/>
                    </a:solidFill>
                  </a:tcPr>
                </a:tc>
                <a:tc>
                  <a:txBody>
                    <a:bodyPr/>
                    <a:lstStyle/>
                    <a:p>
                      <a:pPr marL="0" indent="0" algn="ctr">
                        <a:buNone/>
                      </a:pPr>
                      <a:r>
                        <a:rPr lang="en-US" sz="1800" b="1" dirty="0">
                          <a:solidFill>
                            <a:srgbClr val="FFFFFF"/>
                          </a:solidFill>
                        </a:rPr>
                        <a:t>Main Idea</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0B1E3D"/>
                    </a:solidFill>
                  </a:tcPr>
                </a:tc>
                <a:tc>
                  <a:txBody>
                    <a:bodyPr/>
                    <a:lstStyle/>
                    <a:p>
                      <a:pPr marL="0" indent="0" algn="ctr">
                        <a:buNone/>
                      </a:pPr>
                      <a:r>
                        <a:rPr lang="en-US" sz="1800" b="1" dirty="0">
                          <a:solidFill>
                            <a:srgbClr val="FFFFFF"/>
                          </a:solidFill>
                        </a:rPr>
                        <a:t>Memory?</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0B1E3D"/>
                    </a:solidFill>
                  </a:tcPr>
                </a:tc>
                <a:tc>
                  <a:txBody>
                    <a:bodyPr/>
                    <a:lstStyle/>
                    <a:p>
                      <a:pPr marL="0" indent="0" algn="ctr">
                        <a:buNone/>
                      </a:pPr>
                      <a:r>
                        <a:rPr lang="en-US" sz="1800" b="1" dirty="0">
                          <a:solidFill>
                            <a:srgbClr val="FFFFFF"/>
                          </a:solidFill>
                        </a:rPr>
                        <a:t>Goals?</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0B1E3D"/>
                    </a:solidFill>
                  </a:tcPr>
                </a:tc>
                <a:tc>
                  <a:txBody>
                    <a:bodyPr/>
                    <a:lstStyle/>
                    <a:p>
                      <a:pPr marL="0" indent="0" algn="ctr">
                        <a:buNone/>
                      </a:pPr>
                      <a:r>
                        <a:rPr lang="en-US" sz="1800" b="1" dirty="0">
                          <a:solidFill>
                            <a:srgbClr val="FFFFFF"/>
                          </a:solidFill>
                        </a:rPr>
                        <a:t>Utility?</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0B1E3D"/>
                    </a:solidFill>
                  </a:tcPr>
                </a:tc>
                <a:tc>
                  <a:txBody>
                    <a:bodyPr/>
                    <a:lstStyle/>
                    <a:p>
                      <a:pPr marL="0" indent="0" algn="ctr">
                        <a:buNone/>
                      </a:pPr>
                      <a:r>
                        <a:rPr lang="en-US" sz="1800" b="1" dirty="0">
                          <a:solidFill>
                            <a:srgbClr val="FFFFFF"/>
                          </a:solidFill>
                        </a:rPr>
                        <a:t>Learns?</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0B1E3D"/>
                    </a:solidFill>
                  </a:tcPr>
                </a:tc>
                <a:extLst>
                  <a:ext uri="{0D108BD9-81ED-4DB2-BD59-A6C34878D82A}">
                    <a16:rowId xmlns:a16="http://schemas.microsoft.com/office/drawing/2014/main" val="10000"/>
                  </a:ext>
                </a:extLst>
              </a:tr>
              <a:tr h="658368">
                <a:tc>
                  <a:txBody>
                    <a:bodyPr/>
                    <a:lstStyle/>
                    <a:p>
                      <a:pPr marL="0" indent="0" algn="l">
                        <a:buNone/>
                      </a:pPr>
                      <a:r>
                        <a:rPr lang="en-US" sz="1800" b="1" dirty="0">
                          <a:solidFill>
                            <a:srgbClr val="1A1F2B"/>
                          </a:solidFill>
                        </a:rPr>
                        <a:t>Simple Reflex</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l">
                        <a:buNone/>
                      </a:pPr>
                      <a:r>
                        <a:rPr lang="en-US" sz="1800" dirty="0">
                          <a:solidFill>
                            <a:srgbClr val="1A1F2B"/>
                          </a:solidFill>
                        </a:rPr>
                        <a:t>Condition → action rules</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5A6478"/>
                          </a:solidFill>
                        </a:rPr>
                        <a:t>No</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5A6478"/>
                          </a:solidFill>
                        </a:rPr>
                        <a:t>No</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5A6478"/>
                          </a:solidFill>
                        </a:rPr>
                        <a:t>No</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5A6478"/>
                          </a:solidFill>
                        </a:rPr>
                        <a:t>No</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lgn="l">
                        <a:buNone/>
                      </a:pPr>
                      <a:r>
                        <a:rPr lang="en-US" sz="1800" b="1" dirty="0">
                          <a:solidFill>
                            <a:srgbClr val="1A1F2B"/>
                          </a:solidFill>
                        </a:rPr>
                        <a:t>Model-Based Reflex</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3F5F8"/>
                    </a:solidFill>
                  </a:tcPr>
                </a:tc>
                <a:tc>
                  <a:txBody>
                    <a:bodyPr/>
                    <a:lstStyle/>
                    <a:p>
                      <a:pPr marL="0" indent="0" algn="l">
                        <a:buNone/>
                      </a:pPr>
                      <a:r>
                        <a:rPr lang="en-US" sz="1800" dirty="0">
                          <a:solidFill>
                            <a:srgbClr val="1A1F2B"/>
                          </a:solidFill>
                        </a:rPr>
                        <a:t>Rules + internal state</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3F5F8"/>
                    </a:solidFill>
                  </a:tcPr>
                </a:tc>
                <a:tc>
                  <a:txBody>
                    <a:bodyPr/>
                    <a:lstStyle/>
                    <a:p>
                      <a:pPr marL="0" indent="0" algn="ctr">
                        <a:buNone/>
                      </a:pPr>
                      <a:r>
                        <a:rPr lang="en-US" sz="1800" b="1" dirty="0">
                          <a:solidFill>
                            <a:srgbClr val="0B1E3D"/>
                          </a:solidFill>
                        </a:rPr>
                        <a:t>Yes</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3F5F8"/>
                    </a:solidFill>
                  </a:tcPr>
                </a:tc>
                <a:tc>
                  <a:txBody>
                    <a:bodyPr/>
                    <a:lstStyle/>
                    <a:p>
                      <a:pPr marL="0" indent="0" algn="ctr">
                        <a:buNone/>
                      </a:pPr>
                      <a:r>
                        <a:rPr lang="en-US" sz="1800" dirty="0">
                          <a:solidFill>
                            <a:srgbClr val="5A6478"/>
                          </a:solidFill>
                        </a:rPr>
                        <a:t>No</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3F5F8"/>
                    </a:solidFill>
                  </a:tcPr>
                </a:tc>
                <a:tc>
                  <a:txBody>
                    <a:bodyPr/>
                    <a:lstStyle/>
                    <a:p>
                      <a:pPr marL="0" indent="0" algn="ctr">
                        <a:buNone/>
                      </a:pPr>
                      <a:r>
                        <a:rPr lang="en-US" sz="1800" dirty="0">
                          <a:solidFill>
                            <a:srgbClr val="5A6478"/>
                          </a:solidFill>
                        </a:rPr>
                        <a:t>No</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3F5F8"/>
                    </a:solidFill>
                  </a:tcPr>
                </a:tc>
                <a:tc>
                  <a:txBody>
                    <a:bodyPr/>
                    <a:lstStyle/>
                    <a:p>
                      <a:pPr marL="0" indent="0" algn="ctr">
                        <a:buNone/>
                      </a:pPr>
                      <a:r>
                        <a:rPr lang="en-US" sz="1800" dirty="0">
                          <a:solidFill>
                            <a:srgbClr val="5A6478"/>
                          </a:solidFill>
                        </a:rPr>
                        <a:t>No</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3F5F8"/>
                    </a:solidFill>
                  </a:tcPr>
                </a:tc>
                <a:extLst>
                  <a:ext uri="{0D108BD9-81ED-4DB2-BD59-A6C34878D82A}">
                    <a16:rowId xmlns:a16="http://schemas.microsoft.com/office/drawing/2014/main" val="10002"/>
                  </a:ext>
                </a:extLst>
              </a:tr>
              <a:tr h="658368">
                <a:tc>
                  <a:txBody>
                    <a:bodyPr/>
                    <a:lstStyle/>
                    <a:p>
                      <a:pPr marL="0" indent="0" algn="l">
                        <a:buNone/>
                      </a:pPr>
                      <a:r>
                        <a:rPr lang="en-US" sz="1800" b="1" dirty="0">
                          <a:solidFill>
                            <a:srgbClr val="1A1F2B"/>
                          </a:solidFill>
                        </a:rPr>
                        <a:t>Goal-Based</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l">
                        <a:buNone/>
                      </a:pPr>
                      <a:r>
                        <a:rPr lang="en-US" sz="1800" dirty="0">
                          <a:solidFill>
                            <a:srgbClr val="1A1F2B"/>
                          </a:solidFill>
                        </a:rPr>
                        <a:t>Plans toward a goal</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0B1E3D"/>
                          </a:solidFill>
                        </a:rPr>
                        <a:t>Yes</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0B1E3D"/>
                          </a:solidFill>
                        </a:rPr>
                        <a:t>Yes</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5A6478"/>
                          </a:solidFill>
                        </a:rPr>
                        <a:t>No</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5A6478"/>
                          </a:solidFill>
                        </a:rPr>
                        <a:t>No</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8368">
                <a:tc>
                  <a:txBody>
                    <a:bodyPr/>
                    <a:lstStyle/>
                    <a:p>
                      <a:pPr marL="0" indent="0" algn="l">
                        <a:buNone/>
                      </a:pPr>
                      <a:r>
                        <a:rPr lang="en-US" sz="1800" b="1" dirty="0">
                          <a:solidFill>
                            <a:srgbClr val="1A1F2B"/>
                          </a:solidFill>
                        </a:rPr>
                        <a:t>Utility-Based</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3F5F8"/>
                    </a:solidFill>
                  </a:tcPr>
                </a:tc>
                <a:tc>
                  <a:txBody>
                    <a:bodyPr/>
                    <a:lstStyle/>
                    <a:p>
                      <a:pPr marL="0" indent="0" algn="l">
                        <a:buNone/>
                      </a:pPr>
                      <a:r>
                        <a:rPr lang="en-US" sz="1800" dirty="0">
                          <a:solidFill>
                            <a:srgbClr val="1A1F2B"/>
                          </a:solidFill>
                        </a:rPr>
                        <a:t>Weighs outcome desirability</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3F5F8"/>
                    </a:solidFill>
                  </a:tcPr>
                </a:tc>
                <a:tc>
                  <a:txBody>
                    <a:bodyPr/>
                    <a:lstStyle/>
                    <a:p>
                      <a:pPr marL="0" indent="0" algn="ctr">
                        <a:buNone/>
                      </a:pPr>
                      <a:r>
                        <a:rPr lang="en-US" sz="1800" b="1" dirty="0">
                          <a:solidFill>
                            <a:srgbClr val="0B1E3D"/>
                          </a:solidFill>
                        </a:rPr>
                        <a:t>Yes</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3F5F8"/>
                    </a:solidFill>
                  </a:tcPr>
                </a:tc>
                <a:tc>
                  <a:txBody>
                    <a:bodyPr/>
                    <a:lstStyle/>
                    <a:p>
                      <a:pPr marL="0" indent="0" algn="ctr">
                        <a:buNone/>
                      </a:pPr>
                      <a:r>
                        <a:rPr lang="en-US" sz="1800" b="1" dirty="0">
                          <a:solidFill>
                            <a:srgbClr val="0B1E3D"/>
                          </a:solidFill>
                        </a:rPr>
                        <a:t>Yes</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3F5F8"/>
                    </a:solidFill>
                  </a:tcPr>
                </a:tc>
                <a:tc>
                  <a:txBody>
                    <a:bodyPr/>
                    <a:lstStyle/>
                    <a:p>
                      <a:pPr marL="0" indent="0" algn="ctr">
                        <a:buNone/>
                      </a:pPr>
                      <a:r>
                        <a:rPr lang="en-US" sz="1800" b="1" dirty="0">
                          <a:solidFill>
                            <a:srgbClr val="0B1E3D"/>
                          </a:solidFill>
                        </a:rPr>
                        <a:t>Yes</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3F5F8"/>
                    </a:solidFill>
                  </a:tcPr>
                </a:tc>
                <a:tc>
                  <a:txBody>
                    <a:bodyPr/>
                    <a:lstStyle/>
                    <a:p>
                      <a:pPr marL="0" indent="0" algn="ctr">
                        <a:buNone/>
                      </a:pPr>
                      <a:r>
                        <a:rPr lang="en-US" sz="1800" dirty="0">
                          <a:solidFill>
                            <a:srgbClr val="5A6478"/>
                          </a:solidFill>
                        </a:rPr>
                        <a:t>No</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3F5F8"/>
                    </a:solidFill>
                  </a:tcPr>
                </a:tc>
                <a:extLst>
                  <a:ext uri="{0D108BD9-81ED-4DB2-BD59-A6C34878D82A}">
                    <a16:rowId xmlns:a16="http://schemas.microsoft.com/office/drawing/2014/main" val="10004"/>
                  </a:ext>
                </a:extLst>
              </a:tr>
              <a:tr h="658368">
                <a:tc>
                  <a:txBody>
                    <a:bodyPr/>
                    <a:lstStyle/>
                    <a:p>
                      <a:pPr marL="0" indent="0" algn="l">
                        <a:buNone/>
                      </a:pPr>
                      <a:r>
                        <a:rPr lang="en-US" sz="1800" b="1" dirty="0">
                          <a:solidFill>
                            <a:srgbClr val="1A1F2B"/>
                          </a:solidFill>
                        </a:rPr>
                        <a:t>Learning</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l">
                        <a:buNone/>
                      </a:pPr>
                      <a:r>
                        <a:rPr lang="en-US" sz="1800" dirty="0">
                          <a:solidFill>
                            <a:srgbClr val="1A1F2B"/>
                          </a:solidFill>
                        </a:rPr>
                        <a:t>Improves from experience</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0B1E3D"/>
                          </a:solidFill>
                        </a:rPr>
                        <a:t>Yes</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5A6478"/>
                          </a:solidFill>
                        </a:rPr>
                        <a:t>Usually</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5A6478"/>
                          </a:solidFill>
                        </a:rPr>
                        <a:t>Usually</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0B1E3D"/>
                          </a:solidFill>
                        </a:rPr>
                        <a:t>Yes</a:t>
                      </a:r>
                      <a:endParaRPr lang="en-US" sz="1800" dirty="0"/>
                    </a:p>
                  </a:txBody>
                  <a:tcPr anchor="ct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Shape 2"/>
          <p:cNvSpPr/>
          <p:nvPr/>
        </p:nvSpPr>
        <p:spPr>
          <a:xfrm>
            <a:off x="502920" y="5806440"/>
            <a:ext cx="11185855" cy="594360"/>
          </a:xfrm>
          <a:prstGeom prst="roundRect">
            <a:avLst>
              <a:gd name="adj" fmla="val 12308"/>
            </a:avLst>
          </a:prstGeom>
          <a:solidFill>
            <a:srgbClr val="FBF3E6"/>
          </a:solidFill>
          <a:ln w="12700">
            <a:solidFill>
              <a:srgbClr val="B08D57"/>
            </a:solidFill>
            <a:prstDash val="solid"/>
          </a:ln>
        </p:spPr>
      </p:sp>
      <p:sp>
        <p:nvSpPr>
          <p:cNvPr id="6" name="Text 3"/>
          <p:cNvSpPr/>
          <p:nvPr/>
        </p:nvSpPr>
        <p:spPr>
          <a:xfrm>
            <a:off x="502920" y="5806440"/>
            <a:ext cx="11185855" cy="594360"/>
          </a:xfrm>
          <a:prstGeom prst="rect">
            <a:avLst/>
          </a:prstGeom>
          <a:noFill/>
          <a:ln/>
        </p:spPr>
        <p:txBody>
          <a:bodyPr wrap="square" rtlCol="0" anchor="ctr"/>
          <a:lstStyle/>
          <a:p>
            <a:pPr marL="0" indent="0" algn="ctr">
              <a:buNone/>
            </a:pPr>
            <a:r>
              <a:rPr lang="en-US" sz="1700" b="1" i="1" dirty="0">
                <a:solidFill>
                  <a:srgbClr val="0B1E3D"/>
                </a:solidFill>
                <a:latin typeface="Cambria" pitchFamily="34" charset="0"/>
                <a:ea typeface="Cambria" pitchFamily="34" charset="-122"/>
                <a:cs typeface="Cambria" pitchFamily="34" charset="-120"/>
              </a:rPr>
              <a:t>No row is “the best” in general — each is the right tool for a different kind of task.</a:t>
            </a:r>
            <a:endParaRPr lang="en-US" sz="1700" dirty="0"/>
          </a:p>
        </p:txBody>
      </p:sp>
      <p:sp>
        <p:nvSpPr>
          <p:cNvPr id="7" name="Text 4"/>
          <p:cNvSpPr/>
          <p:nvPr/>
        </p:nvSpPr>
        <p:spPr>
          <a:xfrm>
            <a:off x="502920" y="6446520"/>
            <a:ext cx="8229600" cy="320040"/>
          </a:xfrm>
          <a:prstGeom prst="rect">
            <a:avLst/>
          </a:prstGeom>
          <a:noFill/>
          <a:ln/>
        </p:spPr>
        <p:txBody>
          <a:bodyPr wrap="square" rtlCol="0" anchor="ctr"/>
          <a:lstStyle/>
          <a:p>
            <a:pPr marL="0" indent="0">
              <a:buNone/>
            </a:pPr>
            <a:r>
              <a:rPr lang="en-US" sz="1400" i="1" dirty="0">
                <a:solidFill>
                  <a:srgbClr val="5A6478"/>
                </a:solidFill>
                <a:latin typeface="Calibri" pitchFamily="34" charset="0"/>
                <a:ea typeface="Calibri" pitchFamily="34" charset="-122"/>
                <a:cs typeface="Calibri" pitchFamily="34" charset="-120"/>
              </a:rPr>
              <a:t>AI — Intelligent Agents  |  E. Types of Intelligent Agents</a:t>
            </a:r>
            <a:endParaRPr lang="en-US" sz="1400" dirty="0"/>
          </a:p>
        </p:txBody>
      </p:sp>
      <p:sp>
        <p:nvSpPr>
          <p:cNvPr id="8" name="Text 5"/>
          <p:cNvSpPr/>
          <p:nvPr/>
        </p:nvSpPr>
        <p:spPr>
          <a:xfrm>
            <a:off x="10500055" y="6446520"/>
            <a:ext cx="1188720" cy="320040"/>
          </a:xfrm>
          <a:prstGeom prst="rect">
            <a:avLst/>
          </a:prstGeom>
          <a:noFill/>
          <a:ln/>
        </p:spPr>
        <p:txBody>
          <a:bodyPr wrap="square" rtlCol="0" anchor="ctr"/>
          <a:lstStyle/>
          <a:p>
            <a:pPr marL="0" indent="0" algn="r">
              <a:buNone/>
            </a:pPr>
            <a:r>
              <a:rPr lang="en-US" sz="1400" dirty="0">
                <a:solidFill>
                  <a:srgbClr val="5A6478"/>
                </a:solidFill>
                <a:latin typeface="Calibri" pitchFamily="34" charset="0"/>
                <a:ea typeface="Calibri" pitchFamily="34" charset="-122"/>
                <a:cs typeface="Calibri" pitchFamily="34" charset="-120"/>
              </a:rPr>
              <a:t>33 / 40</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85855" cy="347472"/>
          </a:xfrm>
          <a:prstGeom prst="rect">
            <a:avLst/>
          </a:prstGeom>
          <a:noFill/>
          <a:ln/>
        </p:spPr>
        <p:txBody>
          <a:bodyPr wrap="square" rtlCol="0" anchor="ctr"/>
          <a:lstStyle/>
          <a:p>
            <a:pPr marL="0" indent="0">
              <a:buNone/>
            </a:pPr>
            <a:r>
              <a:rPr lang="en-US" sz="1500" b="1" kern="0" spc="150" dirty="0">
                <a:solidFill>
                  <a:srgbClr val="B08D57"/>
                </a:solidFill>
                <a:latin typeface="Calibri" pitchFamily="34" charset="0"/>
                <a:ea typeface="Calibri" pitchFamily="34" charset="-122"/>
                <a:cs typeface="Calibri" pitchFamily="34" charset="-120"/>
              </a:rPr>
              <a:t>F. PROPERTIES OF AI ENVIRONMENTS</a:t>
            </a:r>
            <a:endParaRPr lang="en-US" sz="1500" dirty="0"/>
          </a:p>
        </p:txBody>
      </p:sp>
      <p:sp>
        <p:nvSpPr>
          <p:cNvPr id="3" name="Text 1"/>
          <p:cNvSpPr txBox="1"/>
          <p:nvPr/>
        </p:nvSpPr>
        <p:spPr>
          <a:xfrm>
            <a:off x="502920" y="676656"/>
            <a:ext cx="11185855" cy="1417320"/>
          </a:xfrm>
          <a:prstGeom prst="rect">
            <a:avLst/>
          </a:prstGeom>
          <a:noFill/>
          <a:ln/>
        </p:spPr>
        <p:txBody>
          <a:bodyPr wrap="square" rtlCol="0" anchor="t"/>
          <a:lstStyle/>
          <a:p>
            <a:pPr marL="0" indent="0">
              <a:lnSpc>
                <a:spcPts val="3584"/>
              </a:lnSpc>
              <a:buNone/>
            </a:pPr>
            <a:r>
              <a:rPr lang="en-US" sz="3200" b="1" dirty="0">
                <a:solidFill>
                  <a:srgbClr val="0B1E3D"/>
                </a:solidFill>
                <a:latin typeface="Cambria" pitchFamily="34" charset="0"/>
                <a:ea typeface="Cambria" pitchFamily="34" charset="-122"/>
                <a:cs typeface="Cambria" pitchFamily="34" charset="-120"/>
              </a:rPr>
              <a:t>What Is a Task Environment?</a:t>
            </a:r>
            <a:endParaRPr lang="en-US" sz="3200" dirty="0"/>
          </a:p>
        </p:txBody>
      </p:sp>
      <p:sp>
        <p:nvSpPr>
          <p:cNvPr id="4" name="Text 2"/>
          <p:cNvSpPr/>
          <p:nvPr/>
        </p:nvSpPr>
        <p:spPr>
          <a:xfrm>
            <a:off x="502920" y="1828800"/>
            <a:ext cx="11185855" cy="594360"/>
          </a:xfrm>
          <a:prstGeom prst="rect">
            <a:avLst/>
          </a:prstGeom>
          <a:noFill/>
          <a:ln/>
        </p:spPr>
        <p:txBody>
          <a:bodyPr wrap="square" lIns="0" tIns="0" rIns="0" bIns="0" rtlCol="0" anchor="t"/>
          <a:lstStyle/>
          <a:p>
            <a:pPr marL="228600" indent="-228600">
              <a:spcAft>
                <a:spcPts val="1200"/>
              </a:spcAft>
              <a:buSzPct val="100000"/>
              <a:buChar char="▪"/>
            </a:pPr>
            <a:r>
              <a:rPr lang="en-US" sz="2000" dirty="0">
                <a:solidFill>
                  <a:srgbClr val="1A1F2B"/>
                </a:solidFill>
                <a:latin typeface="Calibri" pitchFamily="34" charset="0"/>
                <a:ea typeface="Calibri" pitchFamily="34" charset="-122"/>
                <a:cs typeface="Calibri" pitchFamily="34" charset="-120"/>
              </a:rPr>
              <a:t>A task environment is defined along six independent dimensions — together they describe the nature of the problem an agent faces.</a:t>
            </a:r>
            <a:endParaRPr lang="en-US" sz="2000" dirty="0"/>
          </a:p>
        </p:txBody>
      </p:sp>
      <p:sp>
        <p:nvSpPr>
          <p:cNvPr id="5" name="Shape 3"/>
          <p:cNvSpPr/>
          <p:nvPr/>
        </p:nvSpPr>
        <p:spPr>
          <a:xfrm>
            <a:off x="502920" y="2514600"/>
            <a:ext cx="3576218" cy="1577340"/>
          </a:xfrm>
          <a:prstGeom prst="roundRect">
            <a:avLst>
              <a:gd name="adj" fmla="val 4638"/>
            </a:avLst>
          </a:prstGeom>
          <a:solidFill>
            <a:srgbClr val="0B1E3D"/>
          </a:solidFill>
          <a:ln/>
        </p:spPr>
      </p:sp>
      <p:sp>
        <p:nvSpPr>
          <p:cNvPr id="6" name="Text 4"/>
          <p:cNvSpPr/>
          <p:nvPr/>
        </p:nvSpPr>
        <p:spPr>
          <a:xfrm>
            <a:off x="594360" y="2514600"/>
            <a:ext cx="3393338" cy="1577340"/>
          </a:xfrm>
          <a:prstGeom prst="rect">
            <a:avLst/>
          </a:prstGeom>
          <a:noFill/>
          <a:ln/>
        </p:spPr>
        <p:txBody>
          <a:bodyPr wrap="square" rtlCol="0" anchor="ctr"/>
          <a:lstStyle/>
          <a:p>
            <a:pPr marL="0" indent="0" algn="ctr">
              <a:lnSpc>
                <a:spcPts val="2100"/>
              </a:lnSpc>
              <a:buNone/>
            </a:pPr>
            <a:r>
              <a:rPr lang="en-US" sz="1700" b="1" dirty="0">
                <a:solidFill>
                  <a:srgbClr val="B08D57"/>
                </a:solidFill>
                <a:latin typeface="Calibri" pitchFamily="34" charset="0"/>
                <a:ea typeface="Calibri" pitchFamily="34" charset="-122"/>
                <a:cs typeface="Calibri" pitchFamily="34" charset="-120"/>
              </a:rPr>
              <a:t>Fully Observable</a:t>
            </a:r>
            <a:endParaRPr lang="en-US" sz="1700" dirty="0"/>
          </a:p>
          <a:p>
            <a:pPr marL="0" indent="0" algn="ctr">
              <a:lnSpc>
                <a:spcPts val="2100"/>
              </a:lnSpc>
              <a:buNone/>
            </a:pPr>
            <a:r>
              <a:rPr lang="en-US" sz="1500" dirty="0">
                <a:solidFill>
                  <a:srgbClr val="8B96AC"/>
                </a:solidFill>
                <a:latin typeface="Calibri" pitchFamily="34" charset="0"/>
                <a:ea typeface="Calibri" pitchFamily="34" charset="-122"/>
                <a:cs typeface="Calibri" pitchFamily="34" charset="-120"/>
              </a:rPr>
              <a:t>↔</a:t>
            </a:r>
            <a:endParaRPr lang="en-US" sz="1700" dirty="0"/>
          </a:p>
          <a:p>
            <a:pPr marL="0" indent="0" algn="ctr">
              <a:lnSpc>
                <a:spcPts val="2100"/>
              </a:lnSpc>
              <a:buNone/>
            </a:pPr>
            <a:r>
              <a:rPr lang="en-US" sz="1700" b="1" dirty="0">
                <a:solidFill>
                  <a:srgbClr val="E7EBF3"/>
                </a:solidFill>
                <a:latin typeface="Calibri" pitchFamily="34" charset="0"/>
                <a:ea typeface="Calibri" pitchFamily="34" charset="-122"/>
                <a:cs typeface="Calibri" pitchFamily="34" charset="-120"/>
              </a:rPr>
              <a:t>Partially Observable</a:t>
            </a:r>
            <a:endParaRPr lang="en-US" sz="1700" dirty="0"/>
          </a:p>
        </p:txBody>
      </p:sp>
      <p:sp>
        <p:nvSpPr>
          <p:cNvPr id="7" name="Shape 5"/>
          <p:cNvSpPr/>
          <p:nvPr/>
        </p:nvSpPr>
        <p:spPr>
          <a:xfrm>
            <a:off x="4307738" y="2514600"/>
            <a:ext cx="3576218" cy="1577340"/>
          </a:xfrm>
          <a:prstGeom prst="roundRect">
            <a:avLst>
              <a:gd name="adj" fmla="val 4638"/>
            </a:avLst>
          </a:prstGeom>
          <a:solidFill>
            <a:srgbClr val="F3F5F8"/>
          </a:solidFill>
          <a:ln w="12700">
            <a:solidFill>
              <a:srgbClr val="D8DCE3"/>
            </a:solidFill>
            <a:prstDash val="solid"/>
          </a:ln>
        </p:spPr>
      </p:sp>
      <p:sp>
        <p:nvSpPr>
          <p:cNvPr id="8" name="Text 6"/>
          <p:cNvSpPr/>
          <p:nvPr/>
        </p:nvSpPr>
        <p:spPr>
          <a:xfrm>
            <a:off x="4399178" y="2514600"/>
            <a:ext cx="3393338" cy="1577340"/>
          </a:xfrm>
          <a:prstGeom prst="rect">
            <a:avLst/>
          </a:prstGeom>
          <a:noFill/>
          <a:ln/>
        </p:spPr>
        <p:txBody>
          <a:bodyPr wrap="square" rtlCol="0" anchor="ctr"/>
          <a:lstStyle/>
          <a:p>
            <a:pPr marL="0" indent="0" algn="ctr">
              <a:lnSpc>
                <a:spcPts val="2100"/>
              </a:lnSpc>
              <a:buNone/>
            </a:pPr>
            <a:r>
              <a:rPr lang="en-US" sz="1700" b="1" dirty="0">
                <a:solidFill>
                  <a:srgbClr val="0B1E3D"/>
                </a:solidFill>
                <a:latin typeface="Calibri" pitchFamily="34" charset="0"/>
                <a:ea typeface="Calibri" pitchFamily="34" charset="-122"/>
                <a:cs typeface="Calibri" pitchFamily="34" charset="-120"/>
              </a:rPr>
              <a:t>Deterministic</a:t>
            </a:r>
            <a:endParaRPr lang="en-US" sz="1700" dirty="0"/>
          </a:p>
          <a:p>
            <a:pPr marL="0" indent="0" algn="ctr">
              <a:lnSpc>
                <a:spcPts val="2100"/>
              </a:lnSpc>
              <a:buNone/>
            </a:pPr>
            <a:r>
              <a:rPr lang="en-US" sz="1500" dirty="0">
                <a:solidFill>
                  <a:srgbClr val="5A6478"/>
                </a:solidFill>
                <a:latin typeface="Calibri" pitchFamily="34" charset="0"/>
                <a:ea typeface="Calibri" pitchFamily="34" charset="-122"/>
                <a:cs typeface="Calibri" pitchFamily="34" charset="-120"/>
              </a:rPr>
              <a:t>↔</a:t>
            </a:r>
            <a:endParaRPr lang="en-US" sz="1700" dirty="0"/>
          </a:p>
          <a:p>
            <a:pPr marL="0" indent="0" algn="ctr">
              <a:lnSpc>
                <a:spcPts val="2100"/>
              </a:lnSpc>
              <a:buNone/>
            </a:pPr>
            <a:r>
              <a:rPr lang="en-US" sz="1700" b="1" dirty="0">
                <a:solidFill>
                  <a:srgbClr val="1A1F2B"/>
                </a:solidFill>
                <a:latin typeface="Calibri" pitchFamily="34" charset="0"/>
                <a:ea typeface="Calibri" pitchFamily="34" charset="-122"/>
                <a:cs typeface="Calibri" pitchFamily="34" charset="-120"/>
              </a:rPr>
              <a:t>Stochastic</a:t>
            </a:r>
            <a:endParaRPr lang="en-US" sz="1700" dirty="0"/>
          </a:p>
        </p:txBody>
      </p:sp>
      <p:sp>
        <p:nvSpPr>
          <p:cNvPr id="9" name="Shape 7"/>
          <p:cNvSpPr/>
          <p:nvPr/>
        </p:nvSpPr>
        <p:spPr>
          <a:xfrm>
            <a:off x="8112557" y="2514600"/>
            <a:ext cx="3576218" cy="1577340"/>
          </a:xfrm>
          <a:prstGeom prst="roundRect">
            <a:avLst>
              <a:gd name="adj" fmla="val 4638"/>
            </a:avLst>
          </a:prstGeom>
          <a:solidFill>
            <a:srgbClr val="0B1E3D"/>
          </a:solidFill>
          <a:ln/>
        </p:spPr>
      </p:sp>
      <p:sp>
        <p:nvSpPr>
          <p:cNvPr id="10" name="Text 8"/>
          <p:cNvSpPr/>
          <p:nvPr/>
        </p:nvSpPr>
        <p:spPr>
          <a:xfrm>
            <a:off x="8203997" y="2514600"/>
            <a:ext cx="3393338" cy="1577340"/>
          </a:xfrm>
          <a:prstGeom prst="rect">
            <a:avLst/>
          </a:prstGeom>
          <a:noFill/>
          <a:ln/>
        </p:spPr>
        <p:txBody>
          <a:bodyPr wrap="square" rtlCol="0" anchor="ctr"/>
          <a:lstStyle/>
          <a:p>
            <a:pPr marL="0" indent="0" algn="ctr">
              <a:lnSpc>
                <a:spcPts val="2100"/>
              </a:lnSpc>
              <a:buNone/>
            </a:pPr>
            <a:r>
              <a:rPr lang="en-US" sz="1700" b="1" dirty="0">
                <a:solidFill>
                  <a:srgbClr val="B08D57"/>
                </a:solidFill>
                <a:latin typeface="Calibri" pitchFamily="34" charset="0"/>
                <a:ea typeface="Calibri" pitchFamily="34" charset="-122"/>
                <a:cs typeface="Calibri" pitchFamily="34" charset="-120"/>
              </a:rPr>
              <a:t>Episodic</a:t>
            </a:r>
            <a:endParaRPr lang="en-US" sz="1700" dirty="0"/>
          </a:p>
          <a:p>
            <a:pPr marL="0" indent="0" algn="ctr">
              <a:lnSpc>
                <a:spcPts val="2100"/>
              </a:lnSpc>
              <a:buNone/>
            </a:pPr>
            <a:r>
              <a:rPr lang="en-US" sz="1500" dirty="0">
                <a:solidFill>
                  <a:srgbClr val="8B96AC"/>
                </a:solidFill>
                <a:latin typeface="Calibri" pitchFamily="34" charset="0"/>
                <a:ea typeface="Calibri" pitchFamily="34" charset="-122"/>
                <a:cs typeface="Calibri" pitchFamily="34" charset="-120"/>
              </a:rPr>
              <a:t>↔</a:t>
            </a:r>
            <a:endParaRPr lang="en-US" sz="1700" dirty="0"/>
          </a:p>
          <a:p>
            <a:pPr marL="0" indent="0" algn="ctr">
              <a:lnSpc>
                <a:spcPts val="2100"/>
              </a:lnSpc>
              <a:buNone/>
            </a:pPr>
            <a:r>
              <a:rPr lang="en-US" sz="1700" b="1" dirty="0">
                <a:solidFill>
                  <a:srgbClr val="E7EBF3"/>
                </a:solidFill>
                <a:latin typeface="Calibri" pitchFamily="34" charset="0"/>
                <a:ea typeface="Calibri" pitchFamily="34" charset="-122"/>
                <a:cs typeface="Calibri" pitchFamily="34" charset="-120"/>
              </a:rPr>
              <a:t>Sequential</a:t>
            </a:r>
            <a:endParaRPr lang="en-US" sz="1700" dirty="0"/>
          </a:p>
        </p:txBody>
      </p:sp>
      <p:sp>
        <p:nvSpPr>
          <p:cNvPr id="11" name="Shape 9"/>
          <p:cNvSpPr/>
          <p:nvPr/>
        </p:nvSpPr>
        <p:spPr>
          <a:xfrm>
            <a:off x="502920" y="4320540"/>
            <a:ext cx="3576218" cy="1577340"/>
          </a:xfrm>
          <a:prstGeom prst="roundRect">
            <a:avLst>
              <a:gd name="adj" fmla="val 4638"/>
            </a:avLst>
          </a:prstGeom>
          <a:solidFill>
            <a:srgbClr val="F3F5F8"/>
          </a:solidFill>
          <a:ln w="12700">
            <a:solidFill>
              <a:srgbClr val="D8DCE3"/>
            </a:solidFill>
            <a:prstDash val="solid"/>
          </a:ln>
        </p:spPr>
      </p:sp>
      <p:sp>
        <p:nvSpPr>
          <p:cNvPr id="12" name="Text 10"/>
          <p:cNvSpPr/>
          <p:nvPr/>
        </p:nvSpPr>
        <p:spPr>
          <a:xfrm>
            <a:off x="594360" y="4320540"/>
            <a:ext cx="3393338" cy="1577340"/>
          </a:xfrm>
          <a:prstGeom prst="rect">
            <a:avLst/>
          </a:prstGeom>
          <a:noFill/>
          <a:ln/>
        </p:spPr>
        <p:txBody>
          <a:bodyPr wrap="square" rtlCol="0" anchor="ctr"/>
          <a:lstStyle/>
          <a:p>
            <a:pPr marL="0" indent="0" algn="ctr">
              <a:lnSpc>
                <a:spcPts val="2100"/>
              </a:lnSpc>
              <a:buNone/>
            </a:pPr>
            <a:r>
              <a:rPr lang="en-US" sz="1700" b="1" dirty="0">
                <a:solidFill>
                  <a:srgbClr val="0B1E3D"/>
                </a:solidFill>
                <a:latin typeface="Calibri" pitchFamily="34" charset="0"/>
                <a:ea typeface="Calibri" pitchFamily="34" charset="-122"/>
                <a:cs typeface="Calibri" pitchFamily="34" charset="-120"/>
              </a:rPr>
              <a:t>Static</a:t>
            </a:r>
            <a:endParaRPr lang="en-US" sz="1700" dirty="0"/>
          </a:p>
          <a:p>
            <a:pPr marL="0" indent="0" algn="ctr">
              <a:lnSpc>
                <a:spcPts val="2100"/>
              </a:lnSpc>
              <a:buNone/>
            </a:pPr>
            <a:r>
              <a:rPr lang="en-US" sz="1500" dirty="0">
                <a:solidFill>
                  <a:srgbClr val="5A6478"/>
                </a:solidFill>
                <a:latin typeface="Calibri" pitchFamily="34" charset="0"/>
                <a:ea typeface="Calibri" pitchFamily="34" charset="-122"/>
                <a:cs typeface="Calibri" pitchFamily="34" charset="-120"/>
              </a:rPr>
              <a:t>↔</a:t>
            </a:r>
            <a:endParaRPr lang="en-US" sz="1700" dirty="0"/>
          </a:p>
          <a:p>
            <a:pPr marL="0" indent="0" algn="ctr">
              <a:lnSpc>
                <a:spcPts val="2100"/>
              </a:lnSpc>
              <a:buNone/>
            </a:pPr>
            <a:r>
              <a:rPr lang="en-US" sz="1700" b="1" dirty="0">
                <a:solidFill>
                  <a:srgbClr val="1A1F2B"/>
                </a:solidFill>
                <a:latin typeface="Calibri" pitchFamily="34" charset="0"/>
                <a:ea typeface="Calibri" pitchFamily="34" charset="-122"/>
                <a:cs typeface="Calibri" pitchFamily="34" charset="-120"/>
              </a:rPr>
              <a:t>Dynamic</a:t>
            </a:r>
            <a:endParaRPr lang="en-US" sz="1700" dirty="0"/>
          </a:p>
        </p:txBody>
      </p:sp>
      <p:sp>
        <p:nvSpPr>
          <p:cNvPr id="13" name="Shape 11"/>
          <p:cNvSpPr/>
          <p:nvPr/>
        </p:nvSpPr>
        <p:spPr>
          <a:xfrm>
            <a:off x="4307738" y="4320540"/>
            <a:ext cx="3576218" cy="1577340"/>
          </a:xfrm>
          <a:prstGeom prst="roundRect">
            <a:avLst>
              <a:gd name="adj" fmla="val 4638"/>
            </a:avLst>
          </a:prstGeom>
          <a:solidFill>
            <a:srgbClr val="0B1E3D"/>
          </a:solidFill>
          <a:ln/>
        </p:spPr>
      </p:sp>
      <p:sp>
        <p:nvSpPr>
          <p:cNvPr id="14" name="Text 12"/>
          <p:cNvSpPr/>
          <p:nvPr/>
        </p:nvSpPr>
        <p:spPr>
          <a:xfrm>
            <a:off x="4399178" y="4320540"/>
            <a:ext cx="3393338" cy="1577340"/>
          </a:xfrm>
          <a:prstGeom prst="rect">
            <a:avLst/>
          </a:prstGeom>
          <a:noFill/>
          <a:ln/>
        </p:spPr>
        <p:txBody>
          <a:bodyPr wrap="square" rtlCol="0" anchor="ctr"/>
          <a:lstStyle/>
          <a:p>
            <a:pPr marL="0" indent="0" algn="ctr">
              <a:lnSpc>
                <a:spcPts val="2100"/>
              </a:lnSpc>
              <a:buNone/>
            </a:pPr>
            <a:r>
              <a:rPr lang="en-US" sz="1700" b="1" dirty="0">
                <a:solidFill>
                  <a:srgbClr val="B08D57"/>
                </a:solidFill>
                <a:latin typeface="Calibri" pitchFamily="34" charset="0"/>
                <a:ea typeface="Calibri" pitchFamily="34" charset="-122"/>
                <a:cs typeface="Calibri" pitchFamily="34" charset="-120"/>
              </a:rPr>
              <a:t>Discrete</a:t>
            </a:r>
            <a:endParaRPr lang="en-US" sz="1700" dirty="0"/>
          </a:p>
          <a:p>
            <a:pPr marL="0" indent="0" algn="ctr">
              <a:lnSpc>
                <a:spcPts val="2100"/>
              </a:lnSpc>
              <a:buNone/>
            </a:pPr>
            <a:r>
              <a:rPr lang="en-US" sz="1500" dirty="0">
                <a:solidFill>
                  <a:srgbClr val="8B96AC"/>
                </a:solidFill>
                <a:latin typeface="Calibri" pitchFamily="34" charset="0"/>
                <a:ea typeface="Calibri" pitchFamily="34" charset="-122"/>
                <a:cs typeface="Calibri" pitchFamily="34" charset="-120"/>
              </a:rPr>
              <a:t>↔</a:t>
            </a:r>
            <a:endParaRPr lang="en-US" sz="1700" dirty="0"/>
          </a:p>
          <a:p>
            <a:pPr marL="0" indent="0" algn="ctr">
              <a:lnSpc>
                <a:spcPts val="2100"/>
              </a:lnSpc>
              <a:buNone/>
            </a:pPr>
            <a:r>
              <a:rPr lang="en-US" sz="1700" b="1" dirty="0">
                <a:solidFill>
                  <a:srgbClr val="E7EBF3"/>
                </a:solidFill>
                <a:latin typeface="Calibri" pitchFamily="34" charset="0"/>
                <a:ea typeface="Calibri" pitchFamily="34" charset="-122"/>
                <a:cs typeface="Calibri" pitchFamily="34" charset="-120"/>
              </a:rPr>
              <a:t>Continuous</a:t>
            </a:r>
            <a:endParaRPr lang="en-US" sz="1700" dirty="0"/>
          </a:p>
        </p:txBody>
      </p:sp>
      <p:sp>
        <p:nvSpPr>
          <p:cNvPr id="15" name="Shape 13"/>
          <p:cNvSpPr/>
          <p:nvPr/>
        </p:nvSpPr>
        <p:spPr>
          <a:xfrm>
            <a:off x="8112557" y="4320540"/>
            <a:ext cx="3576218" cy="1577340"/>
          </a:xfrm>
          <a:prstGeom prst="roundRect">
            <a:avLst>
              <a:gd name="adj" fmla="val 4638"/>
            </a:avLst>
          </a:prstGeom>
          <a:solidFill>
            <a:srgbClr val="F3F5F8"/>
          </a:solidFill>
          <a:ln w="12700">
            <a:solidFill>
              <a:srgbClr val="D8DCE3"/>
            </a:solidFill>
            <a:prstDash val="solid"/>
          </a:ln>
        </p:spPr>
      </p:sp>
      <p:sp>
        <p:nvSpPr>
          <p:cNvPr id="16" name="Text 14"/>
          <p:cNvSpPr/>
          <p:nvPr/>
        </p:nvSpPr>
        <p:spPr>
          <a:xfrm>
            <a:off x="8203997" y="4320540"/>
            <a:ext cx="3393338" cy="1577340"/>
          </a:xfrm>
          <a:prstGeom prst="rect">
            <a:avLst/>
          </a:prstGeom>
          <a:noFill/>
          <a:ln/>
        </p:spPr>
        <p:txBody>
          <a:bodyPr wrap="square" rtlCol="0" anchor="ctr"/>
          <a:lstStyle/>
          <a:p>
            <a:pPr marL="0" indent="0" algn="ctr">
              <a:lnSpc>
                <a:spcPts val="2100"/>
              </a:lnSpc>
              <a:buNone/>
            </a:pPr>
            <a:r>
              <a:rPr lang="en-US" sz="1700" b="1" dirty="0">
                <a:solidFill>
                  <a:srgbClr val="0B1E3D"/>
                </a:solidFill>
                <a:latin typeface="Calibri" pitchFamily="34" charset="0"/>
                <a:ea typeface="Calibri" pitchFamily="34" charset="-122"/>
                <a:cs typeface="Calibri" pitchFamily="34" charset="-120"/>
              </a:rPr>
              <a:t>Single-Agent</a:t>
            </a:r>
            <a:endParaRPr lang="en-US" sz="1700" dirty="0"/>
          </a:p>
          <a:p>
            <a:pPr marL="0" indent="0" algn="ctr">
              <a:lnSpc>
                <a:spcPts val="2100"/>
              </a:lnSpc>
              <a:buNone/>
            </a:pPr>
            <a:r>
              <a:rPr lang="en-US" sz="1500" dirty="0">
                <a:solidFill>
                  <a:srgbClr val="5A6478"/>
                </a:solidFill>
                <a:latin typeface="Calibri" pitchFamily="34" charset="0"/>
                <a:ea typeface="Calibri" pitchFamily="34" charset="-122"/>
                <a:cs typeface="Calibri" pitchFamily="34" charset="-120"/>
              </a:rPr>
              <a:t>↔</a:t>
            </a:r>
            <a:endParaRPr lang="en-US" sz="1700" dirty="0"/>
          </a:p>
          <a:p>
            <a:pPr marL="0" indent="0" algn="ctr">
              <a:lnSpc>
                <a:spcPts val="2100"/>
              </a:lnSpc>
              <a:buNone/>
            </a:pPr>
            <a:r>
              <a:rPr lang="en-US" sz="1700" b="1" dirty="0">
                <a:solidFill>
                  <a:srgbClr val="1A1F2B"/>
                </a:solidFill>
                <a:latin typeface="Calibri" pitchFamily="34" charset="0"/>
                <a:ea typeface="Calibri" pitchFamily="34" charset="-122"/>
                <a:cs typeface="Calibri" pitchFamily="34" charset="-120"/>
              </a:rPr>
              <a:t>Multi-Agent</a:t>
            </a:r>
            <a:endParaRPr lang="en-US" sz="1700" dirty="0"/>
          </a:p>
        </p:txBody>
      </p:sp>
      <p:sp>
        <p:nvSpPr>
          <p:cNvPr id="17" name="Text 15"/>
          <p:cNvSpPr/>
          <p:nvPr/>
        </p:nvSpPr>
        <p:spPr>
          <a:xfrm>
            <a:off x="502920" y="5989320"/>
            <a:ext cx="11185855" cy="274320"/>
          </a:xfrm>
          <a:prstGeom prst="rect">
            <a:avLst/>
          </a:prstGeom>
          <a:noFill/>
          <a:ln/>
        </p:spPr>
        <p:txBody>
          <a:bodyPr wrap="square" rtlCol="0" anchor="ctr"/>
          <a:lstStyle/>
          <a:p>
            <a:pPr marL="0" indent="0" algn="ctr">
              <a:buNone/>
            </a:pPr>
            <a:r>
              <a:rPr lang="en-US" sz="1500" i="1" dirty="0">
                <a:solidFill>
                  <a:srgbClr val="5A6478"/>
                </a:solidFill>
                <a:latin typeface="Calibri" pitchFamily="34" charset="0"/>
                <a:ea typeface="Calibri" pitchFamily="34" charset="-122"/>
                <a:cs typeface="Calibri" pitchFamily="34" charset="-120"/>
              </a:rPr>
              <a:t>Environments are rarely purely one side — most real systems combine several properties simultaneously (see slide 40).</a:t>
            </a:r>
            <a:endParaRPr lang="en-US" sz="1500" dirty="0"/>
          </a:p>
        </p:txBody>
      </p:sp>
      <p:sp>
        <p:nvSpPr>
          <p:cNvPr id="18" name="Text 16"/>
          <p:cNvSpPr/>
          <p:nvPr/>
        </p:nvSpPr>
        <p:spPr>
          <a:xfrm>
            <a:off x="502920" y="6446520"/>
            <a:ext cx="8229600" cy="320040"/>
          </a:xfrm>
          <a:prstGeom prst="rect">
            <a:avLst/>
          </a:prstGeom>
          <a:noFill/>
          <a:ln/>
        </p:spPr>
        <p:txBody>
          <a:bodyPr wrap="square" rtlCol="0" anchor="ctr"/>
          <a:lstStyle/>
          <a:p>
            <a:pPr marL="0" indent="0">
              <a:buNone/>
            </a:pPr>
            <a:r>
              <a:rPr lang="en-US" sz="1400" i="1" dirty="0">
                <a:solidFill>
                  <a:srgbClr val="5A6478"/>
                </a:solidFill>
                <a:latin typeface="Calibri" pitchFamily="34" charset="0"/>
                <a:ea typeface="Calibri" pitchFamily="34" charset="-122"/>
                <a:cs typeface="Calibri" pitchFamily="34" charset="-120"/>
              </a:rPr>
              <a:t>AI — Intelligent Agents  |  F. Properties of AI Environments</a:t>
            </a:r>
            <a:endParaRPr lang="en-US" sz="1400" dirty="0"/>
          </a:p>
        </p:txBody>
      </p:sp>
      <p:sp>
        <p:nvSpPr>
          <p:cNvPr id="19" name="Text 17"/>
          <p:cNvSpPr/>
          <p:nvPr/>
        </p:nvSpPr>
        <p:spPr>
          <a:xfrm>
            <a:off x="10500055" y="6446520"/>
            <a:ext cx="1188720" cy="320040"/>
          </a:xfrm>
          <a:prstGeom prst="rect">
            <a:avLst/>
          </a:prstGeom>
          <a:noFill/>
          <a:ln/>
        </p:spPr>
        <p:txBody>
          <a:bodyPr wrap="square" rtlCol="0" anchor="ctr"/>
          <a:lstStyle/>
          <a:p>
            <a:pPr marL="0" indent="0" algn="r">
              <a:buNone/>
            </a:pPr>
            <a:r>
              <a:rPr lang="en-US" sz="1400" dirty="0">
                <a:solidFill>
                  <a:srgbClr val="5A6478"/>
                </a:solidFill>
                <a:latin typeface="Calibri" pitchFamily="34" charset="0"/>
                <a:ea typeface="Calibri" pitchFamily="34" charset="-122"/>
                <a:cs typeface="Calibri" pitchFamily="34" charset="-120"/>
              </a:rPr>
              <a:t>34 / 40</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85855" cy="347472"/>
          </a:xfrm>
          <a:prstGeom prst="rect">
            <a:avLst/>
          </a:prstGeom>
          <a:noFill/>
          <a:ln/>
        </p:spPr>
        <p:txBody>
          <a:bodyPr wrap="square" rtlCol="0" anchor="ctr"/>
          <a:lstStyle/>
          <a:p>
            <a:pPr marL="0" indent="0">
              <a:buNone/>
            </a:pPr>
            <a:r>
              <a:rPr lang="en-US" sz="1500" b="1" kern="0" spc="150" dirty="0">
                <a:solidFill>
                  <a:srgbClr val="B08D57"/>
                </a:solidFill>
                <a:latin typeface="Calibri" pitchFamily="34" charset="0"/>
                <a:ea typeface="Calibri" pitchFamily="34" charset="-122"/>
                <a:cs typeface="Calibri" pitchFamily="34" charset="-120"/>
              </a:rPr>
              <a:t>F. PROPERTIES OF AI ENVIRONMENTS</a:t>
            </a:r>
            <a:endParaRPr lang="en-US" sz="1500" dirty="0"/>
          </a:p>
        </p:txBody>
      </p:sp>
      <p:sp>
        <p:nvSpPr>
          <p:cNvPr id="3" name="Text 1"/>
          <p:cNvSpPr txBox="1"/>
          <p:nvPr/>
        </p:nvSpPr>
        <p:spPr>
          <a:xfrm>
            <a:off x="502920" y="676656"/>
            <a:ext cx="11185855" cy="1417320"/>
          </a:xfrm>
          <a:prstGeom prst="rect">
            <a:avLst/>
          </a:prstGeom>
          <a:noFill/>
          <a:ln/>
        </p:spPr>
        <p:txBody>
          <a:bodyPr wrap="square" rtlCol="0" anchor="t"/>
          <a:lstStyle/>
          <a:p>
            <a:pPr marL="0" indent="0">
              <a:lnSpc>
                <a:spcPts val="3136"/>
              </a:lnSpc>
              <a:buNone/>
            </a:pPr>
            <a:r>
              <a:rPr lang="en-US" sz="2800" b="1" dirty="0">
                <a:solidFill>
                  <a:srgbClr val="0B1E3D"/>
                </a:solidFill>
                <a:latin typeface="Cambria" pitchFamily="34" charset="0"/>
                <a:ea typeface="Cambria" pitchFamily="34" charset="-122"/>
                <a:cs typeface="Cambria" pitchFamily="34" charset="-120"/>
              </a:rPr>
              <a:t>Fully Observable vs. Partially Observable</a:t>
            </a:r>
            <a:endParaRPr lang="en-US" sz="2800" dirty="0"/>
          </a:p>
        </p:txBody>
      </p:sp>
      <p:sp>
        <p:nvSpPr>
          <p:cNvPr id="4" name="Shape 2"/>
          <p:cNvSpPr/>
          <p:nvPr/>
        </p:nvSpPr>
        <p:spPr>
          <a:xfrm>
            <a:off x="502920" y="1828800"/>
            <a:ext cx="5432908" cy="2651760"/>
          </a:xfrm>
          <a:prstGeom prst="roundRect">
            <a:avLst>
              <a:gd name="adj" fmla="val 2759"/>
            </a:avLst>
          </a:prstGeom>
          <a:solidFill>
            <a:srgbClr val="0B1E3D"/>
          </a:solidFill>
          <a:ln/>
        </p:spPr>
      </p:sp>
      <p:sp>
        <p:nvSpPr>
          <p:cNvPr id="5" name="Text 3"/>
          <p:cNvSpPr/>
          <p:nvPr/>
        </p:nvSpPr>
        <p:spPr>
          <a:xfrm>
            <a:off x="758952" y="1993392"/>
            <a:ext cx="4920844" cy="502920"/>
          </a:xfrm>
          <a:prstGeom prst="rect">
            <a:avLst/>
          </a:prstGeom>
          <a:noFill/>
          <a:ln/>
        </p:spPr>
        <p:txBody>
          <a:bodyPr wrap="square" rtlCol="0" anchor="ctr"/>
          <a:lstStyle/>
          <a:p>
            <a:pPr marL="0" indent="0">
              <a:buNone/>
            </a:pPr>
            <a:r>
              <a:rPr lang="en-US" sz="2000" b="1" dirty="0">
                <a:solidFill>
                  <a:srgbClr val="B08D57"/>
                </a:solidFill>
                <a:latin typeface="Cambria" pitchFamily="34" charset="0"/>
                <a:ea typeface="Cambria" pitchFamily="34" charset="-122"/>
                <a:cs typeface="Cambria" pitchFamily="34" charset="-120"/>
              </a:rPr>
              <a:t>Fully Observable</a:t>
            </a:r>
            <a:endParaRPr lang="en-US" sz="2000" dirty="0"/>
          </a:p>
        </p:txBody>
      </p:sp>
      <p:sp>
        <p:nvSpPr>
          <p:cNvPr id="6" name="Text 4"/>
          <p:cNvSpPr/>
          <p:nvPr/>
        </p:nvSpPr>
        <p:spPr>
          <a:xfrm>
            <a:off x="758952" y="2542032"/>
            <a:ext cx="4920844" cy="822960"/>
          </a:xfrm>
          <a:prstGeom prst="rect">
            <a:avLst/>
          </a:prstGeom>
          <a:noFill/>
          <a:ln/>
        </p:spPr>
        <p:txBody>
          <a:bodyPr wrap="square" rtlCol="0" anchor="ctr"/>
          <a:lstStyle/>
          <a:p>
            <a:pPr marL="0" indent="0">
              <a:lnSpc>
                <a:spcPts val="2250"/>
              </a:lnSpc>
              <a:buNone/>
            </a:pPr>
            <a:r>
              <a:rPr lang="en-US" sz="1800" i="1" dirty="0">
                <a:solidFill>
                  <a:srgbClr val="E7EBF3"/>
                </a:solidFill>
                <a:latin typeface="Calibri" pitchFamily="34" charset="0"/>
                <a:ea typeface="Calibri" pitchFamily="34" charset="-122"/>
                <a:cs typeface="Calibri" pitchFamily="34" charset="-120"/>
              </a:rPr>
              <a:t>The agent's sensors give access to the complete state relevant to its decision.</a:t>
            </a:r>
            <a:endParaRPr lang="en-US" sz="1800" dirty="0"/>
          </a:p>
        </p:txBody>
      </p:sp>
      <p:sp>
        <p:nvSpPr>
          <p:cNvPr id="7" name="Text 5"/>
          <p:cNvSpPr/>
          <p:nvPr/>
        </p:nvSpPr>
        <p:spPr>
          <a:xfrm>
            <a:off x="758952" y="3474720"/>
            <a:ext cx="4920844" cy="868680"/>
          </a:xfrm>
          <a:prstGeom prst="rect">
            <a:avLst/>
          </a:prstGeom>
          <a:noFill/>
          <a:ln/>
        </p:spPr>
        <p:txBody>
          <a:bodyPr wrap="square" lIns="0" tIns="0" rIns="0" bIns="0" rtlCol="0" anchor="t"/>
          <a:lstStyle/>
          <a:p>
            <a:pPr marL="228600" indent="-228600">
              <a:spcAft>
                <a:spcPts val="600"/>
              </a:spcAft>
              <a:buSzPct val="100000"/>
              <a:buChar char="▪"/>
            </a:pPr>
            <a:r>
              <a:rPr lang="en-US" sz="1800" dirty="0">
                <a:solidFill>
                  <a:srgbClr val="E7EBF3"/>
                </a:solidFill>
                <a:latin typeface="Calibri" pitchFamily="34" charset="0"/>
                <a:ea typeface="Calibri" pitchFamily="34" charset="-122"/>
                <a:cs typeface="Calibri" pitchFamily="34" charset="-120"/>
              </a:rPr>
              <a:t>A chess board in plain view</a:t>
            </a:r>
            <a:endParaRPr lang="en-US" sz="1800" dirty="0"/>
          </a:p>
        </p:txBody>
      </p:sp>
      <p:sp>
        <p:nvSpPr>
          <p:cNvPr id="8" name="Shape 6"/>
          <p:cNvSpPr/>
          <p:nvPr/>
        </p:nvSpPr>
        <p:spPr>
          <a:xfrm>
            <a:off x="6255868" y="1828800"/>
            <a:ext cx="5432908" cy="2651760"/>
          </a:xfrm>
          <a:prstGeom prst="roundRect">
            <a:avLst>
              <a:gd name="adj" fmla="val 2759"/>
            </a:avLst>
          </a:prstGeom>
          <a:solidFill>
            <a:srgbClr val="F3F5F8"/>
          </a:solidFill>
          <a:ln w="12700">
            <a:solidFill>
              <a:srgbClr val="D8DCE3"/>
            </a:solidFill>
            <a:prstDash val="solid"/>
          </a:ln>
        </p:spPr>
      </p:sp>
      <p:sp>
        <p:nvSpPr>
          <p:cNvPr id="9" name="Text 7"/>
          <p:cNvSpPr/>
          <p:nvPr/>
        </p:nvSpPr>
        <p:spPr>
          <a:xfrm>
            <a:off x="6511900" y="1993392"/>
            <a:ext cx="4920844" cy="502920"/>
          </a:xfrm>
          <a:prstGeom prst="rect">
            <a:avLst/>
          </a:prstGeom>
          <a:noFill/>
          <a:ln/>
        </p:spPr>
        <p:txBody>
          <a:bodyPr wrap="square" rtlCol="0" anchor="ctr"/>
          <a:lstStyle/>
          <a:p>
            <a:pPr marL="0" indent="0">
              <a:buNone/>
            </a:pPr>
            <a:r>
              <a:rPr lang="en-US" sz="2000" b="1" dirty="0">
                <a:solidFill>
                  <a:srgbClr val="0B1E3D"/>
                </a:solidFill>
                <a:latin typeface="Cambria" pitchFamily="34" charset="0"/>
                <a:ea typeface="Cambria" pitchFamily="34" charset="-122"/>
                <a:cs typeface="Cambria" pitchFamily="34" charset="-120"/>
              </a:rPr>
              <a:t>Partially Observable</a:t>
            </a:r>
            <a:endParaRPr lang="en-US" sz="2000" dirty="0"/>
          </a:p>
        </p:txBody>
      </p:sp>
      <p:sp>
        <p:nvSpPr>
          <p:cNvPr id="10" name="Text 8"/>
          <p:cNvSpPr/>
          <p:nvPr/>
        </p:nvSpPr>
        <p:spPr>
          <a:xfrm>
            <a:off x="6511900" y="2542032"/>
            <a:ext cx="4920844" cy="822960"/>
          </a:xfrm>
          <a:prstGeom prst="rect">
            <a:avLst/>
          </a:prstGeom>
          <a:noFill/>
          <a:ln/>
        </p:spPr>
        <p:txBody>
          <a:bodyPr wrap="square" rtlCol="0" anchor="ctr"/>
          <a:lstStyle/>
          <a:p>
            <a:pPr marL="0" indent="0">
              <a:lnSpc>
                <a:spcPts val="2250"/>
              </a:lnSpc>
              <a:buNone/>
            </a:pPr>
            <a:r>
              <a:rPr lang="en-US" sz="1800" i="1" dirty="0">
                <a:solidFill>
                  <a:srgbClr val="1A1F2B"/>
                </a:solidFill>
                <a:latin typeface="Calibri" pitchFamily="34" charset="0"/>
                <a:ea typeface="Calibri" pitchFamily="34" charset="-122"/>
                <a:cs typeface="Calibri" pitchFamily="34" charset="-120"/>
              </a:rPr>
              <a:t>Some relevant information is hidden, noisy, or simply unavailable to the sensors.</a:t>
            </a:r>
            <a:endParaRPr lang="en-US" sz="1800" dirty="0"/>
          </a:p>
        </p:txBody>
      </p:sp>
      <p:sp>
        <p:nvSpPr>
          <p:cNvPr id="11" name="Text 9"/>
          <p:cNvSpPr/>
          <p:nvPr/>
        </p:nvSpPr>
        <p:spPr>
          <a:xfrm>
            <a:off x="6511900" y="3474720"/>
            <a:ext cx="4920844" cy="868680"/>
          </a:xfrm>
          <a:prstGeom prst="rect">
            <a:avLst/>
          </a:prstGeom>
          <a:noFill/>
          <a:ln/>
        </p:spPr>
        <p:txBody>
          <a:bodyPr wrap="square" lIns="0" tIns="0" rIns="0" bIns="0" rtlCol="0" anchor="t"/>
          <a:lstStyle/>
          <a:p>
            <a:pPr marL="228600" indent="-228600">
              <a:spcAft>
                <a:spcPts val="600"/>
              </a:spcAft>
              <a:buSzPct val="100000"/>
              <a:buChar char="▪"/>
            </a:pPr>
            <a:r>
              <a:rPr lang="en-US" sz="1800" dirty="0">
                <a:solidFill>
                  <a:srgbClr val="1A1F2B"/>
                </a:solidFill>
                <a:latin typeface="Calibri" pitchFamily="34" charset="0"/>
                <a:ea typeface="Calibri" pitchFamily="34" charset="-122"/>
                <a:cs typeface="Calibri" pitchFamily="34" charset="-120"/>
              </a:rPr>
              <a:t>Driving in fog, medical diagnosis, poker, a robot navigating behind obstacles</a:t>
            </a:r>
            <a:endParaRPr lang="en-US" sz="1800" dirty="0"/>
          </a:p>
        </p:txBody>
      </p:sp>
      <p:sp>
        <p:nvSpPr>
          <p:cNvPr id="12" name="Text 10"/>
          <p:cNvSpPr/>
          <p:nvPr/>
        </p:nvSpPr>
        <p:spPr>
          <a:xfrm>
            <a:off x="502920" y="4709160"/>
            <a:ext cx="11185855" cy="548640"/>
          </a:xfrm>
          <a:prstGeom prst="rect">
            <a:avLst/>
          </a:prstGeom>
          <a:noFill/>
          <a:ln/>
        </p:spPr>
        <p:txBody>
          <a:bodyPr wrap="square" rtlCol="0" anchor="t"/>
          <a:lstStyle/>
          <a:p>
            <a:pPr marL="0" indent="0">
              <a:lnSpc>
                <a:spcPts val="2280"/>
              </a:lnSpc>
              <a:buNone/>
            </a:pPr>
            <a:r>
              <a:rPr lang="en-US" sz="1900" b="1" dirty="0">
                <a:solidFill>
                  <a:srgbClr val="9B3A3A"/>
                </a:solidFill>
                <a:latin typeface="Calibri" pitchFamily="34" charset="0"/>
                <a:ea typeface="Calibri" pitchFamily="34" charset="-122"/>
                <a:cs typeface="Calibri" pitchFamily="34" charset="-120"/>
              </a:rPr>
              <a:t>Important:  </a:t>
            </a:r>
            <a:r>
              <a:rPr lang="en-US" sz="1900" dirty="0">
                <a:solidFill>
                  <a:srgbClr val="1A1F2B"/>
                </a:solidFill>
                <a:latin typeface="Calibri" pitchFamily="34" charset="0"/>
                <a:ea typeface="Calibri" pitchFamily="34" charset="-122"/>
                <a:cs typeface="Calibri" pitchFamily="34" charset="-120"/>
              </a:rPr>
              <a:t>very few real sensors are perfect — always ask “fully or partially observable?” rather than assuming perfect sensing.</a:t>
            </a:r>
            <a:endParaRPr lang="en-US" sz="1900" dirty="0"/>
          </a:p>
        </p:txBody>
      </p:sp>
      <p:sp>
        <p:nvSpPr>
          <p:cNvPr id="13" name="Shape 11"/>
          <p:cNvSpPr/>
          <p:nvPr/>
        </p:nvSpPr>
        <p:spPr>
          <a:xfrm>
            <a:off x="502920" y="5394960"/>
            <a:ext cx="11185855" cy="594360"/>
          </a:xfrm>
          <a:prstGeom prst="roundRect">
            <a:avLst>
              <a:gd name="adj" fmla="val 12308"/>
            </a:avLst>
          </a:prstGeom>
          <a:solidFill>
            <a:srgbClr val="FBF3E6"/>
          </a:solidFill>
          <a:ln w="12700">
            <a:solidFill>
              <a:srgbClr val="B08D57"/>
            </a:solidFill>
            <a:prstDash val="solid"/>
          </a:ln>
        </p:spPr>
      </p:sp>
      <p:sp>
        <p:nvSpPr>
          <p:cNvPr id="14" name="Text 12"/>
          <p:cNvSpPr/>
          <p:nvPr/>
        </p:nvSpPr>
        <p:spPr>
          <a:xfrm>
            <a:off x="502920" y="5394960"/>
            <a:ext cx="11185855" cy="594360"/>
          </a:xfrm>
          <a:prstGeom prst="rect">
            <a:avLst/>
          </a:prstGeom>
          <a:noFill/>
          <a:ln/>
        </p:spPr>
        <p:txBody>
          <a:bodyPr wrap="square" rtlCol="0" anchor="ctr"/>
          <a:lstStyle/>
          <a:p>
            <a:pPr marL="0" indent="0" algn="ctr">
              <a:buNone/>
            </a:pPr>
            <a:r>
              <a:rPr lang="en-US" sz="1800" b="1" i="1" dirty="0">
                <a:solidFill>
                  <a:srgbClr val="0B1E3D"/>
                </a:solidFill>
                <a:latin typeface="Cambria" pitchFamily="34" charset="0"/>
                <a:ea typeface="Cambria" pitchFamily="34" charset="-122"/>
                <a:cs typeface="Cambria" pitchFamily="34" charset="-120"/>
              </a:rPr>
              <a:t>Why is a self-driving car's environment partially observable?</a:t>
            </a:r>
            <a:endParaRPr lang="en-US" sz="1800" dirty="0"/>
          </a:p>
        </p:txBody>
      </p:sp>
      <p:sp>
        <p:nvSpPr>
          <p:cNvPr id="15" name="Text 13"/>
          <p:cNvSpPr/>
          <p:nvPr/>
        </p:nvSpPr>
        <p:spPr>
          <a:xfrm>
            <a:off x="502920" y="6446520"/>
            <a:ext cx="8229600" cy="320040"/>
          </a:xfrm>
          <a:prstGeom prst="rect">
            <a:avLst/>
          </a:prstGeom>
          <a:noFill/>
          <a:ln/>
        </p:spPr>
        <p:txBody>
          <a:bodyPr wrap="square" rtlCol="0" anchor="ctr"/>
          <a:lstStyle/>
          <a:p>
            <a:pPr marL="0" indent="0">
              <a:buNone/>
            </a:pPr>
            <a:r>
              <a:rPr lang="en-US" sz="1400" i="1" dirty="0">
                <a:solidFill>
                  <a:srgbClr val="5A6478"/>
                </a:solidFill>
                <a:latin typeface="Calibri" pitchFamily="34" charset="0"/>
                <a:ea typeface="Calibri" pitchFamily="34" charset="-122"/>
                <a:cs typeface="Calibri" pitchFamily="34" charset="-120"/>
              </a:rPr>
              <a:t>AI — Intelligent Agents  |  F. Properties of AI Environments</a:t>
            </a:r>
            <a:endParaRPr lang="en-US" sz="1400" dirty="0"/>
          </a:p>
        </p:txBody>
      </p:sp>
      <p:sp>
        <p:nvSpPr>
          <p:cNvPr id="16" name="Text 14"/>
          <p:cNvSpPr/>
          <p:nvPr/>
        </p:nvSpPr>
        <p:spPr>
          <a:xfrm>
            <a:off x="10500055" y="6446520"/>
            <a:ext cx="1188720" cy="320040"/>
          </a:xfrm>
          <a:prstGeom prst="rect">
            <a:avLst/>
          </a:prstGeom>
          <a:noFill/>
          <a:ln/>
        </p:spPr>
        <p:txBody>
          <a:bodyPr wrap="square" rtlCol="0" anchor="ctr"/>
          <a:lstStyle/>
          <a:p>
            <a:pPr marL="0" indent="0" algn="r">
              <a:buNone/>
            </a:pPr>
            <a:r>
              <a:rPr lang="en-US" sz="1400" dirty="0">
                <a:solidFill>
                  <a:srgbClr val="5A6478"/>
                </a:solidFill>
                <a:latin typeface="Calibri" pitchFamily="34" charset="0"/>
                <a:ea typeface="Calibri" pitchFamily="34" charset="-122"/>
                <a:cs typeface="Calibri" pitchFamily="34" charset="-120"/>
              </a:rPr>
              <a:t>35 / 40</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85855" cy="347472"/>
          </a:xfrm>
          <a:prstGeom prst="rect">
            <a:avLst/>
          </a:prstGeom>
          <a:noFill/>
          <a:ln/>
        </p:spPr>
        <p:txBody>
          <a:bodyPr wrap="square" rtlCol="0" anchor="ctr"/>
          <a:lstStyle/>
          <a:p>
            <a:pPr marL="0" indent="0">
              <a:buNone/>
            </a:pPr>
            <a:r>
              <a:rPr lang="en-US" sz="1500" b="1" kern="0" spc="150" dirty="0">
                <a:solidFill>
                  <a:srgbClr val="B08D57"/>
                </a:solidFill>
                <a:latin typeface="Calibri" pitchFamily="34" charset="0"/>
                <a:ea typeface="Calibri" pitchFamily="34" charset="-122"/>
                <a:cs typeface="Calibri" pitchFamily="34" charset="-120"/>
              </a:rPr>
              <a:t>F. PROPERTIES OF AI ENVIRONMENTS</a:t>
            </a:r>
            <a:endParaRPr lang="en-US" sz="1500" dirty="0"/>
          </a:p>
        </p:txBody>
      </p:sp>
      <p:sp>
        <p:nvSpPr>
          <p:cNvPr id="3" name="Text 1"/>
          <p:cNvSpPr txBox="1"/>
          <p:nvPr/>
        </p:nvSpPr>
        <p:spPr>
          <a:xfrm>
            <a:off x="502920" y="676656"/>
            <a:ext cx="11185855" cy="1417320"/>
          </a:xfrm>
          <a:prstGeom prst="rect">
            <a:avLst/>
          </a:prstGeom>
          <a:noFill/>
          <a:ln/>
        </p:spPr>
        <p:txBody>
          <a:bodyPr wrap="square" rtlCol="0" anchor="t"/>
          <a:lstStyle/>
          <a:p>
            <a:pPr marL="0" indent="0">
              <a:lnSpc>
                <a:spcPts val="3584"/>
              </a:lnSpc>
              <a:buNone/>
            </a:pPr>
            <a:r>
              <a:rPr lang="en-US" sz="3200" b="1" dirty="0">
                <a:solidFill>
                  <a:srgbClr val="0B1E3D"/>
                </a:solidFill>
                <a:latin typeface="Cambria" pitchFamily="34" charset="0"/>
                <a:ea typeface="Cambria" pitchFamily="34" charset="-122"/>
                <a:cs typeface="Cambria" pitchFamily="34" charset="-120"/>
              </a:rPr>
              <a:t>Deterministic vs. Stochastic</a:t>
            </a:r>
            <a:endParaRPr lang="en-US" sz="3200" dirty="0"/>
          </a:p>
        </p:txBody>
      </p:sp>
      <p:sp>
        <p:nvSpPr>
          <p:cNvPr id="4" name="Shape 2"/>
          <p:cNvSpPr/>
          <p:nvPr/>
        </p:nvSpPr>
        <p:spPr>
          <a:xfrm>
            <a:off x="502920" y="1828800"/>
            <a:ext cx="5432908" cy="2651760"/>
          </a:xfrm>
          <a:prstGeom prst="roundRect">
            <a:avLst>
              <a:gd name="adj" fmla="val 2759"/>
            </a:avLst>
          </a:prstGeom>
          <a:solidFill>
            <a:srgbClr val="0B1E3D"/>
          </a:solidFill>
          <a:ln/>
        </p:spPr>
      </p:sp>
      <p:sp>
        <p:nvSpPr>
          <p:cNvPr id="5" name="Text 3"/>
          <p:cNvSpPr/>
          <p:nvPr/>
        </p:nvSpPr>
        <p:spPr>
          <a:xfrm>
            <a:off x="758952" y="1993392"/>
            <a:ext cx="4920844" cy="502920"/>
          </a:xfrm>
          <a:prstGeom prst="rect">
            <a:avLst/>
          </a:prstGeom>
          <a:noFill/>
          <a:ln/>
        </p:spPr>
        <p:txBody>
          <a:bodyPr wrap="square" rtlCol="0" anchor="ctr"/>
          <a:lstStyle/>
          <a:p>
            <a:pPr marL="0" indent="0">
              <a:buNone/>
            </a:pPr>
            <a:r>
              <a:rPr lang="en-US" sz="2000" b="1" dirty="0">
                <a:solidFill>
                  <a:srgbClr val="B08D57"/>
                </a:solidFill>
                <a:latin typeface="Cambria" pitchFamily="34" charset="0"/>
                <a:ea typeface="Cambria" pitchFamily="34" charset="-122"/>
                <a:cs typeface="Cambria" pitchFamily="34" charset="-120"/>
              </a:rPr>
              <a:t>Deterministic</a:t>
            </a:r>
            <a:endParaRPr lang="en-US" sz="2000" dirty="0"/>
          </a:p>
        </p:txBody>
      </p:sp>
      <p:sp>
        <p:nvSpPr>
          <p:cNvPr id="6" name="Text 4"/>
          <p:cNvSpPr/>
          <p:nvPr/>
        </p:nvSpPr>
        <p:spPr>
          <a:xfrm>
            <a:off x="758952" y="2542032"/>
            <a:ext cx="4920844" cy="822960"/>
          </a:xfrm>
          <a:prstGeom prst="rect">
            <a:avLst/>
          </a:prstGeom>
          <a:noFill/>
          <a:ln/>
        </p:spPr>
        <p:txBody>
          <a:bodyPr wrap="square" rtlCol="0" anchor="ctr"/>
          <a:lstStyle/>
          <a:p>
            <a:pPr marL="0" indent="0">
              <a:lnSpc>
                <a:spcPts val="2250"/>
              </a:lnSpc>
              <a:buNone/>
            </a:pPr>
            <a:r>
              <a:rPr lang="en-US" sz="1800" i="1" dirty="0">
                <a:solidFill>
                  <a:srgbClr val="E7EBF3"/>
                </a:solidFill>
                <a:latin typeface="Calibri" pitchFamily="34" charset="0"/>
                <a:ea typeface="Calibri" pitchFamily="34" charset="-122"/>
                <a:cs typeface="Calibri" pitchFamily="34" charset="-120"/>
              </a:rPr>
              <a:t>The next state is completely determined by the current state and the agent's action.</a:t>
            </a:r>
            <a:endParaRPr lang="en-US" sz="1800" dirty="0"/>
          </a:p>
        </p:txBody>
      </p:sp>
      <p:sp>
        <p:nvSpPr>
          <p:cNvPr id="7" name="Text 5"/>
          <p:cNvSpPr/>
          <p:nvPr/>
        </p:nvSpPr>
        <p:spPr>
          <a:xfrm>
            <a:off x="758952" y="3474720"/>
            <a:ext cx="4920844" cy="868680"/>
          </a:xfrm>
          <a:prstGeom prst="rect">
            <a:avLst/>
          </a:prstGeom>
          <a:noFill/>
          <a:ln/>
        </p:spPr>
        <p:txBody>
          <a:bodyPr wrap="square" lIns="0" tIns="0" rIns="0" bIns="0" rtlCol="0" anchor="t"/>
          <a:lstStyle/>
          <a:p>
            <a:pPr marL="228600" indent="-228600">
              <a:spcAft>
                <a:spcPts val="600"/>
              </a:spcAft>
              <a:buSzPct val="100000"/>
              <a:buChar char="▪"/>
            </a:pPr>
            <a:r>
              <a:rPr lang="en-US" sz="1800" dirty="0">
                <a:solidFill>
                  <a:srgbClr val="E7EBF3"/>
                </a:solidFill>
                <a:latin typeface="Calibri" pitchFamily="34" charset="0"/>
                <a:ea typeface="Calibri" pitchFamily="34" charset="-122"/>
                <a:cs typeface="Calibri" pitchFamily="34" charset="-120"/>
              </a:rPr>
              <a:t>Sudoku, chess (the rules themselves)</a:t>
            </a:r>
            <a:endParaRPr lang="en-US" sz="1800" dirty="0"/>
          </a:p>
        </p:txBody>
      </p:sp>
      <p:sp>
        <p:nvSpPr>
          <p:cNvPr id="8" name="Shape 6"/>
          <p:cNvSpPr/>
          <p:nvPr/>
        </p:nvSpPr>
        <p:spPr>
          <a:xfrm>
            <a:off x="6255868" y="1828800"/>
            <a:ext cx="5432908" cy="2651760"/>
          </a:xfrm>
          <a:prstGeom prst="roundRect">
            <a:avLst>
              <a:gd name="adj" fmla="val 2759"/>
            </a:avLst>
          </a:prstGeom>
          <a:solidFill>
            <a:srgbClr val="F3F5F8"/>
          </a:solidFill>
          <a:ln w="12700">
            <a:solidFill>
              <a:srgbClr val="D8DCE3"/>
            </a:solidFill>
            <a:prstDash val="solid"/>
          </a:ln>
        </p:spPr>
      </p:sp>
      <p:sp>
        <p:nvSpPr>
          <p:cNvPr id="9" name="Text 7"/>
          <p:cNvSpPr/>
          <p:nvPr/>
        </p:nvSpPr>
        <p:spPr>
          <a:xfrm>
            <a:off x="6511900" y="1993392"/>
            <a:ext cx="4920844" cy="502920"/>
          </a:xfrm>
          <a:prstGeom prst="rect">
            <a:avLst/>
          </a:prstGeom>
          <a:noFill/>
          <a:ln/>
        </p:spPr>
        <p:txBody>
          <a:bodyPr wrap="square" rtlCol="0" anchor="ctr"/>
          <a:lstStyle/>
          <a:p>
            <a:pPr marL="0" indent="0">
              <a:buNone/>
            </a:pPr>
            <a:r>
              <a:rPr lang="en-US" sz="2000" b="1" dirty="0">
                <a:solidFill>
                  <a:srgbClr val="0B1E3D"/>
                </a:solidFill>
                <a:latin typeface="Cambria" pitchFamily="34" charset="0"/>
                <a:ea typeface="Cambria" pitchFamily="34" charset="-122"/>
                <a:cs typeface="Cambria" pitchFamily="34" charset="-120"/>
              </a:rPr>
              <a:t>Stochastic</a:t>
            </a:r>
            <a:endParaRPr lang="en-US" sz="2000" dirty="0"/>
          </a:p>
        </p:txBody>
      </p:sp>
      <p:sp>
        <p:nvSpPr>
          <p:cNvPr id="10" name="Text 8"/>
          <p:cNvSpPr/>
          <p:nvPr/>
        </p:nvSpPr>
        <p:spPr>
          <a:xfrm>
            <a:off x="6511900" y="2542032"/>
            <a:ext cx="4920844" cy="822960"/>
          </a:xfrm>
          <a:prstGeom prst="rect">
            <a:avLst/>
          </a:prstGeom>
          <a:noFill/>
          <a:ln/>
        </p:spPr>
        <p:txBody>
          <a:bodyPr wrap="square" rtlCol="0" anchor="ctr"/>
          <a:lstStyle/>
          <a:p>
            <a:pPr marL="0" indent="0">
              <a:lnSpc>
                <a:spcPts val="2250"/>
              </a:lnSpc>
              <a:buNone/>
            </a:pPr>
            <a:r>
              <a:rPr lang="en-US" sz="1800" i="1" dirty="0">
                <a:solidFill>
                  <a:srgbClr val="1A1F2B"/>
                </a:solidFill>
                <a:latin typeface="Calibri" pitchFamily="34" charset="0"/>
                <a:ea typeface="Calibri" pitchFamily="34" charset="-122"/>
                <a:cs typeface="Calibri" pitchFamily="34" charset="-120"/>
              </a:rPr>
              <a:t>Outcomes involve genuine uncertainty or probability — the same action can lead to different results.</a:t>
            </a:r>
            <a:endParaRPr lang="en-US" sz="1800" dirty="0"/>
          </a:p>
        </p:txBody>
      </p:sp>
      <p:sp>
        <p:nvSpPr>
          <p:cNvPr id="11" name="Text 9"/>
          <p:cNvSpPr/>
          <p:nvPr/>
        </p:nvSpPr>
        <p:spPr>
          <a:xfrm>
            <a:off x="6511900" y="3474720"/>
            <a:ext cx="4920844" cy="868680"/>
          </a:xfrm>
          <a:prstGeom prst="rect">
            <a:avLst/>
          </a:prstGeom>
          <a:noFill/>
          <a:ln/>
        </p:spPr>
        <p:txBody>
          <a:bodyPr wrap="square" lIns="0" tIns="0" rIns="0" bIns="0" rtlCol="0" anchor="t"/>
          <a:lstStyle/>
          <a:p>
            <a:pPr marL="228600" indent="-228600">
              <a:spcAft>
                <a:spcPts val="600"/>
              </a:spcAft>
              <a:buSzPct val="100000"/>
              <a:buChar char="▪"/>
            </a:pPr>
            <a:r>
              <a:rPr lang="en-US" sz="1800" dirty="0">
                <a:solidFill>
                  <a:srgbClr val="1A1F2B"/>
                </a:solidFill>
                <a:latin typeface="Calibri" pitchFamily="34" charset="0"/>
                <a:ea typeface="Calibri" pitchFamily="34" charset="-122"/>
                <a:cs typeface="Calibri" pitchFamily="34" charset="-120"/>
              </a:rPr>
              <a:t>Real traffic, weather prediction, medical treatment outcomes, sensor/actuator noise</a:t>
            </a:r>
            <a:endParaRPr lang="en-US" sz="1800" dirty="0"/>
          </a:p>
        </p:txBody>
      </p:sp>
      <p:sp>
        <p:nvSpPr>
          <p:cNvPr id="12" name="Text 10"/>
          <p:cNvSpPr/>
          <p:nvPr/>
        </p:nvSpPr>
        <p:spPr>
          <a:xfrm>
            <a:off x="502920" y="4709160"/>
            <a:ext cx="11185855" cy="548640"/>
          </a:xfrm>
          <a:prstGeom prst="rect">
            <a:avLst/>
          </a:prstGeom>
          <a:noFill/>
          <a:ln/>
        </p:spPr>
        <p:txBody>
          <a:bodyPr wrap="square" rtlCol="0" anchor="t"/>
          <a:lstStyle/>
          <a:p>
            <a:pPr marL="0" indent="0">
              <a:lnSpc>
                <a:spcPts val="2280"/>
              </a:lnSpc>
              <a:buNone/>
            </a:pPr>
            <a:r>
              <a:rPr lang="en-US" sz="1900" b="1" dirty="0">
                <a:solidFill>
                  <a:srgbClr val="0B1E3D"/>
                </a:solidFill>
                <a:latin typeface="Calibri" pitchFamily="34" charset="0"/>
                <a:ea typeface="Calibri" pitchFamily="34" charset="-122"/>
                <a:cs typeface="Calibri" pitchFamily="34" charset="-120"/>
              </a:rPr>
              <a:t>Key point:  </a:t>
            </a:r>
            <a:r>
              <a:rPr lang="en-US" sz="1900" dirty="0">
                <a:solidFill>
                  <a:srgbClr val="1A1F2B"/>
                </a:solidFill>
                <a:latin typeface="Calibri" pitchFamily="34" charset="0"/>
                <a:ea typeface="Calibri" pitchFamily="34" charset="-122"/>
                <a:cs typeface="Calibri" pitchFamily="34" charset="-120"/>
              </a:rPr>
              <a:t>most real-world environments are stochastic, at least to some degree — even carefully engineered robots face sensor and actuator uncertainty.</a:t>
            </a:r>
            <a:endParaRPr lang="en-US" sz="1900" dirty="0"/>
          </a:p>
        </p:txBody>
      </p:sp>
      <p:sp>
        <p:nvSpPr>
          <p:cNvPr id="13" name="Shape 11"/>
          <p:cNvSpPr/>
          <p:nvPr/>
        </p:nvSpPr>
        <p:spPr>
          <a:xfrm>
            <a:off x="502920" y="5394960"/>
            <a:ext cx="11185855" cy="594360"/>
          </a:xfrm>
          <a:prstGeom prst="roundRect">
            <a:avLst>
              <a:gd name="adj" fmla="val 12308"/>
            </a:avLst>
          </a:prstGeom>
          <a:solidFill>
            <a:srgbClr val="FBF3E6"/>
          </a:solidFill>
          <a:ln w="12700">
            <a:solidFill>
              <a:srgbClr val="B08D57"/>
            </a:solidFill>
            <a:prstDash val="solid"/>
          </a:ln>
        </p:spPr>
      </p:sp>
      <p:sp>
        <p:nvSpPr>
          <p:cNvPr id="14" name="Text 12"/>
          <p:cNvSpPr/>
          <p:nvPr/>
        </p:nvSpPr>
        <p:spPr>
          <a:xfrm>
            <a:off x="502920" y="5394960"/>
            <a:ext cx="11185855" cy="594360"/>
          </a:xfrm>
          <a:prstGeom prst="rect">
            <a:avLst/>
          </a:prstGeom>
          <a:noFill/>
          <a:ln/>
        </p:spPr>
        <p:txBody>
          <a:bodyPr wrap="square" rtlCol="0" anchor="ctr"/>
          <a:lstStyle/>
          <a:p>
            <a:pPr marL="0" indent="0" algn="ctr">
              <a:buNone/>
            </a:pPr>
            <a:r>
              <a:rPr lang="en-US" sz="1800" b="1" i="1" dirty="0">
                <a:solidFill>
                  <a:srgbClr val="0B1E3D"/>
                </a:solidFill>
                <a:latin typeface="Cambria" pitchFamily="34" charset="0"/>
                <a:ea typeface="Cambria" pitchFamily="34" charset="-122"/>
                <a:cs typeface="Cambria" pitchFamily="34" charset="-120"/>
              </a:rPr>
              <a:t>Classroom question:  Is chess deterministic?</a:t>
            </a:r>
            <a:endParaRPr lang="en-US" sz="1800" dirty="0"/>
          </a:p>
        </p:txBody>
      </p:sp>
      <p:sp>
        <p:nvSpPr>
          <p:cNvPr id="15" name="Text 13"/>
          <p:cNvSpPr/>
          <p:nvPr/>
        </p:nvSpPr>
        <p:spPr>
          <a:xfrm>
            <a:off x="502920" y="6446520"/>
            <a:ext cx="8229600" cy="320040"/>
          </a:xfrm>
          <a:prstGeom prst="rect">
            <a:avLst/>
          </a:prstGeom>
          <a:noFill/>
          <a:ln/>
        </p:spPr>
        <p:txBody>
          <a:bodyPr wrap="square" rtlCol="0" anchor="ctr"/>
          <a:lstStyle/>
          <a:p>
            <a:pPr marL="0" indent="0">
              <a:buNone/>
            </a:pPr>
            <a:r>
              <a:rPr lang="en-US" sz="1400" i="1" dirty="0">
                <a:solidFill>
                  <a:srgbClr val="5A6478"/>
                </a:solidFill>
                <a:latin typeface="Calibri" pitchFamily="34" charset="0"/>
                <a:ea typeface="Calibri" pitchFamily="34" charset="-122"/>
                <a:cs typeface="Calibri" pitchFamily="34" charset="-120"/>
              </a:rPr>
              <a:t>AI — Intelligent Agents  |  F. Properties of AI Environments</a:t>
            </a:r>
            <a:endParaRPr lang="en-US" sz="1400" dirty="0"/>
          </a:p>
        </p:txBody>
      </p:sp>
      <p:sp>
        <p:nvSpPr>
          <p:cNvPr id="16" name="Text 14"/>
          <p:cNvSpPr/>
          <p:nvPr/>
        </p:nvSpPr>
        <p:spPr>
          <a:xfrm>
            <a:off x="10500055" y="6446520"/>
            <a:ext cx="1188720" cy="320040"/>
          </a:xfrm>
          <a:prstGeom prst="rect">
            <a:avLst/>
          </a:prstGeom>
          <a:noFill/>
          <a:ln/>
        </p:spPr>
        <p:txBody>
          <a:bodyPr wrap="square" rtlCol="0" anchor="ctr"/>
          <a:lstStyle/>
          <a:p>
            <a:pPr marL="0" indent="0" algn="r">
              <a:buNone/>
            </a:pPr>
            <a:r>
              <a:rPr lang="en-US" sz="1400" dirty="0">
                <a:solidFill>
                  <a:srgbClr val="5A6478"/>
                </a:solidFill>
                <a:latin typeface="Calibri" pitchFamily="34" charset="0"/>
                <a:ea typeface="Calibri" pitchFamily="34" charset="-122"/>
                <a:cs typeface="Calibri" pitchFamily="34" charset="-120"/>
              </a:rPr>
              <a:t>36 / 40</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85855" cy="347472"/>
          </a:xfrm>
          <a:prstGeom prst="rect">
            <a:avLst/>
          </a:prstGeom>
          <a:noFill/>
          <a:ln/>
        </p:spPr>
        <p:txBody>
          <a:bodyPr wrap="square" rtlCol="0" anchor="ctr"/>
          <a:lstStyle/>
          <a:p>
            <a:pPr marL="0" indent="0">
              <a:buNone/>
            </a:pPr>
            <a:r>
              <a:rPr lang="en-US" sz="1500" b="1" kern="0" spc="150" dirty="0">
                <a:solidFill>
                  <a:srgbClr val="B08D57"/>
                </a:solidFill>
                <a:latin typeface="Calibri" pitchFamily="34" charset="0"/>
                <a:ea typeface="Calibri" pitchFamily="34" charset="-122"/>
                <a:cs typeface="Calibri" pitchFamily="34" charset="-120"/>
              </a:rPr>
              <a:t>F. PROPERTIES OF AI ENVIRONMENTS</a:t>
            </a:r>
            <a:endParaRPr lang="en-US" sz="1500" dirty="0"/>
          </a:p>
        </p:txBody>
      </p:sp>
      <p:sp>
        <p:nvSpPr>
          <p:cNvPr id="3" name="Text 1"/>
          <p:cNvSpPr txBox="1"/>
          <p:nvPr/>
        </p:nvSpPr>
        <p:spPr>
          <a:xfrm>
            <a:off x="502920" y="676656"/>
            <a:ext cx="11185855" cy="1417320"/>
          </a:xfrm>
          <a:prstGeom prst="rect">
            <a:avLst/>
          </a:prstGeom>
          <a:noFill/>
          <a:ln/>
        </p:spPr>
        <p:txBody>
          <a:bodyPr wrap="square" rtlCol="0" anchor="t"/>
          <a:lstStyle/>
          <a:p>
            <a:pPr marL="0" indent="0">
              <a:lnSpc>
                <a:spcPts val="3584"/>
              </a:lnSpc>
              <a:buNone/>
            </a:pPr>
            <a:r>
              <a:rPr lang="en-US" sz="3200" b="1" dirty="0">
                <a:solidFill>
                  <a:srgbClr val="0B1E3D"/>
                </a:solidFill>
                <a:latin typeface="Cambria" pitchFamily="34" charset="0"/>
                <a:ea typeface="Cambria" pitchFamily="34" charset="-122"/>
                <a:cs typeface="Cambria" pitchFamily="34" charset="-120"/>
              </a:rPr>
              <a:t>Episodic vs. Sequential</a:t>
            </a:r>
            <a:endParaRPr lang="en-US" sz="3200" dirty="0"/>
          </a:p>
        </p:txBody>
      </p:sp>
      <p:sp>
        <p:nvSpPr>
          <p:cNvPr id="4" name="Shape 2"/>
          <p:cNvSpPr/>
          <p:nvPr/>
        </p:nvSpPr>
        <p:spPr>
          <a:xfrm>
            <a:off x="502920" y="1828800"/>
            <a:ext cx="5432908" cy="2468880"/>
          </a:xfrm>
          <a:prstGeom prst="roundRect">
            <a:avLst>
              <a:gd name="adj" fmla="val 2963"/>
            </a:avLst>
          </a:prstGeom>
          <a:solidFill>
            <a:srgbClr val="0B1E3D"/>
          </a:solidFill>
          <a:ln/>
        </p:spPr>
      </p:sp>
      <p:sp>
        <p:nvSpPr>
          <p:cNvPr id="5" name="Text 3"/>
          <p:cNvSpPr/>
          <p:nvPr/>
        </p:nvSpPr>
        <p:spPr>
          <a:xfrm>
            <a:off x="758952" y="1993392"/>
            <a:ext cx="4920844" cy="502920"/>
          </a:xfrm>
          <a:prstGeom prst="rect">
            <a:avLst/>
          </a:prstGeom>
          <a:noFill/>
          <a:ln/>
        </p:spPr>
        <p:txBody>
          <a:bodyPr wrap="square" rtlCol="0" anchor="ctr"/>
          <a:lstStyle/>
          <a:p>
            <a:pPr marL="0" indent="0">
              <a:buNone/>
            </a:pPr>
            <a:r>
              <a:rPr lang="en-US" sz="2000" b="1" dirty="0">
                <a:solidFill>
                  <a:srgbClr val="B08D57"/>
                </a:solidFill>
                <a:latin typeface="Cambria" pitchFamily="34" charset="0"/>
                <a:ea typeface="Cambria" pitchFamily="34" charset="-122"/>
                <a:cs typeface="Cambria" pitchFamily="34" charset="-120"/>
              </a:rPr>
              <a:t>Episodic</a:t>
            </a:r>
            <a:endParaRPr lang="en-US" sz="2000" dirty="0"/>
          </a:p>
        </p:txBody>
      </p:sp>
      <p:sp>
        <p:nvSpPr>
          <p:cNvPr id="6" name="Text 4"/>
          <p:cNvSpPr/>
          <p:nvPr/>
        </p:nvSpPr>
        <p:spPr>
          <a:xfrm>
            <a:off x="758952" y="2542032"/>
            <a:ext cx="4920844" cy="822960"/>
          </a:xfrm>
          <a:prstGeom prst="rect">
            <a:avLst/>
          </a:prstGeom>
          <a:noFill/>
          <a:ln/>
        </p:spPr>
        <p:txBody>
          <a:bodyPr wrap="square" rtlCol="0" anchor="ctr"/>
          <a:lstStyle/>
          <a:p>
            <a:pPr marL="0" indent="0">
              <a:lnSpc>
                <a:spcPts val="2250"/>
              </a:lnSpc>
              <a:buNone/>
            </a:pPr>
            <a:r>
              <a:rPr lang="en-US" sz="1800" i="1" dirty="0">
                <a:solidFill>
                  <a:srgbClr val="E7EBF3"/>
                </a:solidFill>
                <a:latin typeface="Calibri" pitchFamily="34" charset="0"/>
                <a:ea typeface="Calibri" pitchFamily="34" charset="-122"/>
                <a:cs typeface="Calibri" pitchFamily="34" charset="-120"/>
              </a:rPr>
              <a:t>Each decision is a self-contained episode, largely independent of previous decisions.</a:t>
            </a:r>
            <a:endParaRPr lang="en-US" sz="1800" dirty="0"/>
          </a:p>
        </p:txBody>
      </p:sp>
      <p:sp>
        <p:nvSpPr>
          <p:cNvPr id="7" name="Text 5"/>
          <p:cNvSpPr/>
          <p:nvPr/>
        </p:nvSpPr>
        <p:spPr>
          <a:xfrm>
            <a:off x="758952" y="3474720"/>
            <a:ext cx="4920844" cy="685800"/>
          </a:xfrm>
          <a:prstGeom prst="rect">
            <a:avLst/>
          </a:prstGeom>
          <a:noFill/>
          <a:ln/>
        </p:spPr>
        <p:txBody>
          <a:bodyPr wrap="square" lIns="0" tIns="0" rIns="0" bIns="0" rtlCol="0" anchor="t"/>
          <a:lstStyle/>
          <a:p>
            <a:pPr marL="228600" indent="-228600">
              <a:spcAft>
                <a:spcPts val="600"/>
              </a:spcAft>
              <a:buSzPct val="100000"/>
              <a:buChar char="▪"/>
            </a:pPr>
            <a:r>
              <a:rPr lang="en-US" sz="1800" dirty="0">
                <a:solidFill>
                  <a:srgbClr val="E7EBF3"/>
                </a:solidFill>
                <a:latin typeface="Calibri" pitchFamily="34" charset="0"/>
                <a:ea typeface="Calibri" pitchFamily="34" charset="-122"/>
                <a:cs typeface="Calibri" pitchFamily="34" charset="-120"/>
              </a:rPr>
              <a:t>Independent image classification, independent product-quality inspection</a:t>
            </a:r>
            <a:endParaRPr lang="en-US" sz="1800" dirty="0"/>
          </a:p>
        </p:txBody>
      </p:sp>
      <p:sp>
        <p:nvSpPr>
          <p:cNvPr id="8" name="Shape 6"/>
          <p:cNvSpPr/>
          <p:nvPr/>
        </p:nvSpPr>
        <p:spPr>
          <a:xfrm>
            <a:off x="6255868" y="1828800"/>
            <a:ext cx="5432908" cy="2468880"/>
          </a:xfrm>
          <a:prstGeom prst="roundRect">
            <a:avLst>
              <a:gd name="adj" fmla="val 2963"/>
            </a:avLst>
          </a:prstGeom>
          <a:solidFill>
            <a:srgbClr val="F3F5F8"/>
          </a:solidFill>
          <a:ln w="12700">
            <a:solidFill>
              <a:srgbClr val="D8DCE3"/>
            </a:solidFill>
            <a:prstDash val="solid"/>
          </a:ln>
        </p:spPr>
      </p:sp>
      <p:sp>
        <p:nvSpPr>
          <p:cNvPr id="9" name="Text 7"/>
          <p:cNvSpPr/>
          <p:nvPr/>
        </p:nvSpPr>
        <p:spPr>
          <a:xfrm>
            <a:off x="6511900" y="1993392"/>
            <a:ext cx="4920844" cy="502920"/>
          </a:xfrm>
          <a:prstGeom prst="rect">
            <a:avLst/>
          </a:prstGeom>
          <a:noFill/>
          <a:ln/>
        </p:spPr>
        <p:txBody>
          <a:bodyPr wrap="square" rtlCol="0" anchor="ctr"/>
          <a:lstStyle/>
          <a:p>
            <a:pPr marL="0" indent="0">
              <a:buNone/>
            </a:pPr>
            <a:r>
              <a:rPr lang="en-US" sz="2000" b="1" dirty="0">
                <a:solidFill>
                  <a:srgbClr val="0B1E3D"/>
                </a:solidFill>
                <a:latin typeface="Cambria" pitchFamily="34" charset="0"/>
                <a:ea typeface="Cambria" pitchFamily="34" charset="-122"/>
                <a:cs typeface="Cambria" pitchFamily="34" charset="-120"/>
              </a:rPr>
              <a:t>Sequential</a:t>
            </a:r>
            <a:endParaRPr lang="en-US" sz="2000" dirty="0"/>
          </a:p>
        </p:txBody>
      </p:sp>
      <p:sp>
        <p:nvSpPr>
          <p:cNvPr id="10" name="Text 8"/>
          <p:cNvSpPr/>
          <p:nvPr/>
        </p:nvSpPr>
        <p:spPr>
          <a:xfrm>
            <a:off x="6511900" y="2542032"/>
            <a:ext cx="4920844" cy="822960"/>
          </a:xfrm>
          <a:prstGeom prst="rect">
            <a:avLst/>
          </a:prstGeom>
          <a:noFill/>
          <a:ln/>
        </p:spPr>
        <p:txBody>
          <a:bodyPr wrap="square" rtlCol="0" anchor="ctr"/>
          <a:lstStyle/>
          <a:p>
            <a:pPr marL="0" indent="0">
              <a:lnSpc>
                <a:spcPts val="2250"/>
              </a:lnSpc>
              <a:buNone/>
            </a:pPr>
            <a:r>
              <a:rPr lang="en-US" sz="1800" i="1" dirty="0">
                <a:solidFill>
                  <a:srgbClr val="1A1F2B"/>
                </a:solidFill>
                <a:latin typeface="Calibri" pitchFamily="34" charset="0"/>
                <a:ea typeface="Calibri" pitchFamily="34" charset="-122"/>
                <a:cs typeface="Calibri" pitchFamily="34" charset="-120"/>
              </a:rPr>
              <a:t>Current decisions affect future states and future decisions — order and history matter.</a:t>
            </a:r>
            <a:endParaRPr lang="en-US" sz="1800" dirty="0"/>
          </a:p>
        </p:txBody>
      </p:sp>
      <p:sp>
        <p:nvSpPr>
          <p:cNvPr id="11" name="Text 9"/>
          <p:cNvSpPr/>
          <p:nvPr/>
        </p:nvSpPr>
        <p:spPr>
          <a:xfrm>
            <a:off x="6511900" y="3474720"/>
            <a:ext cx="4920844" cy="685800"/>
          </a:xfrm>
          <a:prstGeom prst="rect">
            <a:avLst/>
          </a:prstGeom>
          <a:noFill/>
          <a:ln/>
        </p:spPr>
        <p:txBody>
          <a:bodyPr wrap="square" lIns="0" tIns="0" rIns="0" bIns="0" rtlCol="0" anchor="t"/>
          <a:lstStyle/>
          <a:p>
            <a:pPr marL="228600" indent="-228600">
              <a:spcAft>
                <a:spcPts val="600"/>
              </a:spcAft>
              <a:buSzPct val="100000"/>
              <a:buChar char="▪"/>
            </a:pPr>
            <a:r>
              <a:rPr lang="en-US" sz="1800" dirty="0">
                <a:solidFill>
                  <a:srgbClr val="1A1F2B"/>
                </a:solidFill>
                <a:latin typeface="Calibri" pitchFamily="34" charset="0"/>
                <a:ea typeface="Calibri" pitchFamily="34" charset="-122"/>
                <a:cs typeface="Calibri" pitchFamily="34" charset="-120"/>
              </a:rPr>
              <a:t>Chess, driving, robot navigation, holding a conversation</a:t>
            </a:r>
            <a:endParaRPr lang="en-US" sz="1800" dirty="0"/>
          </a:p>
        </p:txBody>
      </p:sp>
      <p:sp>
        <p:nvSpPr>
          <p:cNvPr id="12" name="Shape 10"/>
          <p:cNvSpPr/>
          <p:nvPr/>
        </p:nvSpPr>
        <p:spPr>
          <a:xfrm>
            <a:off x="502920" y="4480560"/>
            <a:ext cx="1554480" cy="777240"/>
          </a:xfrm>
          <a:prstGeom prst="roundRect">
            <a:avLst>
              <a:gd name="adj" fmla="val 9412"/>
            </a:avLst>
          </a:prstGeom>
          <a:solidFill>
            <a:srgbClr val="F3F5F8"/>
          </a:solidFill>
          <a:ln/>
        </p:spPr>
      </p:sp>
      <p:sp>
        <p:nvSpPr>
          <p:cNvPr id="13" name="Text 11"/>
          <p:cNvSpPr/>
          <p:nvPr/>
        </p:nvSpPr>
        <p:spPr>
          <a:xfrm>
            <a:off x="576072" y="4480560"/>
            <a:ext cx="1408176" cy="777240"/>
          </a:xfrm>
          <a:prstGeom prst="rect">
            <a:avLst/>
          </a:prstGeom>
          <a:noFill/>
          <a:ln/>
        </p:spPr>
        <p:txBody>
          <a:bodyPr wrap="square" rtlCol="0" anchor="ctr"/>
          <a:lstStyle/>
          <a:p>
            <a:pPr marL="0" indent="0" algn="ctr">
              <a:lnSpc>
                <a:spcPts val="1667"/>
              </a:lnSpc>
              <a:buNone/>
            </a:pPr>
            <a:r>
              <a:rPr lang="en-US" sz="1450" b="1" dirty="0">
                <a:solidFill>
                  <a:srgbClr val="0B1E3D"/>
                </a:solidFill>
                <a:latin typeface="Calibri" pitchFamily="34" charset="0"/>
                <a:ea typeface="Calibri" pitchFamily="34" charset="-122"/>
                <a:cs typeface="Calibri" pitchFamily="34" charset="-120"/>
              </a:rPr>
              <a:t>Episode 1</a:t>
            </a:r>
            <a:endParaRPr lang="en-US" sz="1450" dirty="0"/>
          </a:p>
          <a:p>
            <a:pPr marL="0" indent="0" algn="ctr">
              <a:lnSpc>
                <a:spcPts val="1667"/>
              </a:lnSpc>
              <a:buNone/>
            </a:pPr>
            <a:r>
              <a:rPr lang="en-US" sz="1500" i="1" dirty="0">
                <a:solidFill>
                  <a:srgbClr val="5A6478"/>
                </a:solidFill>
                <a:latin typeface="Calibri" pitchFamily="34" charset="0"/>
                <a:ea typeface="Calibri" pitchFamily="34" charset="-122"/>
                <a:cs typeface="Calibri" pitchFamily="34" charset="-120"/>
              </a:rPr>
              <a:t>independent</a:t>
            </a:r>
            <a:endParaRPr lang="en-US" sz="1450" dirty="0"/>
          </a:p>
        </p:txBody>
      </p:sp>
      <p:sp>
        <p:nvSpPr>
          <p:cNvPr id="14" name="Text 12"/>
          <p:cNvSpPr/>
          <p:nvPr/>
        </p:nvSpPr>
        <p:spPr>
          <a:xfrm>
            <a:off x="2057400" y="4480560"/>
            <a:ext cx="365760" cy="777240"/>
          </a:xfrm>
          <a:prstGeom prst="rect">
            <a:avLst/>
          </a:prstGeom>
          <a:noFill/>
          <a:ln/>
        </p:spPr>
        <p:txBody>
          <a:bodyPr wrap="square" rtlCol="0" anchor="ctr"/>
          <a:lstStyle/>
          <a:p>
            <a:pPr marL="0" indent="0" algn="ctr">
              <a:buNone/>
            </a:pPr>
            <a:r>
              <a:rPr lang="en-US" sz="2400" b="1" dirty="0">
                <a:solidFill>
                  <a:srgbClr val="0B1E3D"/>
                </a:solidFill>
                <a:latin typeface="Calibri" pitchFamily="34" charset="0"/>
                <a:ea typeface="Calibri" pitchFamily="34" charset="-122"/>
                <a:cs typeface="Calibri" pitchFamily="34" charset="-120"/>
              </a:rPr>
              <a:t>→</a:t>
            </a:r>
            <a:endParaRPr lang="en-US" sz="2400" dirty="0"/>
          </a:p>
        </p:txBody>
      </p:sp>
      <p:sp>
        <p:nvSpPr>
          <p:cNvPr id="15" name="Shape 13"/>
          <p:cNvSpPr/>
          <p:nvPr/>
        </p:nvSpPr>
        <p:spPr>
          <a:xfrm>
            <a:off x="2423160" y="4480560"/>
            <a:ext cx="1554480" cy="777240"/>
          </a:xfrm>
          <a:prstGeom prst="roundRect">
            <a:avLst>
              <a:gd name="adj" fmla="val 9412"/>
            </a:avLst>
          </a:prstGeom>
          <a:solidFill>
            <a:srgbClr val="F3F5F8"/>
          </a:solidFill>
          <a:ln/>
        </p:spPr>
      </p:sp>
      <p:sp>
        <p:nvSpPr>
          <p:cNvPr id="16" name="Text 14"/>
          <p:cNvSpPr/>
          <p:nvPr/>
        </p:nvSpPr>
        <p:spPr>
          <a:xfrm>
            <a:off x="2496312" y="4480560"/>
            <a:ext cx="1408176" cy="777240"/>
          </a:xfrm>
          <a:prstGeom prst="rect">
            <a:avLst/>
          </a:prstGeom>
          <a:noFill/>
          <a:ln/>
        </p:spPr>
        <p:txBody>
          <a:bodyPr wrap="square" rtlCol="0" anchor="ctr"/>
          <a:lstStyle/>
          <a:p>
            <a:pPr marL="0" indent="0" algn="ctr">
              <a:lnSpc>
                <a:spcPts val="1667"/>
              </a:lnSpc>
              <a:buNone/>
            </a:pPr>
            <a:r>
              <a:rPr lang="en-US" sz="1450" b="1" dirty="0">
                <a:solidFill>
                  <a:srgbClr val="0B1E3D"/>
                </a:solidFill>
                <a:latin typeface="Calibri" pitchFamily="34" charset="0"/>
                <a:ea typeface="Calibri" pitchFamily="34" charset="-122"/>
                <a:cs typeface="Calibri" pitchFamily="34" charset="-120"/>
              </a:rPr>
              <a:t>Episode 2</a:t>
            </a:r>
            <a:endParaRPr lang="en-US" sz="1450" dirty="0"/>
          </a:p>
          <a:p>
            <a:pPr marL="0" indent="0" algn="ctr">
              <a:lnSpc>
                <a:spcPts val="1667"/>
              </a:lnSpc>
              <a:buNone/>
            </a:pPr>
            <a:r>
              <a:rPr lang="en-US" sz="1500" i="1" dirty="0">
                <a:solidFill>
                  <a:srgbClr val="5A6478"/>
                </a:solidFill>
                <a:latin typeface="Calibri" pitchFamily="34" charset="0"/>
                <a:ea typeface="Calibri" pitchFamily="34" charset="-122"/>
                <a:cs typeface="Calibri" pitchFamily="34" charset="-120"/>
              </a:rPr>
              <a:t>independent</a:t>
            </a:r>
            <a:endParaRPr lang="en-US" sz="1450" dirty="0"/>
          </a:p>
        </p:txBody>
      </p:sp>
      <p:sp>
        <p:nvSpPr>
          <p:cNvPr id="17" name="Text 15"/>
          <p:cNvSpPr/>
          <p:nvPr/>
        </p:nvSpPr>
        <p:spPr>
          <a:xfrm>
            <a:off x="3977640" y="4480560"/>
            <a:ext cx="365760" cy="777240"/>
          </a:xfrm>
          <a:prstGeom prst="rect">
            <a:avLst/>
          </a:prstGeom>
          <a:noFill/>
          <a:ln/>
        </p:spPr>
        <p:txBody>
          <a:bodyPr wrap="square" rtlCol="0" anchor="ctr"/>
          <a:lstStyle/>
          <a:p>
            <a:pPr marL="0" indent="0" algn="ctr">
              <a:buNone/>
            </a:pPr>
            <a:r>
              <a:rPr lang="en-US" sz="2400" b="1" dirty="0">
                <a:solidFill>
                  <a:srgbClr val="0B1E3D"/>
                </a:solidFill>
                <a:latin typeface="Calibri" pitchFamily="34" charset="0"/>
                <a:ea typeface="Calibri" pitchFamily="34" charset="-122"/>
                <a:cs typeface="Calibri" pitchFamily="34" charset="-120"/>
              </a:rPr>
              <a:t>→</a:t>
            </a:r>
            <a:endParaRPr lang="en-US" sz="2400" dirty="0"/>
          </a:p>
        </p:txBody>
      </p:sp>
      <p:sp>
        <p:nvSpPr>
          <p:cNvPr id="18" name="Shape 16"/>
          <p:cNvSpPr/>
          <p:nvPr/>
        </p:nvSpPr>
        <p:spPr>
          <a:xfrm>
            <a:off x="4343400" y="4480560"/>
            <a:ext cx="1554480" cy="777240"/>
          </a:xfrm>
          <a:prstGeom prst="roundRect">
            <a:avLst>
              <a:gd name="adj" fmla="val 9412"/>
            </a:avLst>
          </a:prstGeom>
          <a:solidFill>
            <a:srgbClr val="F3F5F8"/>
          </a:solidFill>
          <a:ln/>
        </p:spPr>
      </p:sp>
      <p:sp>
        <p:nvSpPr>
          <p:cNvPr id="19" name="Text 17"/>
          <p:cNvSpPr/>
          <p:nvPr/>
        </p:nvSpPr>
        <p:spPr>
          <a:xfrm>
            <a:off x="4416552" y="4480560"/>
            <a:ext cx="1408176" cy="777240"/>
          </a:xfrm>
          <a:prstGeom prst="rect">
            <a:avLst/>
          </a:prstGeom>
          <a:noFill/>
          <a:ln/>
        </p:spPr>
        <p:txBody>
          <a:bodyPr wrap="square" rtlCol="0" anchor="ctr"/>
          <a:lstStyle/>
          <a:p>
            <a:pPr marL="0" indent="0" algn="ctr">
              <a:lnSpc>
                <a:spcPts val="1667"/>
              </a:lnSpc>
              <a:buNone/>
            </a:pPr>
            <a:r>
              <a:rPr lang="en-US" sz="1450" b="1" dirty="0">
                <a:solidFill>
                  <a:srgbClr val="0B1E3D"/>
                </a:solidFill>
                <a:latin typeface="Calibri" pitchFamily="34" charset="0"/>
                <a:ea typeface="Calibri" pitchFamily="34" charset="-122"/>
                <a:cs typeface="Calibri" pitchFamily="34" charset="-120"/>
              </a:rPr>
              <a:t>Episode 3</a:t>
            </a:r>
            <a:endParaRPr lang="en-US" sz="1450" dirty="0"/>
          </a:p>
          <a:p>
            <a:pPr marL="0" indent="0" algn="ctr">
              <a:lnSpc>
                <a:spcPts val="1667"/>
              </a:lnSpc>
              <a:buNone/>
            </a:pPr>
            <a:r>
              <a:rPr lang="en-US" sz="1500" i="1" dirty="0">
                <a:solidFill>
                  <a:srgbClr val="5A6478"/>
                </a:solidFill>
                <a:latin typeface="Calibri" pitchFamily="34" charset="0"/>
                <a:ea typeface="Calibri" pitchFamily="34" charset="-122"/>
                <a:cs typeface="Calibri" pitchFamily="34" charset="-120"/>
              </a:rPr>
              <a:t>independent</a:t>
            </a:r>
            <a:endParaRPr lang="en-US" sz="1450" dirty="0"/>
          </a:p>
        </p:txBody>
      </p:sp>
      <p:sp>
        <p:nvSpPr>
          <p:cNvPr id="20" name="Text 18"/>
          <p:cNvSpPr/>
          <p:nvPr/>
        </p:nvSpPr>
        <p:spPr>
          <a:xfrm>
            <a:off x="502920" y="5349240"/>
            <a:ext cx="5394960" cy="320040"/>
          </a:xfrm>
          <a:prstGeom prst="rect">
            <a:avLst/>
          </a:prstGeom>
          <a:noFill/>
          <a:ln/>
        </p:spPr>
        <p:txBody>
          <a:bodyPr wrap="square" rtlCol="0" anchor="ctr"/>
          <a:lstStyle/>
          <a:p>
            <a:pPr marL="0" indent="0" algn="ctr">
              <a:buNone/>
            </a:pPr>
            <a:r>
              <a:rPr lang="en-US" sz="1500" i="1" dirty="0">
                <a:solidFill>
                  <a:srgbClr val="5A6478"/>
                </a:solidFill>
                <a:latin typeface="Calibri" pitchFamily="34" charset="0"/>
                <a:ea typeface="Calibri" pitchFamily="34" charset="-122"/>
                <a:cs typeface="Calibri" pitchFamily="34" charset="-120"/>
              </a:rPr>
              <a:t>Episodic: no arrows carry meaning between episodes.</a:t>
            </a:r>
            <a:endParaRPr lang="en-US" sz="1500" dirty="0"/>
          </a:p>
        </p:txBody>
      </p:sp>
      <p:sp>
        <p:nvSpPr>
          <p:cNvPr id="21" name="Shape 19"/>
          <p:cNvSpPr/>
          <p:nvPr/>
        </p:nvSpPr>
        <p:spPr>
          <a:xfrm>
            <a:off x="6355080" y="4480560"/>
            <a:ext cx="1539240" cy="777240"/>
          </a:xfrm>
          <a:prstGeom prst="roundRect">
            <a:avLst>
              <a:gd name="adj" fmla="val 9412"/>
            </a:avLst>
          </a:prstGeom>
          <a:solidFill>
            <a:srgbClr val="13294B"/>
          </a:solidFill>
          <a:ln/>
        </p:spPr>
      </p:sp>
      <p:sp>
        <p:nvSpPr>
          <p:cNvPr id="22" name="Text 20"/>
          <p:cNvSpPr/>
          <p:nvPr/>
        </p:nvSpPr>
        <p:spPr>
          <a:xfrm>
            <a:off x="6428232" y="4480560"/>
            <a:ext cx="1392936" cy="777240"/>
          </a:xfrm>
          <a:prstGeom prst="rect">
            <a:avLst/>
          </a:prstGeom>
          <a:noFill/>
          <a:ln/>
        </p:spPr>
        <p:txBody>
          <a:bodyPr wrap="square" rtlCol="0" anchor="ctr"/>
          <a:lstStyle/>
          <a:p>
            <a:pPr marL="0" indent="0" algn="ctr">
              <a:lnSpc>
                <a:spcPts val="1667"/>
              </a:lnSpc>
              <a:buNone/>
            </a:pPr>
            <a:r>
              <a:rPr lang="en-US" sz="1450" b="1" dirty="0">
                <a:solidFill>
                  <a:srgbClr val="FFFFFF"/>
                </a:solidFill>
                <a:latin typeface="Calibri" pitchFamily="34" charset="0"/>
                <a:ea typeface="Calibri" pitchFamily="34" charset="-122"/>
                <a:cs typeface="Calibri" pitchFamily="34" charset="-120"/>
              </a:rPr>
              <a:t>Move 1</a:t>
            </a:r>
            <a:endParaRPr lang="en-US" sz="1450" dirty="0"/>
          </a:p>
        </p:txBody>
      </p:sp>
      <p:sp>
        <p:nvSpPr>
          <p:cNvPr id="23" name="Text 21"/>
          <p:cNvSpPr/>
          <p:nvPr/>
        </p:nvSpPr>
        <p:spPr>
          <a:xfrm>
            <a:off x="7894320" y="4480560"/>
            <a:ext cx="365760" cy="777240"/>
          </a:xfrm>
          <a:prstGeom prst="rect">
            <a:avLst/>
          </a:prstGeom>
          <a:noFill/>
          <a:ln/>
        </p:spPr>
        <p:txBody>
          <a:bodyPr wrap="square" rtlCol="0" anchor="ctr"/>
          <a:lstStyle/>
          <a:p>
            <a:pPr marL="0" indent="0" algn="ctr">
              <a:buNone/>
            </a:pPr>
            <a:r>
              <a:rPr lang="en-US" sz="2400" b="1" dirty="0">
                <a:solidFill>
                  <a:srgbClr val="B08D57"/>
                </a:solidFill>
                <a:latin typeface="Calibri" pitchFamily="34" charset="0"/>
                <a:ea typeface="Calibri" pitchFamily="34" charset="-122"/>
                <a:cs typeface="Calibri" pitchFamily="34" charset="-120"/>
              </a:rPr>
              <a:t>→</a:t>
            </a:r>
            <a:endParaRPr lang="en-US" sz="2400" dirty="0"/>
          </a:p>
        </p:txBody>
      </p:sp>
      <p:sp>
        <p:nvSpPr>
          <p:cNvPr id="24" name="Shape 22"/>
          <p:cNvSpPr/>
          <p:nvPr/>
        </p:nvSpPr>
        <p:spPr>
          <a:xfrm>
            <a:off x="8260080" y="4480560"/>
            <a:ext cx="1539240" cy="777240"/>
          </a:xfrm>
          <a:prstGeom prst="roundRect">
            <a:avLst>
              <a:gd name="adj" fmla="val 9412"/>
            </a:avLst>
          </a:prstGeom>
          <a:solidFill>
            <a:srgbClr val="13294B"/>
          </a:solidFill>
          <a:ln/>
        </p:spPr>
      </p:sp>
      <p:sp>
        <p:nvSpPr>
          <p:cNvPr id="25" name="Text 23"/>
          <p:cNvSpPr/>
          <p:nvPr/>
        </p:nvSpPr>
        <p:spPr>
          <a:xfrm>
            <a:off x="8333232" y="4480560"/>
            <a:ext cx="1392936" cy="777240"/>
          </a:xfrm>
          <a:prstGeom prst="rect">
            <a:avLst/>
          </a:prstGeom>
          <a:noFill/>
          <a:ln/>
        </p:spPr>
        <p:txBody>
          <a:bodyPr wrap="square" rtlCol="0" anchor="ctr"/>
          <a:lstStyle/>
          <a:p>
            <a:pPr marL="0" indent="0" algn="ctr">
              <a:lnSpc>
                <a:spcPts val="1667"/>
              </a:lnSpc>
              <a:buNone/>
            </a:pPr>
            <a:r>
              <a:rPr lang="en-US" sz="1450" b="1" dirty="0">
                <a:solidFill>
                  <a:srgbClr val="FFFFFF"/>
                </a:solidFill>
                <a:latin typeface="Calibri" pitchFamily="34" charset="0"/>
                <a:ea typeface="Calibri" pitchFamily="34" charset="-122"/>
                <a:cs typeface="Calibri" pitchFamily="34" charset="-120"/>
              </a:rPr>
              <a:t>Move 2</a:t>
            </a:r>
            <a:endParaRPr lang="en-US" sz="1450" dirty="0"/>
          </a:p>
        </p:txBody>
      </p:sp>
      <p:sp>
        <p:nvSpPr>
          <p:cNvPr id="26" name="Text 24"/>
          <p:cNvSpPr/>
          <p:nvPr/>
        </p:nvSpPr>
        <p:spPr>
          <a:xfrm>
            <a:off x="9799320" y="4480560"/>
            <a:ext cx="365760" cy="777240"/>
          </a:xfrm>
          <a:prstGeom prst="rect">
            <a:avLst/>
          </a:prstGeom>
          <a:noFill/>
          <a:ln/>
        </p:spPr>
        <p:txBody>
          <a:bodyPr wrap="square" rtlCol="0" anchor="ctr"/>
          <a:lstStyle/>
          <a:p>
            <a:pPr marL="0" indent="0" algn="ctr">
              <a:buNone/>
            </a:pPr>
            <a:r>
              <a:rPr lang="en-US" sz="2400" b="1" dirty="0">
                <a:solidFill>
                  <a:srgbClr val="B08D57"/>
                </a:solidFill>
                <a:latin typeface="Calibri" pitchFamily="34" charset="0"/>
                <a:ea typeface="Calibri" pitchFamily="34" charset="-122"/>
                <a:cs typeface="Calibri" pitchFamily="34" charset="-120"/>
              </a:rPr>
              <a:t>→</a:t>
            </a:r>
            <a:endParaRPr lang="en-US" sz="2400" dirty="0"/>
          </a:p>
        </p:txBody>
      </p:sp>
      <p:sp>
        <p:nvSpPr>
          <p:cNvPr id="27" name="Shape 25"/>
          <p:cNvSpPr/>
          <p:nvPr/>
        </p:nvSpPr>
        <p:spPr>
          <a:xfrm>
            <a:off x="10165080" y="4480560"/>
            <a:ext cx="1539240" cy="777240"/>
          </a:xfrm>
          <a:prstGeom prst="roundRect">
            <a:avLst>
              <a:gd name="adj" fmla="val 9412"/>
            </a:avLst>
          </a:prstGeom>
          <a:solidFill>
            <a:srgbClr val="13294B"/>
          </a:solidFill>
          <a:ln/>
        </p:spPr>
      </p:sp>
      <p:sp>
        <p:nvSpPr>
          <p:cNvPr id="28" name="Text 26"/>
          <p:cNvSpPr/>
          <p:nvPr/>
        </p:nvSpPr>
        <p:spPr>
          <a:xfrm>
            <a:off x="10238232" y="4480560"/>
            <a:ext cx="1392936" cy="777240"/>
          </a:xfrm>
          <a:prstGeom prst="rect">
            <a:avLst/>
          </a:prstGeom>
          <a:noFill/>
          <a:ln/>
        </p:spPr>
        <p:txBody>
          <a:bodyPr wrap="square" rtlCol="0" anchor="ctr"/>
          <a:lstStyle/>
          <a:p>
            <a:pPr marL="0" indent="0" algn="ctr">
              <a:lnSpc>
                <a:spcPts val="1667"/>
              </a:lnSpc>
              <a:buNone/>
            </a:pPr>
            <a:r>
              <a:rPr lang="en-US" sz="1450" b="1" dirty="0">
                <a:solidFill>
                  <a:srgbClr val="FFFFFF"/>
                </a:solidFill>
                <a:latin typeface="Calibri" pitchFamily="34" charset="0"/>
                <a:ea typeface="Calibri" pitchFamily="34" charset="-122"/>
                <a:cs typeface="Calibri" pitchFamily="34" charset="-120"/>
              </a:rPr>
              <a:t>Move 3</a:t>
            </a:r>
            <a:endParaRPr lang="en-US" sz="1450" dirty="0"/>
          </a:p>
        </p:txBody>
      </p:sp>
      <p:sp>
        <p:nvSpPr>
          <p:cNvPr id="29" name="Text 27"/>
          <p:cNvSpPr/>
          <p:nvPr/>
        </p:nvSpPr>
        <p:spPr>
          <a:xfrm>
            <a:off x="6355080" y="5349240"/>
            <a:ext cx="5349240" cy="320040"/>
          </a:xfrm>
          <a:prstGeom prst="rect">
            <a:avLst/>
          </a:prstGeom>
          <a:noFill/>
          <a:ln/>
        </p:spPr>
        <p:txBody>
          <a:bodyPr wrap="square" rtlCol="0" anchor="ctr"/>
          <a:lstStyle/>
          <a:p>
            <a:pPr marL="0" indent="0" algn="ctr">
              <a:buNone/>
            </a:pPr>
            <a:r>
              <a:rPr lang="en-US" sz="1500" i="1" dirty="0">
                <a:solidFill>
                  <a:srgbClr val="5A6478"/>
                </a:solidFill>
                <a:latin typeface="Calibri" pitchFamily="34" charset="0"/>
                <a:ea typeface="Calibri" pitchFamily="34" charset="-122"/>
                <a:cs typeface="Calibri" pitchFamily="34" charset="-120"/>
              </a:rPr>
              <a:t>Sequential: each move constrains what comes next.</a:t>
            </a:r>
            <a:endParaRPr lang="en-US" sz="1500" dirty="0"/>
          </a:p>
        </p:txBody>
      </p:sp>
      <p:sp>
        <p:nvSpPr>
          <p:cNvPr id="30" name="Text 28"/>
          <p:cNvSpPr/>
          <p:nvPr/>
        </p:nvSpPr>
        <p:spPr>
          <a:xfrm>
            <a:off x="502920" y="6446520"/>
            <a:ext cx="8229600" cy="320040"/>
          </a:xfrm>
          <a:prstGeom prst="rect">
            <a:avLst/>
          </a:prstGeom>
          <a:noFill/>
          <a:ln/>
        </p:spPr>
        <p:txBody>
          <a:bodyPr wrap="square" rtlCol="0" anchor="ctr"/>
          <a:lstStyle/>
          <a:p>
            <a:pPr marL="0" indent="0">
              <a:buNone/>
            </a:pPr>
            <a:r>
              <a:rPr lang="en-US" sz="1400" i="1" dirty="0">
                <a:solidFill>
                  <a:srgbClr val="5A6478"/>
                </a:solidFill>
                <a:latin typeface="Calibri" pitchFamily="34" charset="0"/>
                <a:ea typeface="Calibri" pitchFamily="34" charset="-122"/>
                <a:cs typeface="Calibri" pitchFamily="34" charset="-120"/>
              </a:rPr>
              <a:t>AI — Intelligent Agents  |  F. Properties of AI Environments</a:t>
            </a:r>
            <a:endParaRPr lang="en-US" sz="1400" dirty="0"/>
          </a:p>
        </p:txBody>
      </p:sp>
      <p:sp>
        <p:nvSpPr>
          <p:cNvPr id="31" name="Text 29"/>
          <p:cNvSpPr/>
          <p:nvPr/>
        </p:nvSpPr>
        <p:spPr>
          <a:xfrm>
            <a:off x="10500055" y="6446520"/>
            <a:ext cx="1188720" cy="320040"/>
          </a:xfrm>
          <a:prstGeom prst="rect">
            <a:avLst/>
          </a:prstGeom>
          <a:noFill/>
          <a:ln/>
        </p:spPr>
        <p:txBody>
          <a:bodyPr wrap="square" rtlCol="0" anchor="ctr"/>
          <a:lstStyle/>
          <a:p>
            <a:pPr marL="0" indent="0" algn="r">
              <a:buNone/>
            </a:pPr>
            <a:r>
              <a:rPr lang="en-US" sz="1400" dirty="0">
                <a:solidFill>
                  <a:srgbClr val="5A6478"/>
                </a:solidFill>
                <a:latin typeface="Calibri" pitchFamily="34" charset="0"/>
                <a:ea typeface="Calibri" pitchFamily="34" charset="-122"/>
                <a:cs typeface="Calibri" pitchFamily="34" charset="-120"/>
              </a:rPr>
              <a:t>37 / 40</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85855" cy="347472"/>
          </a:xfrm>
          <a:prstGeom prst="rect">
            <a:avLst/>
          </a:prstGeom>
          <a:noFill/>
          <a:ln/>
        </p:spPr>
        <p:txBody>
          <a:bodyPr wrap="square" rtlCol="0" anchor="ctr"/>
          <a:lstStyle/>
          <a:p>
            <a:pPr marL="0" indent="0">
              <a:buNone/>
            </a:pPr>
            <a:r>
              <a:rPr lang="en-US" sz="1500" b="1" kern="0" spc="150" dirty="0">
                <a:solidFill>
                  <a:srgbClr val="B08D57"/>
                </a:solidFill>
                <a:latin typeface="Calibri" pitchFamily="34" charset="0"/>
                <a:ea typeface="Calibri" pitchFamily="34" charset="-122"/>
                <a:cs typeface="Calibri" pitchFamily="34" charset="-120"/>
              </a:rPr>
              <a:t>F. PROPERTIES OF AI ENVIRONMENTS</a:t>
            </a:r>
            <a:endParaRPr lang="en-US" sz="1500" dirty="0"/>
          </a:p>
        </p:txBody>
      </p:sp>
      <p:sp>
        <p:nvSpPr>
          <p:cNvPr id="3" name="Text 1"/>
          <p:cNvSpPr txBox="1"/>
          <p:nvPr/>
        </p:nvSpPr>
        <p:spPr>
          <a:xfrm>
            <a:off x="502920" y="676656"/>
            <a:ext cx="11185855" cy="1417320"/>
          </a:xfrm>
          <a:prstGeom prst="rect">
            <a:avLst/>
          </a:prstGeom>
          <a:noFill/>
          <a:ln/>
        </p:spPr>
        <p:txBody>
          <a:bodyPr wrap="square" rtlCol="0" anchor="t"/>
          <a:lstStyle/>
          <a:p>
            <a:pPr marL="0" indent="0">
              <a:lnSpc>
                <a:spcPts val="3584"/>
              </a:lnSpc>
              <a:buNone/>
            </a:pPr>
            <a:r>
              <a:rPr lang="en-US" sz="3200" b="1" dirty="0">
                <a:solidFill>
                  <a:srgbClr val="0B1E3D"/>
                </a:solidFill>
                <a:latin typeface="Cambria" pitchFamily="34" charset="0"/>
                <a:ea typeface="Cambria" pitchFamily="34" charset="-122"/>
                <a:cs typeface="Cambria" pitchFamily="34" charset="-120"/>
              </a:rPr>
              <a:t>Static vs. Dynamic</a:t>
            </a:r>
            <a:endParaRPr lang="en-US" sz="3200" dirty="0"/>
          </a:p>
        </p:txBody>
      </p:sp>
      <p:sp>
        <p:nvSpPr>
          <p:cNvPr id="4" name="Shape 2"/>
          <p:cNvSpPr/>
          <p:nvPr/>
        </p:nvSpPr>
        <p:spPr>
          <a:xfrm>
            <a:off x="502920" y="1828800"/>
            <a:ext cx="5432908" cy="2651760"/>
          </a:xfrm>
          <a:prstGeom prst="roundRect">
            <a:avLst>
              <a:gd name="adj" fmla="val 2759"/>
            </a:avLst>
          </a:prstGeom>
          <a:solidFill>
            <a:srgbClr val="0B1E3D"/>
          </a:solidFill>
          <a:ln/>
        </p:spPr>
      </p:sp>
      <p:sp>
        <p:nvSpPr>
          <p:cNvPr id="5" name="Text 3"/>
          <p:cNvSpPr/>
          <p:nvPr/>
        </p:nvSpPr>
        <p:spPr>
          <a:xfrm>
            <a:off x="758952" y="1993392"/>
            <a:ext cx="4920844" cy="502920"/>
          </a:xfrm>
          <a:prstGeom prst="rect">
            <a:avLst/>
          </a:prstGeom>
          <a:noFill/>
          <a:ln/>
        </p:spPr>
        <p:txBody>
          <a:bodyPr wrap="square" rtlCol="0" anchor="ctr"/>
          <a:lstStyle/>
          <a:p>
            <a:pPr marL="0" indent="0">
              <a:buNone/>
            </a:pPr>
            <a:r>
              <a:rPr lang="en-US" sz="2000" b="1" dirty="0">
                <a:solidFill>
                  <a:srgbClr val="B08D57"/>
                </a:solidFill>
                <a:latin typeface="Cambria" pitchFamily="34" charset="0"/>
                <a:ea typeface="Cambria" pitchFamily="34" charset="-122"/>
                <a:cs typeface="Cambria" pitchFamily="34" charset="-120"/>
              </a:rPr>
              <a:t>Static</a:t>
            </a:r>
            <a:endParaRPr lang="en-US" sz="2000" dirty="0"/>
          </a:p>
        </p:txBody>
      </p:sp>
      <p:sp>
        <p:nvSpPr>
          <p:cNvPr id="6" name="Text 4"/>
          <p:cNvSpPr/>
          <p:nvPr/>
        </p:nvSpPr>
        <p:spPr>
          <a:xfrm>
            <a:off x="758952" y="2542032"/>
            <a:ext cx="4920844" cy="822960"/>
          </a:xfrm>
          <a:prstGeom prst="rect">
            <a:avLst/>
          </a:prstGeom>
          <a:noFill/>
          <a:ln/>
        </p:spPr>
        <p:txBody>
          <a:bodyPr wrap="square" rtlCol="0" anchor="ctr"/>
          <a:lstStyle/>
          <a:p>
            <a:pPr marL="0" indent="0">
              <a:lnSpc>
                <a:spcPts val="2250"/>
              </a:lnSpc>
              <a:buNone/>
            </a:pPr>
            <a:r>
              <a:rPr lang="en-US" sz="1800" i="1" dirty="0">
                <a:solidFill>
                  <a:srgbClr val="E7EBF3"/>
                </a:solidFill>
                <a:latin typeface="Calibri" pitchFamily="34" charset="0"/>
                <a:ea typeface="Calibri" pitchFamily="34" charset="-122"/>
                <a:cs typeface="Calibri" pitchFamily="34" charset="-120"/>
              </a:rPr>
              <a:t>The environment does not change while the agent is deciding what to do.</a:t>
            </a:r>
            <a:endParaRPr lang="en-US" sz="1800" dirty="0"/>
          </a:p>
        </p:txBody>
      </p:sp>
      <p:sp>
        <p:nvSpPr>
          <p:cNvPr id="7" name="Text 5"/>
          <p:cNvSpPr/>
          <p:nvPr/>
        </p:nvSpPr>
        <p:spPr>
          <a:xfrm>
            <a:off x="758952" y="3474720"/>
            <a:ext cx="4920844" cy="868680"/>
          </a:xfrm>
          <a:prstGeom prst="rect">
            <a:avLst/>
          </a:prstGeom>
          <a:noFill/>
          <a:ln/>
        </p:spPr>
        <p:txBody>
          <a:bodyPr wrap="square" lIns="0" tIns="0" rIns="0" bIns="0" rtlCol="0" anchor="t"/>
          <a:lstStyle/>
          <a:p>
            <a:pPr marL="228600" indent="-228600">
              <a:spcAft>
                <a:spcPts val="600"/>
              </a:spcAft>
              <a:buSzPct val="100000"/>
              <a:buChar char="▪"/>
            </a:pPr>
            <a:r>
              <a:rPr lang="en-US" sz="1800" dirty="0">
                <a:solidFill>
                  <a:srgbClr val="E7EBF3"/>
                </a:solidFill>
                <a:latin typeface="Calibri" pitchFamily="34" charset="0"/>
                <a:ea typeface="Calibri" pitchFamily="34" charset="-122"/>
                <a:cs typeface="Calibri" pitchFamily="34" charset="-120"/>
              </a:rPr>
              <a:t>A crossword puzzle, an offline board configuration</a:t>
            </a:r>
            <a:endParaRPr lang="en-US" sz="1800" dirty="0"/>
          </a:p>
        </p:txBody>
      </p:sp>
      <p:sp>
        <p:nvSpPr>
          <p:cNvPr id="8" name="Shape 6"/>
          <p:cNvSpPr/>
          <p:nvPr/>
        </p:nvSpPr>
        <p:spPr>
          <a:xfrm>
            <a:off x="6255868" y="1828800"/>
            <a:ext cx="5432908" cy="2651760"/>
          </a:xfrm>
          <a:prstGeom prst="roundRect">
            <a:avLst>
              <a:gd name="adj" fmla="val 2759"/>
            </a:avLst>
          </a:prstGeom>
          <a:solidFill>
            <a:srgbClr val="F3F5F8"/>
          </a:solidFill>
          <a:ln w="12700">
            <a:solidFill>
              <a:srgbClr val="D8DCE3"/>
            </a:solidFill>
            <a:prstDash val="solid"/>
          </a:ln>
        </p:spPr>
      </p:sp>
      <p:sp>
        <p:nvSpPr>
          <p:cNvPr id="9" name="Text 7"/>
          <p:cNvSpPr/>
          <p:nvPr/>
        </p:nvSpPr>
        <p:spPr>
          <a:xfrm>
            <a:off x="6511900" y="1993392"/>
            <a:ext cx="4920844" cy="502920"/>
          </a:xfrm>
          <a:prstGeom prst="rect">
            <a:avLst/>
          </a:prstGeom>
          <a:noFill/>
          <a:ln/>
        </p:spPr>
        <p:txBody>
          <a:bodyPr wrap="square" rtlCol="0" anchor="ctr"/>
          <a:lstStyle/>
          <a:p>
            <a:pPr marL="0" indent="0">
              <a:buNone/>
            </a:pPr>
            <a:r>
              <a:rPr lang="en-US" sz="2000" b="1" dirty="0">
                <a:solidFill>
                  <a:srgbClr val="0B1E3D"/>
                </a:solidFill>
                <a:latin typeface="Cambria" pitchFamily="34" charset="0"/>
                <a:ea typeface="Cambria" pitchFamily="34" charset="-122"/>
                <a:cs typeface="Cambria" pitchFamily="34" charset="-120"/>
              </a:rPr>
              <a:t>Dynamic</a:t>
            </a:r>
            <a:endParaRPr lang="en-US" sz="2000" dirty="0"/>
          </a:p>
        </p:txBody>
      </p:sp>
      <p:sp>
        <p:nvSpPr>
          <p:cNvPr id="10" name="Text 8"/>
          <p:cNvSpPr/>
          <p:nvPr/>
        </p:nvSpPr>
        <p:spPr>
          <a:xfrm>
            <a:off x="6511900" y="2542032"/>
            <a:ext cx="4920844" cy="822960"/>
          </a:xfrm>
          <a:prstGeom prst="rect">
            <a:avLst/>
          </a:prstGeom>
          <a:noFill/>
          <a:ln/>
        </p:spPr>
        <p:txBody>
          <a:bodyPr wrap="square" rtlCol="0" anchor="ctr"/>
          <a:lstStyle/>
          <a:p>
            <a:pPr marL="0" indent="0">
              <a:lnSpc>
                <a:spcPts val="2250"/>
              </a:lnSpc>
              <a:buNone/>
            </a:pPr>
            <a:r>
              <a:rPr lang="en-US" sz="1800" i="1" dirty="0">
                <a:solidFill>
                  <a:srgbClr val="1A1F2B"/>
                </a:solidFill>
                <a:latin typeface="Calibri" pitchFamily="34" charset="0"/>
                <a:ea typeface="Calibri" pitchFamily="34" charset="-122"/>
                <a:cs typeface="Calibri" pitchFamily="34" charset="-120"/>
              </a:rPr>
              <a:t>The environment can change WHILE the agent is still deciding.</a:t>
            </a:r>
            <a:endParaRPr lang="en-US" sz="1800" dirty="0"/>
          </a:p>
        </p:txBody>
      </p:sp>
      <p:sp>
        <p:nvSpPr>
          <p:cNvPr id="11" name="Text 9"/>
          <p:cNvSpPr/>
          <p:nvPr/>
        </p:nvSpPr>
        <p:spPr>
          <a:xfrm>
            <a:off x="6511900" y="3474720"/>
            <a:ext cx="4920844" cy="868680"/>
          </a:xfrm>
          <a:prstGeom prst="rect">
            <a:avLst/>
          </a:prstGeom>
          <a:noFill/>
          <a:ln/>
        </p:spPr>
        <p:txBody>
          <a:bodyPr wrap="square" lIns="0" tIns="0" rIns="0" bIns="0" rtlCol="0" anchor="t"/>
          <a:lstStyle/>
          <a:p>
            <a:pPr marL="228600" indent="-228600">
              <a:spcAft>
                <a:spcPts val="600"/>
              </a:spcAft>
              <a:buSzPct val="100000"/>
              <a:buChar char="▪"/>
            </a:pPr>
            <a:r>
              <a:rPr lang="en-US" sz="1800" dirty="0">
                <a:solidFill>
                  <a:srgbClr val="1A1F2B"/>
                </a:solidFill>
                <a:latin typeface="Calibri" pitchFamily="34" charset="0"/>
                <a:ea typeface="Calibri" pitchFamily="34" charset="-122"/>
                <a:cs typeface="Calibri" pitchFamily="34" charset="-120"/>
              </a:rPr>
              <a:t>Autonomous driving, air traffic control, robot navigation, online trading</a:t>
            </a:r>
            <a:endParaRPr lang="en-US" sz="1800" dirty="0"/>
          </a:p>
        </p:txBody>
      </p:sp>
      <p:sp>
        <p:nvSpPr>
          <p:cNvPr id="12" name="Text 10"/>
          <p:cNvSpPr/>
          <p:nvPr/>
        </p:nvSpPr>
        <p:spPr>
          <a:xfrm>
            <a:off x="502920" y="4709160"/>
            <a:ext cx="11185855" cy="685800"/>
          </a:xfrm>
          <a:prstGeom prst="rect">
            <a:avLst/>
          </a:prstGeom>
          <a:noFill/>
          <a:ln/>
        </p:spPr>
        <p:txBody>
          <a:bodyPr wrap="square" rtlCol="0" anchor="t"/>
          <a:lstStyle/>
          <a:p>
            <a:pPr marL="0" indent="0">
              <a:lnSpc>
                <a:spcPts val="2280"/>
              </a:lnSpc>
              <a:buNone/>
            </a:pPr>
            <a:r>
              <a:rPr lang="en-US" sz="1900" b="1" dirty="0">
                <a:solidFill>
                  <a:srgbClr val="0B1E3D"/>
                </a:solidFill>
                <a:latin typeface="Calibri" pitchFamily="34" charset="0"/>
                <a:ea typeface="Calibri" pitchFamily="34" charset="-122"/>
                <a:cs typeface="Calibri" pitchFamily="34" charset="-120"/>
              </a:rPr>
              <a:t>A useful middle case — “semidynamic”:  </a:t>
            </a:r>
            <a:r>
              <a:rPr lang="en-US" sz="1900" dirty="0">
                <a:solidFill>
                  <a:srgbClr val="1A1F2B"/>
                </a:solidFill>
                <a:latin typeface="Calibri" pitchFamily="34" charset="0"/>
                <a:ea typeface="Calibri" pitchFamily="34" charset="-122"/>
                <a:cs typeface="Calibri" pitchFamily="34" charset="-120"/>
              </a:rPr>
              <a:t>the environment itself does not change, but the agent's PERFORMANCE SCORE does (e.g. a chess clock ticking while a player thinks).</a:t>
            </a:r>
            <a:endParaRPr lang="en-US" sz="1900" dirty="0"/>
          </a:p>
        </p:txBody>
      </p:sp>
      <p:sp>
        <p:nvSpPr>
          <p:cNvPr id="13" name="Shape 11"/>
          <p:cNvSpPr/>
          <p:nvPr/>
        </p:nvSpPr>
        <p:spPr>
          <a:xfrm>
            <a:off x="502920" y="5486400"/>
            <a:ext cx="11185855" cy="548640"/>
          </a:xfrm>
          <a:prstGeom prst="roundRect">
            <a:avLst>
              <a:gd name="adj" fmla="val 13333"/>
            </a:avLst>
          </a:prstGeom>
          <a:solidFill>
            <a:srgbClr val="FBF3E6"/>
          </a:solidFill>
          <a:ln w="12700">
            <a:solidFill>
              <a:srgbClr val="B08D57"/>
            </a:solidFill>
            <a:prstDash val="solid"/>
          </a:ln>
        </p:spPr>
      </p:sp>
      <p:sp>
        <p:nvSpPr>
          <p:cNvPr id="14" name="Text 12"/>
          <p:cNvSpPr/>
          <p:nvPr/>
        </p:nvSpPr>
        <p:spPr>
          <a:xfrm>
            <a:off x="502920" y="5486400"/>
            <a:ext cx="11185855" cy="548640"/>
          </a:xfrm>
          <a:prstGeom prst="rect">
            <a:avLst/>
          </a:prstGeom>
          <a:noFill/>
          <a:ln/>
        </p:spPr>
        <p:txBody>
          <a:bodyPr wrap="square" rtlCol="0" anchor="ctr"/>
          <a:lstStyle/>
          <a:p>
            <a:pPr marL="0" indent="0" algn="ctr">
              <a:buNone/>
            </a:pPr>
            <a:r>
              <a:rPr lang="en-US" sz="1700" b="1" i="1" dirty="0">
                <a:solidFill>
                  <a:srgbClr val="0B1E3D"/>
                </a:solidFill>
                <a:latin typeface="Cambria" pitchFamily="34" charset="0"/>
                <a:ea typeface="Cambria" pitchFamily="34" charset="-122"/>
                <a:cs typeface="Cambria" pitchFamily="34" charset="-120"/>
              </a:rPr>
              <a:t>Dynamic environments punish slow decision-making — delay itself has a cost.</a:t>
            </a:r>
            <a:endParaRPr lang="en-US" sz="1700" dirty="0"/>
          </a:p>
        </p:txBody>
      </p:sp>
      <p:sp>
        <p:nvSpPr>
          <p:cNvPr id="15" name="Text 13"/>
          <p:cNvSpPr/>
          <p:nvPr/>
        </p:nvSpPr>
        <p:spPr>
          <a:xfrm>
            <a:off x="502920" y="6446520"/>
            <a:ext cx="8229600" cy="320040"/>
          </a:xfrm>
          <a:prstGeom prst="rect">
            <a:avLst/>
          </a:prstGeom>
          <a:noFill/>
          <a:ln/>
        </p:spPr>
        <p:txBody>
          <a:bodyPr wrap="square" rtlCol="0" anchor="ctr"/>
          <a:lstStyle/>
          <a:p>
            <a:pPr marL="0" indent="0">
              <a:buNone/>
            </a:pPr>
            <a:r>
              <a:rPr lang="en-US" sz="1400" i="1" dirty="0">
                <a:solidFill>
                  <a:srgbClr val="5A6478"/>
                </a:solidFill>
                <a:latin typeface="Calibri" pitchFamily="34" charset="0"/>
                <a:ea typeface="Calibri" pitchFamily="34" charset="-122"/>
                <a:cs typeface="Calibri" pitchFamily="34" charset="-120"/>
              </a:rPr>
              <a:t>AI — Intelligent Agents  |  F. Properties of AI Environments</a:t>
            </a:r>
            <a:endParaRPr lang="en-US" sz="1400" dirty="0"/>
          </a:p>
        </p:txBody>
      </p:sp>
      <p:sp>
        <p:nvSpPr>
          <p:cNvPr id="16" name="Text 14"/>
          <p:cNvSpPr/>
          <p:nvPr/>
        </p:nvSpPr>
        <p:spPr>
          <a:xfrm>
            <a:off x="10500055" y="6446520"/>
            <a:ext cx="1188720" cy="320040"/>
          </a:xfrm>
          <a:prstGeom prst="rect">
            <a:avLst/>
          </a:prstGeom>
          <a:noFill/>
          <a:ln/>
        </p:spPr>
        <p:txBody>
          <a:bodyPr wrap="square" rtlCol="0" anchor="ctr"/>
          <a:lstStyle/>
          <a:p>
            <a:pPr marL="0" indent="0" algn="r">
              <a:buNone/>
            </a:pPr>
            <a:r>
              <a:rPr lang="en-US" sz="1400" dirty="0">
                <a:solidFill>
                  <a:srgbClr val="5A6478"/>
                </a:solidFill>
                <a:latin typeface="Calibri" pitchFamily="34" charset="0"/>
                <a:ea typeface="Calibri" pitchFamily="34" charset="-122"/>
                <a:cs typeface="Calibri" pitchFamily="34" charset="-120"/>
              </a:rPr>
              <a:t>38 / 40</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85855" cy="347472"/>
          </a:xfrm>
          <a:prstGeom prst="rect">
            <a:avLst/>
          </a:prstGeom>
          <a:noFill/>
          <a:ln/>
        </p:spPr>
        <p:txBody>
          <a:bodyPr wrap="square" rtlCol="0" anchor="ctr"/>
          <a:lstStyle/>
          <a:p>
            <a:pPr marL="0" indent="0">
              <a:buNone/>
            </a:pPr>
            <a:r>
              <a:rPr lang="en-US" sz="1500" b="1" kern="0" spc="150" dirty="0">
                <a:solidFill>
                  <a:srgbClr val="B08D57"/>
                </a:solidFill>
                <a:latin typeface="Calibri" pitchFamily="34" charset="0"/>
                <a:ea typeface="Calibri" pitchFamily="34" charset="-122"/>
                <a:cs typeface="Calibri" pitchFamily="34" charset="-120"/>
              </a:rPr>
              <a:t>F. PROPERTIES OF AI ENVIRONMENTS</a:t>
            </a:r>
            <a:endParaRPr lang="en-US" sz="1500" dirty="0"/>
          </a:p>
        </p:txBody>
      </p:sp>
      <p:sp>
        <p:nvSpPr>
          <p:cNvPr id="3" name="Text 1"/>
          <p:cNvSpPr txBox="1"/>
          <p:nvPr/>
        </p:nvSpPr>
        <p:spPr>
          <a:xfrm>
            <a:off x="502920" y="676656"/>
            <a:ext cx="11185855" cy="1417320"/>
          </a:xfrm>
          <a:prstGeom prst="rect">
            <a:avLst/>
          </a:prstGeom>
          <a:noFill/>
          <a:ln/>
        </p:spPr>
        <p:txBody>
          <a:bodyPr wrap="square" rtlCol="0" anchor="t"/>
          <a:lstStyle/>
          <a:p>
            <a:pPr marL="0" indent="0">
              <a:lnSpc>
                <a:spcPts val="3136"/>
              </a:lnSpc>
              <a:buNone/>
            </a:pPr>
            <a:r>
              <a:rPr lang="en-US" sz="2800" b="1" dirty="0">
                <a:solidFill>
                  <a:srgbClr val="0B1E3D"/>
                </a:solidFill>
                <a:latin typeface="Cambria" pitchFamily="34" charset="0"/>
                <a:ea typeface="Cambria" pitchFamily="34" charset="-122"/>
                <a:cs typeface="Cambria" pitchFamily="34" charset="-120"/>
              </a:rPr>
              <a:t>Discrete/Continuous &amp; Single/Multi-Agent</a:t>
            </a:r>
            <a:endParaRPr lang="en-US" sz="2800" dirty="0"/>
          </a:p>
        </p:txBody>
      </p:sp>
      <p:sp>
        <p:nvSpPr>
          <p:cNvPr id="4" name="Text 2"/>
          <p:cNvSpPr/>
          <p:nvPr/>
        </p:nvSpPr>
        <p:spPr>
          <a:xfrm>
            <a:off x="502920" y="1828800"/>
            <a:ext cx="11185855" cy="274320"/>
          </a:xfrm>
          <a:prstGeom prst="rect">
            <a:avLst/>
          </a:prstGeom>
          <a:noFill/>
          <a:ln/>
        </p:spPr>
        <p:txBody>
          <a:bodyPr wrap="square" rtlCol="0" anchor="ctr"/>
          <a:lstStyle/>
          <a:p>
            <a:pPr marL="0" indent="0">
              <a:buNone/>
            </a:pPr>
            <a:r>
              <a:rPr lang="en-US" sz="1400" b="1" kern="0" spc="100" dirty="0">
                <a:solidFill>
                  <a:srgbClr val="B08D57"/>
                </a:solidFill>
                <a:latin typeface="Calibri" pitchFamily="34" charset="0"/>
                <a:ea typeface="Calibri" pitchFamily="34" charset="-122"/>
                <a:cs typeface="Calibri" pitchFamily="34" charset="-120"/>
              </a:rPr>
              <a:t>PANEL A — DISCRETE VS. CONTINUOUS</a:t>
            </a:r>
            <a:endParaRPr lang="en-US" sz="1400" dirty="0"/>
          </a:p>
        </p:txBody>
      </p:sp>
      <p:sp>
        <p:nvSpPr>
          <p:cNvPr id="5" name="Shape 3"/>
          <p:cNvSpPr/>
          <p:nvPr/>
        </p:nvSpPr>
        <p:spPr>
          <a:xfrm>
            <a:off x="502920" y="2148840"/>
            <a:ext cx="5432908" cy="1783080"/>
          </a:xfrm>
          <a:prstGeom prst="roundRect">
            <a:avLst>
              <a:gd name="adj" fmla="val 4103"/>
            </a:avLst>
          </a:prstGeom>
          <a:solidFill>
            <a:srgbClr val="0B1E3D"/>
          </a:solidFill>
          <a:ln/>
        </p:spPr>
      </p:sp>
      <p:sp>
        <p:nvSpPr>
          <p:cNvPr id="6" name="Text 4"/>
          <p:cNvSpPr/>
          <p:nvPr/>
        </p:nvSpPr>
        <p:spPr>
          <a:xfrm>
            <a:off x="758952" y="2313432"/>
            <a:ext cx="4920844" cy="502920"/>
          </a:xfrm>
          <a:prstGeom prst="rect">
            <a:avLst/>
          </a:prstGeom>
          <a:noFill/>
          <a:ln/>
        </p:spPr>
        <p:txBody>
          <a:bodyPr wrap="square" rtlCol="0" anchor="ctr"/>
          <a:lstStyle/>
          <a:p>
            <a:pPr marL="0" indent="0">
              <a:buNone/>
            </a:pPr>
            <a:r>
              <a:rPr lang="en-US" sz="1800" b="1" dirty="0">
                <a:solidFill>
                  <a:srgbClr val="B08D57"/>
                </a:solidFill>
                <a:latin typeface="Cambria" pitchFamily="34" charset="0"/>
                <a:ea typeface="Cambria" pitchFamily="34" charset="-122"/>
                <a:cs typeface="Cambria" pitchFamily="34" charset="-120"/>
              </a:rPr>
              <a:t>Discrete</a:t>
            </a:r>
            <a:endParaRPr lang="en-US" sz="1800" dirty="0"/>
          </a:p>
        </p:txBody>
      </p:sp>
      <p:sp>
        <p:nvSpPr>
          <p:cNvPr id="7" name="Text 5"/>
          <p:cNvSpPr/>
          <p:nvPr/>
        </p:nvSpPr>
        <p:spPr>
          <a:xfrm>
            <a:off x="758952" y="2834640"/>
            <a:ext cx="4920844" cy="960120"/>
          </a:xfrm>
          <a:prstGeom prst="rect">
            <a:avLst/>
          </a:prstGeom>
          <a:noFill/>
          <a:ln/>
        </p:spPr>
        <p:txBody>
          <a:bodyPr wrap="square" lIns="0" tIns="0" rIns="0" bIns="0" rtlCol="0" anchor="t"/>
          <a:lstStyle/>
          <a:p>
            <a:pPr marL="228600" indent="-228600">
              <a:spcAft>
                <a:spcPts val="800"/>
              </a:spcAft>
              <a:buSzPct val="100000"/>
              <a:buChar char="▪"/>
            </a:pPr>
            <a:r>
              <a:rPr lang="en-US" sz="1550" dirty="0">
                <a:solidFill>
                  <a:srgbClr val="E7EBF3"/>
                </a:solidFill>
                <a:latin typeface="Calibri" pitchFamily="34" charset="0"/>
                <a:ea typeface="Calibri" pitchFamily="34" charset="-122"/>
                <a:cs typeface="Calibri" pitchFamily="34" charset="-120"/>
              </a:rPr>
              <a:t>A finite number of distinct states and actions.</a:t>
            </a:r>
            <a:endParaRPr lang="en-US" sz="1550" dirty="0"/>
          </a:p>
          <a:p>
            <a:pPr marL="228600" indent="-228600">
              <a:spcAft>
                <a:spcPts val="800"/>
              </a:spcAft>
              <a:buSzPct val="100000"/>
              <a:buChar char="▪"/>
            </a:pPr>
            <a:r>
              <a:rPr lang="en-US" sz="1550" dirty="0">
                <a:solidFill>
                  <a:srgbClr val="E7EBF3"/>
                </a:solidFill>
                <a:latin typeface="Calibri" pitchFamily="34" charset="0"/>
                <a:ea typeface="Calibri" pitchFamily="34" charset="-122"/>
                <a:cs typeface="Calibri" pitchFamily="34" charset="-120"/>
              </a:rPr>
              <a:t>Chess, tic-tac-toe</a:t>
            </a:r>
            <a:endParaRPr lang="en-US" sz="1550" dirty="0"/>
          </a:p>
        </p:txBody>
      </p:sp>
      <p:sp>
        <p:nvSpPr>
          <p:cNvPr id="8" name="Shape 6"/>
          <p:cNvSpPr/>
          <p:nvPr/>
        </p:nvSpPr>
        <p:spPr>
          <a:xfrm>
            <a:off x="6255868" y="2148840"/>
            <a:ext cx="5432908" cy="1783080"/>
          </a:xfrm>
          <a:prstGeom prst="roundRect">
            <a:avLst>
              <a:gd name="adj" fmla="val 4103"/>
            </a:avLst>
          </a:prstGeom>
          <a:solidFill>
            <a:srgbClr val="F3F5F8"/>
          </a:solidFill>
          <a:ln w="12700">
            <a:solidFill>
              <a:srgbClr val="D8DCE3"/>
            </a:solidFill>
            <a:prstDash val="solid"/>
          </a:ln>
        </p:spPr>
      </p:sp>
      <p:sp>
        <p:nvSpPr>
          <p:cNvPr id="9" name="Text 7"/>
          <p:cNvSpPr/>
          <p:nvPr/>
        </p:nvSpPr>
        <p:spPr>
          <a:xfrm>
            <a:off x="6511900" y="2313432"/>
            <a:ext cx="4920844" cy="502920"/>
          </a:xfrm>
          <a:prstGeom prst="rect">
            <a:avLst/>
          </a:prstGeom>
          <a:noFill/>
          <a:ln/>
        </p:spPr>
        <p:txBody>
          <a:bodyPr wrap="square" rtlCol="0" anchor="ctr"/>
          <a:lstStyle/>
          <a:p>
            <a:pPr marL="0" indent="0">
              <a:buNone/>
            </a:pPr>
            <a:r>
              <a:rPr lang="en-US" sz="1800" b="1" dirty="0">
                <a:solidFill>
                  <a:srgbClr val="0B1E3D"/>
                </a:solidFill>
                <a:latin typeface="Cambria" pitchFamily="34" charset="0"/>
                <a:ea typeface="Cambria" pitchFamily="34" charset="-122"/>
                <a:cs typeface="Cambria" pitchFamily="34" charset="-120"/>
              </a:rPr>
              <a:t>Continuous</a:t>
            </a:r>
            <a:endParaRPr lang="en-US" sz="1800" dirty="0"/>
          </a:p>
        </p:txBody>
      </p:sp>
      <p:sp>
        <p:nvSpPr>
          <p:cNvPr id="10" name="Text 8"/>
          <p:cNvSpPr/>
          <p:nvPr/>
        </p:nvSpPr>
        <p:spPr>
          <a:xfrm>
            <a:off x="6511900" y="2834640"/>
            <a:ext cx="4920844" cy="960120"/>
          </a:xfrm>
          <a:prstGeom prst="rect">
            <a:avLst/>
          </a:prstGeom>
          <a:noFill/>
          <a:ln/>
        </p:spPr>
        <p:txBody>
          <a:bodyPr wrap="square" lIns="0" tIns="0" rIns="0" bIns="0" rtlCol="0" anchor="t"/>
          <a:lstStyle/>
          <a:p>
            <a:pPr marL="228600" indent="-228600">
              <a:spcAft>
                <a:spcPts val="800"/>
              </a:spcAft>
              <a:buSzPct val="100000"/>
              <a:buChar char="▪"/>
            </a:pPr>
            <a:r>
              <a:rPr lang="en-US" sz="1550" dirty="0">
                <a:solidFill>
                  <a:srgbClr val="1A1F2B"/>
                </a:solidFill>
                <a:latin typeface="Calibri" pitchFamily="34" charset="0"/>
                <a:ea typeface="Calibri" pitchFamily="34" charset="-122"/>
                <a:cs typeface="Calibri" pitchFamily="34" charset="-120"/>
              </a:rPr>
              <a:t>States and actions vary smoothly over a continuous range.</a:t>
            </a:r>
            <a:endParaRPr lang="en-US" sz="1550" dirty="0"/>
          </a:p>
          <a:p>
            <a:pPr marL="228600" indent="-228600">
              <a:spcAft>
                <a:spcPts val="800"/>
              </a:spcAft>
              <a:buSzPct val="100000"/>
              <a:buChar char="▪"/>
            </a:pPr>
            <a:r>
              <a:rPr lang="en-US" sz="1550" dirty="0">
                <a:solidFill>
                  <a:srgbClr val="1A1F2B"/>
                </a:solidFill>
                <a:latin typeface="Calibri" pitchFamily="34" charset="0"/>
                <a:ea typeface="Calibri" pitchFamily="34" charset="-122"/>
                <a:cs typeface="Calibri" pitchFamily="34" charset="-120"/>
              </a:rPr>
              <a:t>Robot-arm movement, autonomous driving, aircraft control, temperature control</a:t>
            </a:r>
            <a:endParaRPr lang="en-US" sz="1550" dirty="0"/>
          </a:p>
        </p:txBody>
      </p:sp>
      <p:sp>
        <p:nvSpPr>
          <p:cNvPr id="11" name="Text 9"/>
          <p:cNvSpPr/>
          <p:nvPr/>
        </p:nvSpPr>
        <p:spPr>
          <a:xfrm>
            <a:off x="502920" y="4069080"/>
            <a:ext cx="11185855" cy="274320"/>
          </a:xfrm>
          <a:prstGeom prst="rect">
            <a:avLst/>
          </a:prstGeom>
          <a:noFill/>
          <a:ln/>
        </p:spPr>
        <p:txBody>
          <a:bodyPr wrap="square" rtlCol="0" anchor="ctr"/>
          <a:lstStyle/>
          <a:p>
            <a:pPr marL="0" indent="0">
              <a:buNone/>
            </a:pPr>
            <a:r>
              <a:rPr lang="en-US" sz="1400" b="1" kern="0" spc="100" dirty="0">
                <a:solidFill>
                  <a:srgbClr val="B08D57"/>
                </a:solidFill>
                <a:latin typeface="Calibri" pitchFamily="34" charset="0"/>
                <a:ea typeface="Calibri" pitchFamily="34" charset="-122"/>
                <a:cs typeface="Calibri" pitchFamily="34" charset="-120"/>
              </a:rPr>
              <a:t>PANEL B — SINGLE-AGENT VS. MULTI-AGENT</a:t>
            </a:r>
            <a:endParaRPr lang="en-US" sz="1400" dirty="0"/>
          </a:p>
        </p:txBody>
      </p:sp>
      <p:sp>
        <p:nvSpPr>
          <p:cNvPr id="12" name="Shape 10"/>
          <p:cNvSpPr/>
          <p:nvPr/>
        </p:nvSpPr>
        <p:spPr>
          <a:xfrm>
            <a:off x="502920" y="4389120"/>
            <a:ext cx="5432908" cy="1783080"/>
          </a:xfrm>
          <a:prstGeom prst="roundRect">
            <a:avLst>
              <a:gd name="adj" fmla="val 4103"/>
            </a:avLst>
          </a:prstGeom>
          <a:solidFill>
            <a:srgbClr val="0B1E3D"/>
          </a:solidFill>
          <a:ln/>
        </p:spPr>
      </p:sp>
      <p:sp>
        <p:nvSpPr>
          <p:cNvPr id="13" name="Text 11"/>
          <p:cNvSpPr/>
          <p:nvPr/>
        </p:nvSpPr>
        <p:spPr>
          <a:xfrm>
            <a:off x="758952" y="4553712"/>
            <a:ext cx="4920844" cy="502920"/>
          </a:xfrm>
          <a:prstGeom prst="rect">
            <a:avLst/>
          </a:prstGeom>
          <a:noFill/>
          <a:ln/>
        </p:spPr>
        <p:txBody>
          <a:bodyPr wrap="square" rtlCol="0" anchor="ctr"/>
          <a:lstStyle/>
          <a:p>
            <a:pPr marL="0" indent="0">
              <a:buNone/>
            </a:pPr>
            <a:r>
              <a:rPr lang="en-US" sz="1800" b="1" dirty="0">
                <a:solidFill>
                  <a:srgbClr val="B08D57"/>
                </a:solidFill>
                <a:latin typeface="Cambria" pitchFamily="34" charset="0"/>
                <a:ea typeface="Cambria" pitchFamily="34" charset="-122"/>
                <a:cs typeface="Cambria" pitchFamily="34" charset="-120"/>
              </a:rPr>
              <a:t>Single-Agent</a:t>
            </a:r>
            <a:endParaRPr lang="en-US" sz="1800" dirty="0"/>
          </a:p>
        </p:txBody>
      </p:sp>
      <p:sp>
        <p:nvSpPr>
          <p:cNvPr id="14" name="Text 12"/>
          <p:cNvSpPr/>
          <p:nvPr/>
        </p:nvSpPr>
        <p:spPr>
          <a:xfrm>
            <a:off x="758952" y="5074920"/>
            <a:ext cx="4920844" cy="960120"/>
          </a:xfrm>
          <a:prstGeom prst="rect">
            <a:avLst/>
          </a:prstGeom>
          <a:noFill/>
          <a:ln/>
        </p:spPr>
        <p:txBody>
          <a:bodyPr wrap="square" lIns="0" tIns="0" rIns="0" bIns="0" rtlCol="0" anchor="t"/>
          <a:lstStyle/>
          <a:p>
            <a:pPr marL="228600" indent="-228600">
              <a:spcAft>
                <a:spcPts val="800"/>
              </a:spcAft>
              <a:buSzPct val="100000"/>
              <a:buChar char="▪"/>
            </a:pPr>
            <a:r>
              <a:rPr lang="en-US" sz="1550" dirty="0">
                <a:solidFill>
                  <a:srgbClr val="E7EBF3"/>
                </a:solidFill>
                <a:latin typeface="Calibri" pitchFamily="34" charset="0"/>
                <a:ea typeface="Calibri" pitchFamily="34" charset="-122"/>
                <a:cs typeface="Calibri" pitchFamily="34" charset="-120"/>
              </a:rPr>
              <a:t>Only one agent's actions affect its own performance.</a:t>
            </a:r>
            <a:endParaRPr lang="en-US" sz="1550" dirty="0"/>
          </a:p>
          <a:p>
            <a:pPr marL="228600" indent="-228600">
              <a:spcAft>
                <a:spcPts val="800"/>
              </a:spcAft>
              <a:buSzPct val="100000"/>
              <a:buChar char="▪"/>
            </a:pPr>
            <a:r>
              <a:rPr lang="en-US" sz="1550" dirty="0">
                <a:solidFill>
                  <a:srgbClr val="E7EBF3"/>
                </a:solidFill>
                <a:latin typeface="Calibri" pitchFamily="34" charset="0"/>
                <a:ea typeface="Calibri" pitchFamily="34" charset="-122"/>
                <a:cs typeface="Calibri" pitchFamily="34" charset="-120"/>
              </a:rPr>
              <a:t>Sudoku solver, maze-solving robot</a:t>
            </a:r>
            <a:endParaRPr lang="en-US" sz="1550" dirty="0"/>
          </a:p>
        </p:txBody>
      </p:sp>
      <p:sp>
        <p:nvSpPr>
          <p:cNvPr id="15" name="Shape 13"/>
          <p:cNvSpPr/>
          <p:nvPr/>
        </p:nvSpPr>
        <p:spPr>
          <a:xfrm>
            <a:off x="6255868" y="4389120"/>
            <a:ext cx="5432908" cy="1783080"/>
          </a:xfrm>
          <a:prstGeom prst="roundRect">
            <a:avLst>
              <a:gd name="adj" fmla="val 4103"/>
            </a:avLst>
          </a:prstGeom>
          <a:solidFill>
            <a:srgbClr val="F3F5F8"/>
          </a:solidFill>
          <a:ln w="12700">
            <a:solidFill>
              <a:srgbClr val="D8DCE3"/>
            </a:solidFill>
            <a:prstDash val="solid"/>
          </a:ln>
        </p:spPr>
      </p:sp>
      <p:sp>
        <p:nvSpPr>
          <p:cNvPr id="16" name="Text 14"/>
          <p:cNvSpPr/>
          <p:nvPr/>
        </p:nvSpPr>
        <p:spPr>
          <a:xfrm>
            <a:off x="6511900" y="4553712"/>
            <a:ext cx="4920844" cy="502920"/>
          </a:xfrm>
          <a:prstGeom prst="rect">
            <a:avLst/>
          </a:prstGeom>
          <a:noFill/>
          <a:ln/>
        </p:spPr>
        <p:txBody>
          <a:bodyPr wrap="square" rtlCol="0" anchor="ctr"/>
          <a:lstStyle/>
          <a:p>
            <a:pPr marL="0" indent="0">
              <a:buNone/>
            </a:pPr>
            <a:r>
              <a:rPr lang="en-US" sz="1800" b="1" dirty="0">
                <a:solidFill>
                  <a:srgbClr val="0B1E3D"/>
                </a:solidFill>
                <a:latin typeface="Cambria" pitchFamily="34" charset="0"/>
                <a:ea typeface="Cambria" pitchFamily="34" charset="-122"/>
                <a:cs typeface="Cambria" pitchFamily="34" charset="-120"/>
              </a:rPr>
              <a:t>Multi-Agent</a:t>
            </a:r>
            <a:endParaRPr lang="en-US" sz="1800" dirty="0"/>
          </a:p>
        </p:txBody>
      </p:sp>
      <p:sp>
        <p:nvSpPr>
          <p:cNvPr id="17" name="Text 15"/>
          <p:cNvSpPr/>
          <p:nvPr/>
        </p:nvSpPr>
        <p:spPr>
          <a:xfrm>
            <a:off x="6511900" y="5074920"/>
            <a:ext cx="4920844" cy="960120"/>
          </a:xfrm>
          <a:prstGeom prst="rect">
            <a:avLst/>
          </a:prstGeom>
          <a:noFill/>
          <a:ln/>
        </p:spPr>
        <p:txBody>
          <a:bodyPr wrap="square" lIns="0" tIns="0" rIns="0" bIns="0" rtlCol="0" anchor="t"/>
          <a:lstStyle/>
          <a:p>
            <a:pPr marL="228600" indent="-228600">
              <a:spcAft>
                <a:spcPts val="800"/>
              </a:spcAft>
              <a:buSzPct val="100000"/>
              <a:buChar char="▪"/>
            </a:pPr>
            <a:r>
              <a:rPr lang="en-US" sz="1550" dirty="0">
                <a:solidFill>
                  <a:srgbClr val="1A1F2B"/>
                </a:solidFill>
                <a:latin typeface="Calibri" pitchFamily="34" charset="0"/>
                <a:ea typeface="Calibri" pitchFamily="34" charset="-122"/>
                <a:cs typeface="Calibri" pitchFamily="34" charset="-120"/>
              </a:rPr>
              <a:t>Multiple agents interact — cooperating, competing, or both at once.</a:t>
            </a:r>
            <a:endParaRPr lang="en-US" sz="1550" dirty="0"/>
          </a:p>
          <a:p>
            <a:pPr marL="228600" indent="-228600">
              <a:spcAft>
                <a:spcPts val="800"/>
              </a:spcAft>
              <a:buSzPct val="100000"/>
              <a:buChar char="▪"/>
            </a:pPr>
            <a:r>
              <a:rPr lang="en-US" sz="1550" dirty="0">
                <a:solidFill>
                  <a:srgbClr val="1A1F2B"/>
                </a:solidFill>
                <a:latin typeface="Calibri" pitchFamily="34" charset="0"/>
                <a:ea typeface="Calibri" pitchFamily="34" charset="-122"/>
                <a:cs typeface="Calibri" pitchFamily="34" charset="-120"/>
              </a:rPr>
              <a:t>Chess, football-playing robots, vehicles sharing roads, online auctions</a:t>
            </a:r>
            <a:endParaRPr lang="en-US" sz="1550" dirty="0"/>
          </a:p>
        </p:txBody>
      </p:sp>
      <p:sp>
        <p:nvSpPr>
          <p:cNvPr id="18" name="Text 16"/>
          <p:cNvSpPr/>
          <p:nvPr/>
        </p:nvSpPr>
        <p:spPr>
          <a:xfrm>
            <a:off x="502920" y="6446520"/>
            <a:ext cx="8229600" cy="320040"/>
          </a:xfrm>
          <a:prstGeom prst="rect">
            <a:avLst/>
          </a:prstGeom>
          <a:noFill/>
          <a:ln/>
        </p:spPr>
        <p:txBody>
          <a:bodyPr wrap="square" rtlCol="0" anchor="ctr"/>
          <a:lstStyle/>
          <a:p>
            <a:pPr marL="0" indent="0">
              <a:buNone/>
            </a:pPr>
            <a:r>
              <a:rPr lang="en-US" sz="1400" i="1" dirty="0">
                <a:solidFill>
                  <a:srgbClr val="5A6478"/>
                </a:solidFill>
                <a:latin typeface="Calibri" pitchFamily="34" charset="0"/>
                <a:ea typeface="Calibri" pitchFamily="34" charset="-122"/>
                <a:cs typeface="Calibri" pitchFamily="34" charset="-120"/>
              </a:rPr>
              <a:t>AI — Intelligent Agents  |  F. Properties of AI Environments</a:t>
            </a:r>
            <a:endParaRPr lang="en-US" sz="1400" dirty="0"/>
          </a:p>
        </p:txBody>
      </p:sp>
      <p:sp>
        <p:nvSpPr>
          <p:cNvPr id="19" name="Text 17"/>
          <p:cNvSpPr/>
          <p:nvPr/>
        </p:nvSpPr>
        <p:spPr>
          <a:xfrm>
            <a:off x="10500055" y="6446520"/>
            <a:ext cx="1188720" cy="320040"/>
          </a:xfrm>
          <a:prstGeom prst="rect">
            <a:avLst/>
          </a:prstGeom>
          <a:noFill/>
          <a:ln/>
        </p:spPr>
        <p:txBody>
          <a:bodyPr wrap="square" rtlCol="0" anchor="ctr"/>
          <a:lstStyle/>
          <a:p>
            <a:pPr marL="0" indent="0" algn="r">
              <a:buNone/>
            </a:pPr>
            <a:r>
              <a:rPr lang="en-US" sz="1400" dirty="0">
                <a:solidFill>
                  <a:srgbClr val="5A6478"/>
                </a:solidFill>
                <a:latin typeface="Calibri" pitchFamily="34" charset="0"/>
                <a:ea typeface="Calibri" pitchFamily="34" charset="-122"/>
                <a:cs typeface="Calibri" pitchFamily="34" charset="-120"/>
              </a:rPr>
              <a:t>39 / 40</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B1E3D"/>
        </a:solidFill>
        <a:effectLst/>
      </p:bgPr>
    </p:bg>
    <p:spTree>
      <p:nvGrpSpPr>
        <p:cNvPr id="1" name=""/>
        <p:cNvGrpSpPr/>
        <p:nvPr/>
      </p:nvGrpSpPr>
      <p:grpSpPr>
        <a:xfrm>
          <a:off x="0" y="0"/>
          <a:ext cx="0" cy="0"/>
          <a:chOff x="0" y="0"/>
          <a:chExt cx="0" cy="0"/>
        </a:xfrm>
      </p:grpSpPr>
      <p:sp>
        <p:nvSpPr>
          <p:cNvPr id="2" name="Text 0"/>
          <p:cNvSpPr/>
          <p:nvPr/>
        </p:nvSpPr>
        <p:spPr>
          <a:xfrm>
            <a:off x="502920" y="292608"/>
            <a:ext cx="11185855" cy="347472"/>
          </a:xfrm>
          <a:prstGeom prst="rect">
            <a:avLst/>
          </a:prstGeom>
          <a:noFill/>
          <a:ln/>
        </p:spPr>
        <p:txBody>
          <a:bodyPr wrap="square" rtlCol="0" anchor="ctr"/>
          <a:lstStyle/>
          <a:p>
            <a:pPr marL="0" indent="0">
              <a:buNone/>
            </a:pPr>
            <a:r>
              <a:rPr lang="en-US" sz="1500" b="1" kern="0" spc="150" dirty="0">
                <a:solidFill>
                  <a:srgbClr val="B08D57"/>
                </a:solidFill>
                <a:latin typeface="Calibri" pitchFamily="34" charset="0"/>
                <a:ea typeface="Calibri" pitchFamily="34" charset="-122"/>
                <a:cs typeface="Calibri" pitchFamily="34" charset="-120"/>
              </a:rPr>
              <a:t>G. INTEGRATION AND ANALYSIS</a:t>
            </a:r>
            <a:endParaRPr lang="en-US" sz="1500" dirty="0"/>
          </a:p>
        </p:txBody>
      </p:sp>
      <p:sp>
        <p:nvSpPr>
          <p:cNvPr id="3" name="Text 1"/>
          <p:cNvSpPr txBox="1"/>
          <p:nvPr/>
        </p:nvSpPr>
        <p:spPr>
          <a:xfrm>
            <a:off x="502920" y="676656"/>
            <a:ext cx="11185855" cy="1417320"/>
          </a:xfrm>
          <a:prstGeom prst="rect">
            <a:avLst/>
          </a:prstGeom>
          <a:noFill/>
          <a:ln/>
        </p:spPr>
        <p:txBody>
          <a:bodyPr wrap="square" rtlCol="0" anchor="t"/>
          <a:lstStyle/>
          <a:p>
            <a:pPr marL="0" indent="0">
              <a:lnSpc>
                <a:spcPts val="3584"/>
              </a:lnSpc>
              <a:buNone/>
            </a:pPr>
            <a:r>
              <a:rPr lang="en-US" sz="3200" b="1" dirty="0">
                <a:solidFill>
                  <a:srgbClr val="FFFFFF"/>
                </a:solidFill>
                <a:latin typeface="Cambria" pitchFamily="34" charset="0"/>
                <a:ea typeface="Cambria" pitchFamily="34" charset="-122"/>
                <a:cs typeface="Cambria" pitchFamily="34" charset="-120"/>
              </a:rPr>
              <a:t>Putting Everything Together</a:t>
            </a:r>
            <a:endParaRPr lang="en-US" sz="3200" dirty="0"/>
          </a:p>
        </p:txBody>
      </p:sp>
      <p:sp>
        <p:nvSpPr>
          <p:cNvPr id="4" name="Shape 2"/>
          <p:cNvSpPr/>
          <p:nvPr/>
        </p:nvSpPr>
        <p:spPr>
          <a:xfrm>
            <a:off x="502920" y="1828800"/>
            <a:ext cx="2645588" cy="1783080"/>
          </a:xfrm>
          <a:prstGeom prst="roundRect">
            <a:avLst>
              <a:gd name="adj" fmla="val 4103"/>
            </a:avLst>
          </a:prstGeom>
          <a:solidFill>
            <a:srgbClr val="13294B"/>
          </a:solidFill>
          <a:ln/>
        </p:spPr>
      </p:sp>
      <p:sp>
        <p:nvSpPr>
          <p:cNvPr id="5" name="Text 3"/>
          <p:cNvSpPr/>
          <p:nvPr/>
        </p:nvSpPr>
        <p:spPr>
          <a:xfrm>
            <a:off x="731520" y="1965960"/>
            <a:ext cx="2188388" cy="502920"/>
          </a:xfrm>
          <a:prstGeom prst="rect">
            <a:avLst/>
          </a:prstGeom>
          <a:noFill/>
          <a:ln/>
        </p:spPr>
        <p:txBody>
          <a:bodyPr wrap="square" rtlCol="0" anchor="ctr"/>
          <a:lstStyle/>
          <a:p>
            <a:pPr marL="0" indent="0">
              <a:buNone/>
            </a:pPr>
            <a:r>
              <a:rPr lang="en-US" sz="1800" b="1" dirty="0">
                <a:solidFill>
                  <a:srgbClr val="B08D57"/>
                </a:solidFill>
                <a:latin typeface="Cambria" pitchFamily="34" charset="0"/>
                <a:ea typeface="Cambria" pitchFamily="34" charset="-122"/>
                <a:cs typeface="Cambria" pitchFamily="34" charset="-120"/>
              </a:rPr>
              <a:t>Agent</a:t>
            </a:r>
            <a:endParaRPr lang="en-US" sz="2600" dirty="0"/>
          </a:p>
        </p:txBody>
      </p:sp>
      <p:sp>
        <p:nvSpPr>
          <p:cNvPr id="6" name="Text 4"/>
          <p:cNvSpPr/>
          <p:nvPr/>
        </p:nvSpPr>
        <p:spPr>
          <a:xfrm>
            <a:off x="731520" y="2487168"/>
            <a:ext cx="2188388" cy="960120"/>
          </a:xfrm>
          <a:prstGeom prst="rect">
            <a:avLst/>
          </a:prstGeom>
          <a:noFill/>
          <a:ln/>
        </p:spPr>
        <p:txBody>
          <a:bodyPr wrap="square" rtlCol="0" anchor="t"/>
          <a:lstStyle/>
          <a:p>
            <a:pPr marL="0" indent="0">
              <a:lnSpc>
                <a:spcPts val="1750"/>
              </a:lnSpc>
              <a:buNone/>
            </a:pPr>
            <a:r>
              <a:rPr lang="en-US" sz="1400" dirty="0">
                <a:solidFill>
                  <a:srgbClr val="E7EBF3"/>
                </a:solidFill>
                <a:latin typeface="Calibri" pitchFamily="34" charset="0"/>
                <a:ea typeface="Calibri" pitchFamily="34" charset="-122"/>
                <a:cs typeface="Calibri" pitchFamily="34" charset="-120"/>
              </a:rPr>
              <a:t>The autonomous driving agent — continuously perceives, decides, and acts.</a:t>
            </a:r>
            <a:endParaRPr lang="en-US" sz="1400" dirty="0"/>
          </a:p>
        </p:txBody>
      </p:sp>
      <p:sp>
        <p:nvSpPr>
          <p:cNvPr id="7" name="Shape 5"/>
          <p:cNvSpPr/>
          <p:nvPr/>
        </p:nvSpPr>
        <p:spPr>
          <a:xfrm>
            <a:off x="3349676" y="1828800"/>
            <a:ext cx="2645588" cy="1783080"/>
          </a:xfrm>
          <a:prstGeom prst="roundRect">
            <a:avLst>
              <a:gd name="adj" fmla="val 4103"/>
            </a:avLst>
          </a:prstGeom>
          <a:solidFill>
            <a:srgbClr val="13294B"/>
          </a:solidFill>
          <a:ln/>
        </p:spPr>
      </p:sp>
      <p:sp>
        <p:nvSpPr>
          <p:cNvPr id="8" name="Text 6"/>
          <p:cNvSpPr/>
          <p:nvPr/>
        </p:nvSpPr>
        <p:spPr>
          <a:xfrm>
            <a:off x="3578276" y="1965960"/>
            <a:ext cx="2188388" cy="502920"/>
          </a:xfrm>
          <a:prstGeom prst="rect">
            <a:avLst/>
          </a:prstGeom>
          <a:noFill/>
          <a:ln/>
        </p:spPr>
        <p:txBody>
          <a:bodyPr wrap="square" rtlCol="0" anchor="ctr"/>
          <a:lstStyle/>
          <a:p>
            <a:pPr marL="0" indent="0">
              <a:buNone/>
            </a:pPr>
            <a:r>
              <a:rPr lang="en-US" sz="1800" b="1" dirty="0">
                <a:solidFill>
                  <a:srgbClr val="B08D57"/>
                </a:solidFill>
                <a:latin typeface="Cambria" pitchFamily="34" charset="0"/>
                <a:ea typeface="Cambria" pitchFamily="34" charset="-122"/>
                <a:cs typeface="Cambria" pitchFamily="34" charset="-120"/>
              </a:rPr>
              <a:t>PEAS</a:t>
            </a:r>
            <a:endParaRPr lang="en-US" sz="2600" dirty="0"/>
          </a:p>
        </p:txBody>
      </p:sp>
      <p:sp>
        <p:nvSpPr>
          <p:cNvPr id="9" name="Text 7"/>
          <p:cNvSpPr/>
          <p:nvPr/>
        </p:nvSpPr>
        <p:spPr>
          <a:xfrm>
            <a:off x="3578276" y="2487168"/>
            <a:ext cx="2188388" cy="960120"/>
          </a:xfrm>
          <a:prstGeom prst="rect">
            <a:avLst/>
          </a:prstGeom>
          <a:noFill/>
          <a:ln/>
        </p:spPr>
        <p:txBody>
          <a:bodyPr wrap="square" rtlCol="0" anchor="t"/>
          <a:lstStyle/>
          <a:p>
            <a:pPr marL="0" indent="0">
              <a:lnSpc>
                <a:spcPts val="1688"/>
              </a:lnSpc>
              <a:buNone/>
            </a:pPr>
            <a:r>
              <a:rPr lang="en-US" sz="1350" dirty="0">
                <a:solidFill>
                  <a:srgbClr val="E7EBF3"/>
                </a:solidFill>
                <a:latin typeface="Calibri" pitchFamily="34" charset="0"/>
                <a:ea typeface="Calibri" pitchFamily="34" charset="-122"/>
                <a:cs typeface="Calibri" pitchFamily="34" charset="-120"/>
              </a:rPr>
              <a:t>P: safety, comfort, efficiency</a:t>
            </a:r>
            <a:endParaRPr lang="en-US" sz="1350" dirty="0"/>
          </a:p>
          <a:p>
            <a:pPr marL="0" indent="0">
              <a:lnSpc>
                <a:spcPts val="1688"/>
              </a:lnSpc>
              <a:buNone/>
            </a:pPr>
            <a:r>
              <a:rPr lang="en-US" sz="1350" dirty="0">
                <a:solidFill>
                  <a:srgbClr val="E7EBF3"/>
                </a:solidFill>
                <a:latin typeface="Calibri" pitchFamily="34" charset="0"/>
                <a:ea typeface="Calibri" pitchFamily="34" charset="-122"/>
                <a:cs typeface="Calibri" pitchFamily="34" charset="-120"/>
              </a:rPr>
              <a:t>E: roads, traffic, weather</a:t>
            </a:r>
            <a:endParaRPr lang="en-US" sz="1350" dirty="0"/>
          </a:p>
          <a:p>
            <a:pPr marL="0" indent="0">
              <a:lnSpc>
                <a:spcPts val="1688"/>
              </a:lnSpc>
              <a:buNone/>
            </a:pPr>
            <a:r>
              <a:rPr lang="en-US" sz="1350" dirty="0">
                <a:solidFill>
                  <a:srgbClr val="E7EBF3"/>
                </a:solidFill>
                <a:latin typeface="Calibri" pitchFamily="34" charset="0"/>
                <a:ea typeface="Calibri" pitchFamily="34" charset="-122"/>
                <a:cs typeface="Calibri" pitchFamily="34" charset="-120"/>
              </a:rPr>
              <a:t>A: steering, brakes, accel.</a:t>
            </a:r>
            <a:endParaRPr lang="en-US" sz="1350" dirty="0"/>
          </a:p>
          <a:p>
            <a:pPr marL="0" indent="0">
              <a:lnSpc>
                <a:spcPts val="1688"/>
              </a:lnSpc>
              <a:buNone/>
            </a:pPr>
            <a:r>
              <a:rPr lang="en-US" sz="1350" dirty="0">
                <a:solidFill>
                  <a:srgbClr val="E7EBF3"/>
                </a:solidFill>
                <a:latin typeface="Calibri" pitchFamily="34" charset="0"/>
                <a:ea typeface="Calibri" pitchFamily="34" charset="-122"/>
                <a:cs typeface="Calibri" pitchFamily="34" charset="-120"/>
              </a:rPr>
              <a:t>S: cameras, radar, LiDAR, GPS</a:t>
            </a:r>
            <a:endParaRPr lang="en-US" sz="1350" dirty="0"/>
          </a:p>
        </p:txBody>
      </p:sp>
      <p:sp>
        <p:nvSpPr>
          <p:cNvPr id="10" name="Shape 8"/>
          <p:cNvSpPr/>
          <p:nvPr/>
        </p:nvSpPr>
        <p:spPr>
          <a:xfrm>
            <a:off x="6196432" y="1828800"/>
            <a:ext cx="2645588" cy="1783080"/>
          </a:xfrm>
          <a:prstGeom prst="roundRect">
            <a:avLst>
              <a:gd name="adj" fmla="val 4103"/>
            </a:avLst>
          </a:prstGeom>
          <a:solidFill>
            <a:srgbClr val="13294B"/>
          </a:solidFill>
          <a:ln/>
        </p:spPr>
      </p:sp>
      <p:sp>
        <p:nvSpPr>
          <p:cNvPr id="11" name="Text 9"/>
          <p:cNvSpPr/>
          <p:nvPr/>
        </p:nvSpPr>
        <p:spPr>
          <a:xfrm>
            <a:off x="6425032" y="1965960"/>
            <a:ext cx="2188388" cy="502920"/>
          </a:xfrm>
          <a:prstGeom prst="rect">
            <a:avLst/>
          </a:prstGeom>
          <a:noFill/>
          <a:ln/>
        </p:spPr>
        <p:txBody>
          <a:bodyPr wrap="square" rtlCol="0" anchor="ctr"/>
          <a:lstStyle/>
          <a:p>
            <a:pPr marL="0" indent="0">
              <a:buNone/>
            </a:pPr>
            <a:r>
              <a:rPr lang="en-US" sz="1800" b="1" dirty="0">
                <a:solidFill>
                  <a:srgbClr val="B08D57"/>
                </a:solidFill>
                <a:latin typeface="Cambria" pitchFamily="34" charset="0"/>
                <a:ea typeface="Cambria" pitchFamily="34" charset="-122"/>
                <a:cs typeface="Cambria" pitchFamily="34" charset="-120"/>
              </a:rPr>
              <a:t>Agent Type</a:t>
            </a:r>
            <a:endParaRPr lang="en-US" sz="2600" dirty="0"/>
          </a:p>
        </p:txBody>
      </p:sp>
      <p:sp>
        <p:nvSpPr>
          <p:cNvPr id="12" name="Text 10"/>
          <p:cNvSpPr/>
          <p:nvPr/>
        </p:nvSpPr>
        <p:spPr>
          <a:xfrm>
            <a:off x="6425032" y="2487168"/>
            <a:ext cx="2188388" cy="960120"/>
          </a:xfrm>
          <a:prstGeom prst="rect">
            <a:avLst/>
          </a:prstGeom>
          <a:noFill/>
          <a:ln/>
        </p:spPr>
        <p:txBody>
          <a:bodyPr wrap="square" rtlCol="0" anchor="t"/>
          <a:lstStyle/>
          <a:p>
            <a:pPr marL="0" indent="0">
              <a:lnSpc>
                <a:spcPts val="1750"/>
              </a:lnSpc>
              <a:buNone/>
            </a:pPr>
            <a:r>
              <a:rPr lang="en-US" sz="1400" dirty="0">
                <a:solidFill>
                  <a:srgbClr val="E7EBF3"/>
                </a:solidFill>
                <a:latin typeface="Calibri" pitchFamily="34" charset="0"/>
                <a:ea typeface="Calibri" pitchFamily="34" charset="-122"/>
                <a:cs typeface="Calibri" pitchFamily="34" charset="-120"/>
              </a:rPr>
              <a:t>A combination of model-based, goal-based, utility-based, and learning components together.</a:t>
            </a:r>
            <a:endParaRPr lang="en-US" sz="1400" dirty="0"/>
          </a:p>
        </p:txBody>
      </p:sp>
      <p:sp>
        <p:nvSpPr>
          <p:cNvPr id="13" name="Shape 11"/>
          <p:cNvSpPr/>
          <p:nvPr/>
        </p:nvSpPr>
        <p:spPr>
          <a:xfrm>
            <a:off x="9043187" y="1828800"/>
            <a:ext cx="2645588" cy="1783080"/>
          </a:xfrm>
          <a:prstGeom prst="roundRect">
            <a:avLst>
              <a:gd name="adj" fmla="val 4103"/>
            </a:avLst>
          </a:prstGeom>
          <a:solidFill>
            <a:srgbClr val="13294B"/>
          </a:solidFill>
          <a:ln/>
        </p:spPr>
      </p:sp>
      <p:sp>
        <p:nvSpPr>
          <p:cNvPr id="14" name="Text 12"/>
          <p:cNvSpPr/>
          <p:nvPr/>
        </p:nvSpPr>
        <p:spPr>
          <a:xfrm>
            <a:off x="9271787" y="1965960"/>
            <a:ext cx="2188388" cy="502920"/>
          </a:xfrm>
          <a:prstGeom prst="rect">
            <a:avLst/>
          </a:prstGeom>
          <a:noFill/>
          <a:ln/>
        </p:spPr>
        <p:txBody>
          <a:bodyPr wrap="square" rtlCol="0" anchor="ctr"/>
          <a:lstStyle/>
          <a:p>
            <a:pPr marL="0" indent="0">
              <a:buNone/>
            </a:pPr>
            <a:r>
              <a:rPr lang="en-US" sz="1800" b="1" dirty="0">
                <a:solidFill>
                  <a:srgbClr val="B08D57"/>
                </a:solidFill>
                <a:latin typeface="Cambria" pitchFamily="34" charset="0"/>
                <a:ea typeface="Cambria" pitchFamily="34" charset="-122"/>
                <a:cs typeface="Cambria" pitchFamily="34" charset="-120"/>
              </a:rPr>
              <a:t>Environment</a:t>
            </a:r>
            <a:endParaRPr lang="en-US" sz="2600" dirty="0"/>
          </a:p>
        </p:txBody>
      </p:sp>
      <p:sp>
        <p:nvSpPr>
          <p:cNvPr id="15" name="Text 13"/>
          <p:cNvSpPr/>
          <p:nvPr/>
        </p:nvSpPr>
        <p:spPr>
          <a:xfrm>
            <a:off x="9271787" y="2487168"/>
            <a:ext cx="2188388" cy="960120"/>
          </a:xfrm>
          <a:prstGeom prst="rect">
            <a:avLst/>
          </a:prstGeom>
          <a:noFill/>
          <a:ln/>
        </p:spPr>
        <p:txBody>
          <a:bodyPr wrap="square" rtlCol="0" anchor="t"/>
          <a:lstStyle/>
          <a:p>
            <a:pPr marL="0" indent="0">
              <a:lnSpc>
                <a:spcPts val="1750"/>
              </a:lnSpc>
              <a:buNone/>
            </a:pPr>
            <a:r>
              <a:rPr lang="en-US" sz="1400" dirty="0">
                <a:solidFill>
                  <a:srgbClr val="E7EBF3"/>
                </a:solidFill>
                <a:latin typeface="Calibri" pitchFamily="34" charset="0"/>
                <a:ea typeface="Calibri" pitchFamily="34" charset="-122"/>
                <a:cs typeface="Calibri" pitchFamily="34" charset="-120"/>
              </a:rPr>
              <a:t>Partially observable, stochastic, sequential, dynamic, continuous, and multi-agent — all at once.</a:t>
            </a:r>
            <a:endParaRPr lang="en-US" sz="1400" dirty="0"/>
          </a:p>
        </p:txBody>
      </p:sp>
      <p:sp>
        <p:nvSpPr>
          <p:cNvPr id="16" name="Shape 14"/>
          <p:cNvSpPr/>
          <p:nvPr/>
        </p:nvSpPr>
        <p:spPr>
          <a:xfrm>
            <a:off x="502920" y="3749040"/>
            <a:ext cx="2003085" cy="594360"/>
          </a:xfrm>
          <a:prstGeom prst="roundRect">
            <a:avLst>
              <a:gd name="adj" fmla="val 12308"/>
            </a:avLst>
          </a:prstGeom>
          <a:solidFill>
            <a:srgbClr val="13294B"/>
          </a:solidFill>
          <a:ln/>
        </p:spPr>
      </p:sp>
      <p:sp>
        <p:nvSpPr>
          <p:cNvPr id="17" name="Text 15"/>
          <p:cNvSpPr/>
          <p:nvPr/>
        </p:nvSpPr>
        <p:spPr>
          <a:xfrm>
            <a:off x="576072" y="3749040"/>
            <a:ext cx="1856781" cy="594360"/>
          </a:xfrm>
          <a:prstGeom prst="rect">
            <a:avLst/>
          </a:prstGeom>
          <a:noFill/>
          <a:ln/>
        </p:spPr>
        <p:txBody>
          <a:bodyPr wrap="square" rtlCol="0" anchor="ctr"/>
          <a:lstStyle/>
          <a:p>
            <a:pPr marL="0" indent="0" algn="ctr">
              <a:lnSpc>
                <a:spcPts val="1552"/>
              </a:lnSpc>
              <a:buNone/>
            </a:pPr>
            <a:r>
              <a:rPr lang="en-US" sz="1350" b="1" dirty="0">
                <a:solidFill>
                  <a:srgbClr val="FFFFFF"/>
                </a:solidFill>
                <a:latin typeface="Calibri" pitchFamily="34" charset="0"/>
                <a:ea typeface="Calibri" pitchFamily="34" charset="-122"/>
                <a:cs typeface="Calibri" pitchFamily="34" charset="-120"/>
              </a:rPr>
              <a:t>Environment</a:t>
            </a:r>
            <a:endParaRPr lang="en-US" sz="1350" dirty="0"/>
          </a:p>
        </p:txBody>
      </p:sp>
      <p:sp>
        <p:nvSpPr>
          <p:cNvPr id="18" name="Text 16"/>
          <p:cNvSpPr/>
          <p:nvPr/>
        </p:nvSpPr>
        <p:spPr>
          <a:xfrm>
            <a:off x="2506005" y="3749040"/>
            <a:ext cx="292608" cy="594360"/>
          </a:xfrm>
          <a:prstGeom prst="rect">
            <a:avLst/>
          </a:prstGeom>
          <a:noFill/>
          <a:ln/>
        </p:spPr>
        <p:txBody>
          <a:bodyPr wrap="square" rtlCol="0" anchor="ctr"/>
          <a:lstStyle/>
          <a:p>
            <a:pPr marL="0" indent="0" algn="ctr">
              <a:buNone/>
            </a:pPr>
            <a:r>
              <a:rPr lang="en-US" sz="2400" b="1" dirty="0">
                <a:solidFill>
                  <a:srgbClr val="B08D57"/>
                </a:solidFill>
                <a:latin typeface="Calibri" pitchFamily="34" charset="0"/>
                <a:ea typeface="Calibri" pitchFamily="34" charset="-122"/>
                <a:cs typeface="Calibri" pitchFamily="34" charset="-120"/>
              </a:rPr>
              <a:t>→</a:t>
            </a:r>
            <a:endParaRPr lang="en-US" sz="2400" dirty="0"/>
          </a:p>
        </p:txBody>
      </p:sp>
      <p:sp>
        <p:nvSpPr>
          <p:cNvPr id="19" name="Shape 17"/>
          <p:cNvSpPr/>
          <p:nvPr/>
        </p:nvSpPr>
        <p:spPr>
          <a:xfrm>
            <a:off x="2798613" y="3749040"/>
            <a:ext cx="2003085" cy="594360"/>
          </a:xfrm>
          <a:prstGeom prst="roundRect">
            <a:avLst>
              <a:gd name="adj" fmla="val 12308"/>
            </a:avLst>
          </a:prstGeom>
          <a:solidFill>
            <a:srgbClr val="13294B"/>
          </a:solidFill>
          <a:ln/>
        </p:spPr>
      </p:sp>
      <p:sp>
        <p:nvSpPr>
          <p:cNvPr id="20" name="Text 18"/>
          <p:cNvSpPr/>
          <p:nvPr/>
        </p:nvSpPr>
        <p:spPr>
          <a:xfrm>
            <a:off x="2871765" y="3749040"/>
            <a:ext cx="1856781" cy="594360"/>
          </a:xfrm>
          <a:prstGeom prst="rect">
            <a:avLst/>
          </a:prstGeom>
          <a:noFill/>
          <a:ln/>
        </p:spPr>
        <p:txBody>
          <a:bodyPr wrap="square" rtlCol="0" anchor="ctr"/>
          <a:lstStyle/>
          <a:p>
            <a:pPr marL="0" indent="0" algn="ctr">
              <a:lnSpc>
                <a:spcPts val="1495"/>
              </a:lnSpc>
              <a:buNone/>
            </a:pPr>
            <a:r>
              <a:rPr lang="en-US" sz="1300" b="1" dirty="0">
                <a:solidFill>
                  <a:srgbClr val="FFFFFF"/>
                </a:solidFill>
                <a:latin typeface="Calibri" pitchFamily="34" charset="0"/>
                <a:ea typeface="Calibri" pitchFamily="34" charset="-122"/>
                <a:cs typeface="Calibri" pitchFamily="34" charset="-120"/>
              </a:rPr>
              <a:t>Sensors / Percepts</a:t>
            </a:r>
            <a:endParaRPr lang="en-US" sz="1300" dirty="0"/>
          </a:p>
        </p:txBody>
      </p:sp>
      <p:sp>
        <p:nvSpPr>
          <p:cNvPr id="21" name="Text 19"/>
          <p:cNvSpPr/>
          <p:nvPr/>
        </p:nvSpPr>
        <p:spPr>
          <a:xfrm>
            <a:off x="4801697" y="3749040"/>
            <a:ext cx="292608" cy="594360"/>
          </a:xfrm>
          <a:prstGeom prst="rect">
            <a:avLst/>
          </a:prstGeom>
          <a:noFill/>
          <a:ln/>
        </p:spPr>
        <p:txBody>
          <a:bodyPr wrap="square" rtlCol="0" anchor="ctr"/>
          <a:lstStyle/>
          <a:p>
            <a:pPr marL="0" indent="0" algn="ctr">
              <a:buNone/>
            </a:pPr>
            <a:r>
              <a:rPr lang="en-US" sz="2400" b="1" dirty="0">
                <a:solidFill>
                  <a:srgbClr val="B08D57"/>
                </a:solidFill>
                <a:latin typeface="Calibri" pitchFamily="34" charset="0"/>
                <a:ea typeface="Calibri" pitchFamily="34" charset="-122"/>
                <a:cs typeface="Calibri" pitchFamily="34" charset="-120"/>
              </a:rPr>
              <a:t>→</a:t>
            </a:r>
            <a:endParaRPr lang="en-US" sz="2400" dirty="0"/>
          </a:p>
        </p:txBody>
      </p:sp>
      <p:sp>
        <p:nvSpPr>
          <p:cNvPr id="22" name="Shape 20"/>
          <p:cNvSpPr/>
          <p:nvPr/>
        </p:nvSpPr>
        <p:spPr>
          <a:xfrm>
            <a:off x="5094305" y="3749040"/>
            <a:ext cx="2003085" cy="594360"/>
          </a:xfrm>
          <a:prstGeom prst="roundRect">
            <a:avLst>
              <a:gd name="adj" fmla="val 12308"/>
            </a:avLst>
          </a:prstGeom>
          <a:solidFill>
            <a:srgbClr val="13294B"/>
          </a:solidFill>
          <a:ln/>
        </p:spPr>
      </p:sp>
      <p:sp>
        <p:nvSpPr>
          <p:cNvPr id="23" name="Text 21"/>
          <p:cNvSpPr/>
          <p:nvPr/>
        </p:nvSpPr>
        <p:spPr>
          <a:xfrm>
            <a:off x="5167457" y="3749040"/>
            <a:ext cx="1856781" cy="594360"/>
          </a:xfrm>
          <a:prstGeom prst="rect">
            <a:avLst/>
          </a:prstGeom>
          <a:noFill/>
          <a:ln/>
        </p:spPr>
        <p:txBody>
          <a:bodyPr wrap="square" rtlCol="0" anchor="ctr"/>
          <a:lstStyle/>
          <a:p>
            <a:pPr marL="0" indent="0" algn="ctr">
              <a:lnSpc>
                <a:spcPts val="1495"/>
              </a:lnSpc>
              <a:buNone/>
            </a:pPr>
            <a:r>
              <a:rPr lang="en-US" sz="1300" b="1" dirty="0">
                <a:solidFill>
                  <a:srgbClr val="FFFFFF"/>
                </a:solidFill>
                <a:latin typeface="Calibri" pitchFamily="34" charset="0"/>
                <a:ea typeface="Calibri" pitchFamily="34" charset="-122"/>
                <a:cs typeface="Calibri" pitchFamily="34" charset="-120"/>
              </a:rPr>
              <a:t>Agent (Decision)</a:t>
            </a:r>
            <a:endParaRPr lang="en-US" sz="1300" dirty="0"/>
          </a:p>
        </p:txBody>
      </p:sp>
      <p:sp>
        <p:nvSpPr>
          <p:cNvPr id="24" name="Text 22"/>
          <p:cNvSpPr/>
          <p:nvPr/>
        </p:nvSpPr>
        <p:spPr>
          <a:xfrm>
            <a:off x="7097390" y="3749040"/>
            <a:ext cx="292608" cy="594360"/>
          </a:xfrm>
          <a:prstGeom prst="rect">
            <a:avLst/>
          </a:prstGeom>
          <a:noFill/>
          <a:ln/>
        </p:spPr>
        <p:txBody>
          <a:bodyPr wrap="square" rtlCol="0" anchor="ctr"/>
          <a:lstStyle/>
          <a:p>
            <a:pPr marL="0" indent="0" algn="ctr">
              <a:buNone/>
            </a:pPr>
            <a:r>
              <a:rPr lang="en-US" sz="2400" b="1" dirty="0">
                <a:solidFill>
                  <a:srgbClr val="B08D57"/>
                </a:solidFill>
                <a:latin typeface="Calibri" pitchFamily="34" charset="0"/>
                <a:ea typeface="Calibri" pitchFamily="34" charset="-122"/>
                <a:cs typeface="Calibri" pitchFamily="34" charset="-120"/>
              </a:rPr>
              <a:t>→</a:t>
            </a:r>
            <a:endParaRPr lang="en-US" sz="2400" dirty="0"/>
          </a:p>
        </p:txBody>
      </p:sp>
      <p:sp>
        <p:nvSpPr>
          <p:cNvPr id="25" name="Shape 23"/>
          <p:cNvSpPr/>
          <p:nvPr/>
        </p:nvSpPr>
        <p:spPr>
          <a:xfrm>
            <a:off x="7389998" y="3749040"/>
            <a:ext cx="2003085" cy="594360"/>
          </a:xfrm>
          <a:prstGeom prst="roundRect">
            <a:avLst>
              <a:gd name="adj" fmla="val 12308"/>
            </a:avLst>
          </a:prstGeom>
          <a:solidFill>
            <a:srgbClr val="13294B"/>
          </a:solidFill>
          <a:ln/>
        </p:spPr>
      </p:sp>
      <p:sp>
        <p:nvSpPr>
          <p:cNvPr id="26" name="Text 24"/>
          <p:cNvSpPr/>
          <p:nvPr/>
        </p:nvSpPr>
        <p:spPr>
          <a:xfrm>
            <a:off x="7463150" y="3749040"/>
            <a:ext cx="1856781" cy="594360"/>
          </a:xfrm>
          <a:prstGeom prst="rect">
            <a:avLst/>
          </a:prstGeom>
          <a:noFill/>
          <a:ln/>
        </p:spPr>
        <p:txBody>
          <a:bodyPr wrap="square" rtlCol="0" anchor="ctr"/>
          <a:lstStyle/>
          <a:p>
            <a:pPr marL="0" indent="0" algn="ctr">
              <a:lnSpc>
                <a:spcPts val="1552"/>
              </a:lnSpc>
              <a:buNone/>
            </a:pPr>
            <a:r>
              <a:rPr lang="en-US" sz="1350" b="1" dirty="0">
                <a:solidFill>
                  <a:srgbClr val="FFFFFF"/>
                </a:solidFill>
                <a:latin typeface="Calibri" pitchFamily="34" charset="0"/>
                <a:ea typeface="Calibri" pitchFamily="34" charset="-122"/>
                <a:cs typeface="Calibri" pitchFamily="34" charset="-120"/>
              </a:rPr>
              <a:t>Actuators</a:t>
            </a:r>
            <a:endParaRPr lang="en-US" sz="1350" dirty="0"/>
          </a:p>
        </p:txBody>
      </p:sp>
      <p:sp>
        <p:nvSpPr>
          <p:cNvPr id="27" name="Text 25"/>
          <p:cNvSpPr/>
          <p:nvPr/>
        </p:nvSpPr>
        <p:spPr>
          <a:xfrm>
            <a:off x="9393083" y="3749040"/>
            <a:ext cx="292608" cy="594360"/>
          </a:xfrm>
          <a:prstGeom prst="rect">
            <a:avLst/>
          </a:prstGeom>
          <a:noFill/>
          <a:ln/>
        </p:spPr>
        <p:txBody>
          <a:bodyPr wrap="square" rtlCol="0" anchor="ctr"/>
          <a:lstStyle/>
          <a:p>
            <a:pPr marL="0" indent="0" algn="ctr">
              <a:buNone/>
            </a:pPr>
            <a:r>
              <a:rPr lang="en-US" sz="2400" b="1" dirty="0">
                <a:solidFill>
                  <a:srgbClr val="B08D57"/>
                </a:solidFill>
                <a:latin typeface="Calibri" pitchFamily="34" charset="0"/>
                <a:ea typeface="Calibri" pitchFamily="34" charset="-122"/>
                <a:cs typeface="Calibri" pitchFamily="34" charset="-120"/>
              </a:rPr>
              <a:t>→</a:t>
            </a:r>
            <a:endParaRPr lang="en-US" sz="2400" dirty="0"/>
          </a:p>
        </p:txBody>
      </p:sp>
      <p:sp>
        <p:nvSpPr>
          <p:cNvPr id="28" name="Shape 26"/>
          <p:cNvSpPr/>
          <p:nvPr/>
        </p:nvSpPr>
        <p:spPr>
          <a:xfrm>
            <a:off x="9685691" y="3749040"/>
            <a:ext cx="2003085" cy="594360"/>
          </a:xfrm>
          <a:prstGeom prst="roundRect">
            <a:avLst>
              <a:gd name="adj" fmla="val 12308"/>
            </a:avLst>
          </a:prstGeom>
          <a:solidFill>
            <a:srgbClr val="13294B"/>
          </a:solidFill>
          <a:ln/>
        </p:spPr>
      </p:sp>
      <p:sp>
        <p:nvSpPr>
          <p:cNvPr id="29" name="Text 27"/>
          <p:cNvSpPr/>
          <p:nvPr/>
        </p:nvSpPr>
        <p:spPr>
          <a:xfrm>
            <a:off x="9758843" y="3749040"/>
            <a:ext cx="1856781" cy="594360"/>
          </a:xfrm>
          <a:prstGeom prst="rect">
            <a:avLst/>
          </a:prstGeom>
          <a:noFill/>
          <a:ln/>
        </p:spPr>
        <p:txBody>
          <a:bodyPr wrap="square" rtlCol="0" anchor="ctr"/>
          <a:lstStyle/>
          <a:p>
            <a:pPr marL="0" indent="0" algn="ctr">
              <a:lnSpc>
                <a:spcPts val="1552"/>
              </a:lnSpc>
              <a:buNone/>
            </a:pPr>
            <a:r>
              <a:rPr lang="en-US" sz="1350" b="1" dirty="0">
                <a:solidFill>
                  <a:srgbClr val="FFFFFF"/>
                </a:solidFill>
                <a:latin typeface="Calibri" pitchFamily="34" charset="0"/>
                <a:ea typeface="Calibri" pitchFamily="34" charset="-122"/>
                <a:cs typeface="Calibri" pitchFamily="34" charset="-120"/>
              </a:rPr>
              <a:t>Environment</a:t>
            </a:r>
            <a:endParaRPr lang="en-US" sz="1350" dirty="0"/>
          </a:p>
        </p:txBody>
      </p:sp>
      <p:sp>
        <p:nvSpPr>
          <p:cNvPr id="30" name="Text 28"/>
          <p:cNvSpPr/>
          <p:nvPr/>
        </p:nvSpPr>
        <p:spPr>
          <a:xfrm>
            <a:off x="502920" y="4370832"/>
            <a:ext cx="11185855" cy="201168"/>
          </a:xfrm>
          <a:prstGeom prst="rect">
            <a:avLst/>
          </a:prstGeom>
          <a:noFill/>
          <a:ln/>
        </p:spPr>
        <p:txBody>
          <a:bodyPr wrap="square" rtlCol="0" anchor="ctr"/>
          <a:lstStyle/>
          <a:p>
            <a:pPr marL="0" indent="0" algn="ctr">
              <a:buNone/>
            </a:pPr>
            <a:r>
              <a:rPr lang="en-US" sz="1500" i="1" dirty="0">
                <a:solidFill>
                  <a:srgbClr val="8B96AC"/>
                </a:solidFill>
                <a:latin typeface="Calibri" pitchFamily="34" charset="0"/>
                <a:ea typeface="Calibri" pitchFamily="34" charset="-122"/>
                <a:cs typeface="Calibri" pitchFamily="34" charset="-120"/>
              </a:rPr>
              <a:t>The loop repeats continuously as the vehicle drives — this is the conceptual map from Section B, now fully instantiated.</a:t>
            </a:r>
            <a:endParaRPr lang="en-US" sz="1500" dirty="0"/>
          </a:p>
        </p:txBody>
      </p:sp>
      <p:sp>
        <p:nvSpPr>
          <p:cNvPr id="31" name="Shape 29"/>
          <p:cNvSpPr/>
          <p:nvPr/>
        </p:nvSpPr>
        <p:spPr>
          <a:xfrm>
            <a:off x="502920" y="4617720"/>
            <a:ext cx="11185855" cy="1280160"/>
          </a:xfrm>
          <a:prstGeom prst="roundRect">
            <a:avLst>
              <a:gd name="adj" fmla="val 5714"/>
            </a:avLst>
          </a:prstGeom>
          <a:solidFill>
            <a:srgbClr val="FBF3E6"/>
          </a:solidFill>
          <a:ln w="12700">
            <a:solidFill>
              <a:srgbClr val="B08D57"/>
            </a:solidFill>
            <a:prstDash val="solid"/>
          </a:ln>
        </p:spPr>
      </p:sp>
      <p:sp>
        <p:nvSpPr>
          <p:cNvPr id="32" name="Text 30"/>
          <p:cNvSpPr/>
          <p:nvPr/>
        </p:nvSpPr>
        <p:spPr>
          <a:xfrm>
            <a:off x="777240" y="4617720"/>
            <a:ext cx="10637215" cy="1280160"/>
          </a:xfrm>
          <a:prstGeom prst="rect">
            <a:avLst/>
          </a:prstGeom>
          <a:noFill/>
          <a:ln/>
        </p:spPr>
        <p:txBody>
          <a:bodyPr wrap="square" rtlCol="0" anchor="ctr"/>
          <a:lstStyle/>
          <a:p>
            <a:pPr marL="0" indent="0">
              <a:lnSpc>
                <a:spcPts val="1900"/>
              </a:lnSpc>
              <a:spcAft>
                <a:spcPts val="400"/>
              </a:spcAft>
              <a:buNone/>
            </a:pPr>
            <a:r>
              <a:rPr lang="en-US" sz="1550" b="1" dirty="0">
                <a:solidFill>
                  <a:srgbClr val="0B1E3D"/>
                </a:solidFill>
                <a:latin typeface="Calibri" pitchFamily="34" charset="0"/>
                <a:ea typeface="Calibri" pitchFamily="34" charset="-122"/>
                <a:cs typeface="Calibri" pitchFamily="34" charset="-120"/>
              </a:rPr>
              <a:t>Final Classroom Challenge:  </a:t>
            </a:r>
            <a:endParaRPr lang="en-US" sz="1550" dirty="0"/>
          </a:p>
          <a:p>
            <a:pPr marL="0" indent="0">
              <a:lnSpc>
                <a:spcPts val="1900"/>
              </a:lnSpc>
              <a:spcAft>
                <a:spcPts val="400"/>
              </a:spcAft>
              <a:buNone/>
            </a:pPr>
            <a:r>
              <a:rPr lang="en-US" sz="1550" dirty="0">
                <a:solidFill>
                  <a:srgbClr val="1A1F2B"/>
                </a:solidFill>
                <a:latin typeface="Calibri" pitchFamily="34" charset="0"/>
                <a:ea typeface="Calibri" pitchFamily="34" charset="-122"/>
                <a:cs typeface="Calibri" pitchFamily="34" charset="-120"/>
              </a:rPr>
              <a:t>Choose ONE real-world AI system and identify (1) its PEAS description, (2) its agent type, and (3) the properties of its environment.</a:t>
            </a:r>
            <a:endParaRPr lang="en-US" sz="1550" dirty="0"/>
          </a:p>
          <a:p>
            <a:pPr marL="0" indent="0">
              <a:lnSpc>
                <a:spcPts val="1900"/>
              </a:lnSpc>
              <a:buNone/>
            </a:pPr>
            <a:r>
              <a:rPr lang="en-US" sz="1550" i="1" dirty="0">
                <a:solidFill>
                  <a:srgbClr val="5A6478"/>
                </a:solidFill>
                <a:latin typeface="Calibri" pitchFamily="34" charset="0"/>
                <a:ea typeface="Calibri" pitchFamily="34" charset="-122"/>
                <a:cs typeface="Calibri" pitchFamily="34" charset="-120"/>
              </a:rPr>
              <a:t>Examples: smart home assistant, robot vacuum, medical diagnosis system, autonomous vehicle, recommendation system, delivery drone.</a:t>
            </a:r>
            <a:endParaRPr lang="en-US" sz="1550" dirty="0"/>
          </a:p>
        </p:txBody>
      </p:sp>
      <p:sp>
        <p:nvSpPr>
          <p:cNvPr id="33" name="Text 31"/>
          <p:cNvSpPr/>
          <p:nvPr/>
        </p:nvSpPr>
        <p:spPr>
          <a:xfrm>
            <a:off x="502920" y="5943600"/>
            <a:ext cx="11185855" cy="320040"/>
          </a:xfrm>
          <a:prstGeom prst="rect">
            <a:avLst/>
          </a:prstGeom>
          <a:noFill/>
          <a:ln/>
        </p:spPr>
        <p:txBody>
          <a:bodyPr wrap="square" rtlCol="0" anchor="ctr"/>
          <a:lstStyle/>
          <a:p>
            <a:pPr marL="0" indent="0" algn="ctr">
              <a:buNone/>
            </a:pPr>
            <a:r>
              <a:rPr lang="en-US" sz="1500" b="1" i="1" dirty="0">
                <a:solidFill>
                  <a:srgbClr val="B08D57"/>
                </a:solidFill>
                <a:latin typeface="Cambria" pitchFamily="34" charset="0"/>
                <a:ea typeface="Cambria" pitchFamily="34" charset="-122"/>
                <a:cs typeface="Cambria" pitchFamily="34" charset="-120"/>
              </a:rPr>
              <a:t>Next:  </a:t>
            </a:r>
            <a:r>
              <a:rPr lang="en-US" sz="1500" b="1" i="1" dirty="0">
                <a:solidFill>
                  <a:srgbClr val="E7EBF3"/>
                </a:solidFill>
                <a:latin typeface="Cambria" pitchFamily="34" charset="0"/>
                <a:ea typeface="Cambria" pitchFamily="34" charset="-122"/>
                <a:cs typeface="Cambria" pitchFamily="34" charset="-120"/>
              </a:rPr>
              <a:t>how can an agent systematically find a sequence of actions to achieve a goal?  →  Search and Problem Solving.</a:t>
            </a:r>
            <a:endParaRPr lang="en-US" sz="1500" dirty="0"/>
          </a:p>
        </p:txBody>
      </p:sp>
      <p:sp>
        <p:nvSpPr>
          <p:cNvPr id="34" name="Text 32"/>
          <p:cNvSpPr/>
          <p:nvPr/>
        </p:nvSpPr>
        <p:spPr>
          <a:xfrm>
            <a:off x="502920" y="6446520"/>
            <a:ext cx="8229600" cy="320040"/>
          </a:xfrm>
          <a:prstGeom prst="rect">
            <a:avLst/>
          </a:prstGeom>
          <a:noFill/>
          <a:ln/>
        </p:spPr>
        <p:txBody>
          <a:bodyPr wrap="square" rtlCol="0" anchor="ctr"/>
          <a:lstStyle/>
          <a:p>
            <a:pPr marL="0" indent="0">
              <a:buNone/>
            </a:pPr>
            <a:r>
              <a:rPr lang="en-US" sz="1400" i="1" dirty="0">
                <a:solidFill>
                  <a:srgbClr val="8B96AC"/>
                </a:solidFill>
                <a:latin typeface="Calibri" pitchFamily="34" charset="0"/>
                <a:ea typeface="Calibri" pitchFamily="34" charset="-122"/>
                <a:cs typeface="Calibri" pitchFamily="34" charset="-120"/>
              </a:rPr>
              <a:t>AI — Intelligent Agents  |  G. Integration and Analysis</a:t>
            </a:r>
            <a:endParaRPr lang="en-US" sz="1400" dirty="0"/>
          </a:p>
        </p:txBody>
      </p:sp>
      <p:sp>
        <p:nvSpPr>
          <p:cNvPr id="35" name="Text 33"/>
          <p:cNvSpPr/>
          <p:nvPr/>
        </p:nvSpPr>
        <p:spPr>
          <a:xfrm>
            <a:off x="10500055" y="6446520"/>
            <a:ext cx="1188720" cy="320040"/>
          </a:xfrm>
          <a:prstGeom prst="rect">
            <a:avLst/>
          </a:prstGeom>
          <a:noFill/>
          <a:ln/>
        </p:spPr>
        <p:txBody>
          <a:bodyPr wrap="square" rtlCol="0" anchor="ctr"/>
          <a:lstStyle/>
          <a:p>
            <a:pPr marL="0" indent="0" algn="r">
              <a:buNone/>
            </a:pPr>
            <a:r>
              <a:rPr lang="en-US" sz="1400" dirty="0">
                <a:solidFill>
                  <a:srgbClr val="8B96AC"/>
                </a:solidFill>
                <a:latin typeface="Calibri" pitchFamily="34" charset="0"/>
                <a:ea typeface="Calibri" pitchFamily="34" charset="-122"/>
                <a:cs typeface="Calibri" pitchFamily="34" charset="-120"/>
              </a:rPr>
              <a:t>40 / 40</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12084</Words>
  <Application>Microsoft Macintosh PowerPoint</Application>
  <PresentationFormat>Widescreen</PresentationFormat>
  <Paragraphs>786</Paragraphs>
  <Slides>40</Slides>
  <Notes>40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BS Computer Science — Artificial Intelligence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Intelligent Agents and AI Environments</dc:title>
  <dc:subject>PptxGenJS Presentation</dc:subject>
  <dc:creator>Dr. Ghulam Ali</dc:creator>
  <cp:lastModifiedBy>Ali Huzaifah</cp:lastModifiedBy>
  <cp:revision>1</cp:revision>
  <dcterms:created xsi:type="dcterms:W3CDTF">2026-09-14T02:09:48Z</dcterms:created>
  <dcterms:modified xsi:type="dcterms:W3CDTF">2026-09-21T08:53:07Z</dcterms:modified>
</cp:coreProperties>
</file>